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handoutMasterIdLst>
    <p:handoutMasterId r:id="rId38"/>
  </p:handoutMasterIdLst>
  <p:sldIdLst>
    <p:sldId id="256" r:id="rId2"/>
    <p:sldId id="1264" r:id="rId3"/>
    <p:sldId id="1367" r:id="rId4"/>
    <p:sldId id="1370" r:id="rId5"/>
    <p:sldId id="1368" r:id="rId6"/>
    <p:sldId id="1369" r:id="rId7"/>
    <p:sldId id="1371" r:id="rId8"/>
    <p:sldId id="1372" r:id="rId9"/>
    <p:sldId id="1374" r:id="rId10"/>
    <p:sldId id="940" r:id="rId11"/>
    <p:sldId id="939" r:id="rId12"/>
    <p:sldId id="1375" r:id="rId13"/>
    <p:sldId id="935" r:id="rId14"/>
    <p:sldId id="296" r:id="rId15"/>
    <p:sldId id="1361" r:id="rId16"/>
    <p:sldId id="1352" r:id="rId17"/>
    <p:sldId id="1353" r:id="rId18"/>
    <p:sldId id="1348" r:id="rId19"/>
    <p:sldId id="1350" r:id="rId20"/>
    <p:sldId id="1382" r:id="rId21"/>
    <p:sldId id="1383" r:id="rId22"/>
    <p:sldId id="1363" r:id="rId23"/>
    <p:sldId id="1355" r:id="rId24"/>
    <p:sldId id="1364" r:id="rId25"/>
    <p:sldId id="1360" r:id="rId26"/>
    <p:sldId id="1349" r:id="rId27"/>
    <p:sldId id="1377" r:id="rId28"/>
    <p:sldId id="1351" r:id="rId29"/>
    <p:sldId id="1358" r:id="rId30"/>
    <p:sldId id="1357" r:id="rId31"/>
    <p:sldId id="1366" r:id="rId32"/>
    <p:sldId id="1378" r:id="rId33"/>
    <p:sldId id="1380" r:id="rId34"/>
    <p:sldId id="1379" r:id="rId35"/>
    <p:sldId id="1381" r:id="rId3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367"/>
            <p14:sldId id="1370"/>
            <p14:sldId id="1368"/>
            <p14:sldId id="1369"/>
            <p14:sldId id="1371"/>
            <p14:sldId id="1372"/>
            <p14:sldId id="1374"/>
            <p14:sldId id="940"/>
            <p14:sldId id="939"/>
            <p14:sldId id="1375"/>
            <p14:sldId id="935"/>
            <p14:sldId id="296"/>
            <p14:sldId id="1361"/>
            <p14:sldId id="1352"/>
            <p14:sldId id="1353"/>
            <p14:sldId id="1348"/>
            <p14:sldId id="1350"/>
            <p14:sldId id="1382"/>
            <p14:sldId id="1383"/>
            <p14:sldId id="1363"/>
            <p14:sldId id="1355"/>
            <p14:sldId id="1364"/>
            <p14:sldId id="1360"/>
            <p14:sldId id="1349"/>
            <p14:sldId id="1377"/>
            <p14:sldId id="1351"/>
            <p14:sldId id="1358"/>
            <p14:sldId id="1357"/>
            <p14:sldId id="1366"/>
            <p14:sldId id="1378"/>
            <p14:sldId id="1380"/>
            <p14:sldId id="1379"/>
            <p14:sldId id="138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>
        <p:scale>
          <a:sx n="66" d="100"/>
          <a:sy n="66" d="100"/>
        </p:scale>
        <p:origin x="1330" y="365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589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43BFA-777A-741D-D80B-62A300B43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8D2A7-8357-0E05-2BE2-3E220FD6A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139219-D8B0-2C35-2042-8AB37C904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F4762-4050-A888-E458-23282B9CD5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16289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8FF2D-ED84-4609-F49F-C7737B70C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D0AA1A-D7BB-1D92-FF6A-19C0319B92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6400CB-03FB-E51D-43A0-1E89DC930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2EC20B-F944-FA71-6C49-3464C5D10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7635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72862-1A4B-6638-993F-A73E43F1F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5BAB6C-AACF-CC7E-6FD7-3AFC1F995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C40492-4359-487E-09E0-50D494910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D5469-4301-F37A-C47B-C09F7641B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892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B6E9C-298D-1C21-FFCB-59F150E3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0258BF-50F4-8940-FC2C-5D9817A4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6BB5E7-CE10-0917-3EE7-C326E7AEB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89CEAA-B5DD-5A80-EEDD-584BC294B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8799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A1DFF-B1CB-D074-2A32-2BEB0E50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42E236-F301-84AA-346A-C49A97B64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1BCC40-A8D7-89AD-154A-41A945C23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CE1682-0203-80CE-6796-B834EA3B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10362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E415E-8B44-1DBF-87D1-383CE6FF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1726C8-A4CA-4791-A278-2B3BDC1E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3E6F32-BACA-53F1-947F-3723994FD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5F70F2-B462-852F-2EAA-C77B092D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3046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17C5-BD86-E7FB-D920-0A8D4B598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0DDA7C-EFE3-AC54-729A-12FCC7C95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D80622-AD1A-641C-03EA-74C952F82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69706-0294-EC13-076B-3E1F40EC0A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59963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4A99F-D7D6-1A49-2DD7-CEF403FF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E8F317-59A0-E357-5ABE-6CD4F84FA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7644C1-623D-0002-EE6B-4DDAB4D30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4369C-D800-0CBF-3157-32F21CB06A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9628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hyperlink" Target="https://gregorygundersen.com/blog/2021/04/16/variational-inference/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akevdp.github.io/PythonDataScienceHandbook/05.09-principal-component-analysis.html" TargetMode="Externa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akevdp.github.io/PythonDataScienceHandbook/05.10-manifold-learning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geeksforgeeks.org/deep-learning/types-of-autoencoders/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Literacy/blob/main/vae_art%20exhibition_explanation.pdf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tensorflow.org/tutorials/generative/cvae?hl=ko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cranial.github.io/keras-js/#/mnist-vae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transcranial.github.io/keras-js/#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ariational_autoencoder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itwinp2006/understanding-variational-autoencoders-vaes-from-scratch-439073f864d0" TargetMode="Externa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AI-with-python" TargetMode="External"/><Relationship Id="rId2" Type="http://schemas.openxmlformats.org/officeDocument/2006/relationships/hyperlink" Target="https://keras.io/examples/timeseries/timeseries_anomaly_detec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771466"/>
            <a:ext cx="6981307" cy="1543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583297"/>
            <a:ext cx="2832666" cy="375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3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B4A7-594F-3473-B64A-03185EB1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2D2E02-3ABD-8B6F-A86C-4C0D1BFEA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Probability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056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31865-C44A-0055-3B39-581932089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C4430C0-FE89-D3EA-92F3-A2A9FB30A540}"/>
              </a:ext>
            </a:extLst>
          </p:cNvPr>
          <p:cNvSpPr/>
          <p:nvPr/>
        </p:nvSpPr>
        <p:spPr>
          <a:xfrm>
            <a:off x="561382" y="1248422"/>
            <a:ext cx="5610817" cy="5380978"/>
          </a:xfrm>
          <a:custGeom>
            <a:avLst/>
            <a:gdLst>
              <a:gd name="connsiteX0" fmla="*/ 4895850 w 5010150"/>
              <a:gd name="connsiteY0" fmla="*/ 19050 h 4867275"/>
              <a:gd name="connsiteX1" fmla="*/ 4895850 w 5010150"/>
              <a:gd name="connsiteY1" fmla="*/ 19050 h 4867275"/>
              <a:gd name="connsiteX2" fmla="*/ 4762500 w 5010150"/>
              <a:gd name="connsiteY2" fmla="*/ 238125 h 4867275"/>
              <a:gd name="connsiteX3" fmla="*/ 4619625 w 5010150"/>
              <a:gd name="connsiteY3" fmla="*/ 533400 h 4867275"/>
              <a:gd name="connsiteX4" fmla="*/ 4524375 w 5010150"/>
              <a:gd name="connsiteY4" fmla="*/ 790575 h 4867275"/>
              <a:gd name="connsiteX5" fmla="*/ 4495800 w 5010150"/>
              <a:gd name="connsiteY5" fmla="*/ 876300 h 4867275"/>
              <a:gd name="connsiteX6" fmla="*/ 4514850 w 5010150"/>
              <a:gd name="connsiteY6" fmla="*/ 1190625 h 4867275"/>
              <a:gd name="connsiteX7" fmla="*/ 4533900 w 5010150"/>
              <a:gd name="connsiteY7" fmla="*/ 1343025 h 4867275"/>
              <a:gd name="connsiteX8" fmla="*/ 4543425 w 5010150"/>
              <a:gd name="connsiteY8" fmla="*/ 1419225 h 4867275"/>
              <a:gd name="connsiteX9" fmla="*/ 4562475 w 5010150"/>
              <a:gd name="connsiteY9" fmla="*/ 1714500 h 4867275"/>
              <a:gd name="connsiteX10" fmla="*/ 4572000 w 5010150"/>
              <a:gd name="connsiteY10" fmla="*/ 1800225 h 4867275"/>
              <a:gd name="connsiteX11" fmla="*/ 4600575 w 5010150"/>
              <a:gd name="connsiteY11" fmla="*/ 1857375 h 4867275"/>
              <a:gd name="connsiteX12" fmla="*/ 4581525 w 5010150"/>
              <a:gd name="connsiteY12" fmla="*/ 2114550 h 4867275"/>
              <a:gd name="connsiteX13" fmla="*/ 4486275 w 5010150"/>
              <a:gd name="connsiteY13" fmla="*/ 2295525 h 4867275"/>
              <a:gd name="connsiteX14" fmla="*/ 4448175 w 5010150"/>
              <a:gd name="connsiteY14" fmla="*/ 2362200 h 4867275"/>
              <a:gd name="connsiteX15" fmla="*/ 4352925 w 5010150"/>
              <a:gd name="connsiteY15" fmla="*/ 2409825 h 4867275"/>
              <a:gd name="connsiteX16" fmla="*/ 4295775 w 5010150"/>
              <a:gd name="connsiteY16" fmla="*/ 2466975 h 4867275"/>
              <a:gd name="connsiteX17" fmla="*/ 4095750 w 5010150"/>
              <a:gd name="connsiteY17" fmla="*/ 2647950 h 4867275"/>
              <a:gd name="connsiteX18" fmla="*/ 3971925 w 5010150"/>
              <a:gd name="connsiteY18" fmla="*/ 2867025 h 4867275"/>
              <a:gd name="connsiteX19" fmla="*/ 3924300 w 5010150"/>
              <a:gd name="connsiteY19" fmla="*/ 2952750 h 4867275"/>
              <a:gd name="connsiteX20" fmla="*/ 3857625 w 5010150"/>
              <a:gd name="connsiteY20" fmla="*/ 3133725 h 4867275"/>
              <a:gd name="connsiteX21" fmla="*/ 3857625 w 5010150"/>
              <a:gd name="connsiteY21" fmla="*/ 3448050 h 4867275"/>
              <a:gd name="connsiteX22" fmla="*/ 3810000 w 5010150"/>
              <a:gd name="connsiteY22" fmla="*/ 3543300 h 4867275"/>
              <a:gd name="connsiteX23" fmla="*/ 3638550 w 5010150"/>
              <a:gd name="connsiteY23" fmla="*/ 3752850 h 4867275"/>
              <a:gd name="connsiteX24" fmla="*/ 3028950 w 5010150"/>
              <a:gd name="connsiteY24" fmla="*/ 4200525 h 4867275"/>
              <a:gd name="connsiteX25" fmla="*/ 2838450 w 5010150"/>
              <a:gd name="connsiteY25" fmla="*/ 4314825 h 4867275"/>
              <a:gd name="connsiteX26" fmla="*/ 2733675 w 5010150"/>
              <a:gd name="connsiteY26" fmla="*/ 4381500 h 4867275"/>
              <a:gd name="connsiteX27" fmla="*/ 2324100 w 5010150"/>
              <a:gd name="connsiteY27" fmla="*/ 4600575 h 4867275"/>
              <a:gd name="connsiteX28" fmla="*/ 2057400 w 5010150"/>
              <a:gd name="connsiteY28" fmla="*/ 4714875 h 4867275"/>
              <a:gd name="connsiteX29" fmla="*/ 1771650 w 5010150"/>
              <a:gd name="connsiteY29" fmla="*/ 4791075 h 4867275"/>
              <a:gd name="connsiteX30" fmla="*/ 1314450 w 5010150"/>
              <a:gd name="connsiteY30" fmla="*/ 4867275 h 4867275"/>
              <a:gd name="connsiteX31" fmla="*/ 1085850 w 5010150"/>
              <a:gd name="connsiteY31" fmla="*/ 4857750 h 4867275"/>
              <a:gd name="connsiteX32" fmla="*/ 847725 w 5010150"/>
              <a:gd name="connsiteY32" fmla="*/ 4819650 h 4867275"/>
              <a:gd name="connsiteX33" fmla="*/ 704850 w 5010150"/>
              <a:gd name="connsiteY33" fmla="*/ 4800600 h 4867275"/>
              <a:gd name="connsiteX34" fmla="*/ 609600 w 5010150"/>
              <a:gd name="connsiteY34" fmla="*/ 4772025 h 4867275"/>
              <a:gd name="connsiteX35" fmla="*/ 523875 w 5010150"/>
              <a:gd name="connsiteY35" fmla="*/ 4762500 h 4867275"/>
              <a:gd name="connsiteX36" fmla="*/ 400050 w 5010150"/>
              <a:gd name="connsiteY36" fmla="*/ 4733925 h 4867275"/>
              <a:gd name="connsiteX37" fmla="*/ 314325 w 5010150"/>
              <a:gd name="connsiteY37" fmla="*/ 4667250 h 4867275"/>
              <a:gd name="connsiteX38" fmla="*/ 228600 w 5010150"/>
              <a:gd name="connsiteY38" fmla="*/ 4533900 h 4867275"/>
              <a:gd name="connsiteX39" fmla="*/ 209550 w 5010150"/>
              <a:gd name="connsiteY39" fmla="*/ 4495800 h 4867275"/>
              <a:gd name="connsiteX40" fmla="*/ 142875 w 5010150"/>
              <a:gd name="connsiteY40" fmla="*/ 4448175 h 4867275"/>
              <a:gd name="connsiteX41" fmla="*/ 85725 w 5010150"/>
              <a:gd name="connsiteY41" fmla="*/ 4400550 h 4867275"/>
              <a:gd name="connsiteX42" fmla="*/ 47625 w 5010150"/>
              <a:gd name="connsiteY42" fmla="*/ 4371975 h 4867275"/>
              <a:gd name="connsiteX43" fmla="*/ 28575 w 5010150"/>
              <a:gd name="connsiteY43" fmla="*/ 4143375 h 4867275"/>
              <a:gd name="connsiteX44" fmla="*/ 57150 w 5010150"/>
              <a:gd name="connsiteY44" fmla="*/ 4057650 h 4867275"/>
              <a:gd name="connsiteX45" fmla="*/ 0 w 5010150"/>
              <a:gd name="connsiteY45" fmla="*/ 9525 h 4867275"/>
              <a:gd name="connsiteX46" fmla="*/ 5010150 w 5010150"/>
              <a:gd name="connsiteY46" fmla="*/ 0 h 4867275"/>
              <a:gd name="connsiteX47" fmla="*/ 4895850 w 5010150"/>
              <a:gd name="connsiteY47" fmla="*/ 19050 h 486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010150" h="4867275">
                <a:moveTo>
                  <a:pt x="4895850" y="19050"/>
                </a:moveTo>
                <a:lnTo>
                  <a:pt x="4895850" y="19050"/>
                </a:lnTo>
                <a:cubicBezTo>
                  <a:pt x="4851400" y="92075"/>
                  <a:pt x="4805333" y="164140"/>
                  <a:pt x="4762500" y="238125"/>
                </a:cubicBezTo>
                <a:cubicBezTo>
                  <a:pt x="4705161" y="337164"/>
                  <a:pt x="4661751" y="426845"/>
                  <a:pt x="4619625" y="533400"/>
                </a:cubicBezTo>
                <a:cubicBezTo>
                  <a:pt x="4586015" y="618413"/>
                  <a:pt x="4555424" y="704594"/>
                  <a:pt x="4524375" y="790575"/>
                </a:cubicBezTo>
                <a:cubicBezTo>
                  <a:pt x="4514145" y="818905"/>
                  <a:pt x="4495800" y="876300"/>
                  <a:pt x="4495800" y="876300"/>
                </a:cubicBezTo>
                <a:cubicBezTo>
                  <a:pt x="4504496" y="1085005"/>
                  <a:pt x="4497667" y="1047429"/>
                  <a:pt x="4514850" y="1190625"/>
                </a:cubicBezTo>
                <a:cubicBezTo>
                  <a:pt x="4520950" y="1241456"/>
                  <a:pt x="4527550" y="1292225"/>
                  <a:pt x="4533900" y="1343025"/>
                </a:cubicBezTo>
                <a:lnTo>
                  <a:pt x="4543425" y="1419225"/>
                </a:lnTo>
                <a:cubicBezTo>
                  <a:pt x="4550905" y="1561340"/>
                  <a:pt x="4550500" y="1588757"/>
                  <a:pt x="4562475" y="1714500"/>
                </a:cubicBezTo>
                <a:cubicBezTo>
                  <a:pt x="4565201" y="1743121"/>
                  <a:pt x="4564592" y="1772445"/>
                  <a:pt x="4572000" y="1800225"/>
                </a:cubicBezTo>
                <a:cubicBezTo>
                  <a:pt x="4577488" y="1820804"/>
                  <a:pt x="4591050" y="1838325"/>
                  <a:pt x="4600575" y="1857375"/>
                </a:cubicBezTo>
                <a:cubicBezTo>
                  <a:pt x="4594225" y="1943100"/>
                  <a:pt x="4595285" y="2029699"/>
                  <a:pt x="4581525" y="2114550"/>
                </a:cubicBezTo>
                <a:cubicBezTo>
                  <a:pt x="4569843" y="2186590"/>
                  <a:pt x="4523052" y="2236681"/>
                  <a:pt x="4486275" y="2295525"/>
                </a:cubicBezTo>
                <a:cubicBezTo>
                  <a:pt x="4472708" y="2317232"/>
                  <a:pt x="4467610" y="2345541"/>
                  <a:pt x="4448175" y="2362200"/>
                </a:cubicBezTo>
                <a:cubicBezTo>
                  <a:pt x="4421223" y="2385302"/>
                  <a:pt x="4382176" y="2389715"/>
                  <a:pt x="4352925" y="2409825"/>
                </a:cubicBezTo>
                <a:cubicBezTo>
                  <a:pt x="4330725" y="2425088"/>
                  <a:pt x="4316230" y="2449442"/>
                  <a:pt x="4295775" y="2466975"/>
                </a:cubicBezTo>
                <a:cubicBezTo>
                  <a:pt x="4205929" y="2543986"/>
                  <a:pt x="4181261" y="2529550"/>
                  <a:pt x="4095750" y="2647950"/>
                </a:cubicBezTo>
                <a:cubicBezTo>
                  <a:pt x="4046638" y="2715952"/>
                  <a:pt x="4013049" y="2793915"/>
                  <a:pt x="3971925" y="2867025"/>
                </a:cubicBezTo>
                <a:cubicBezTo>
                  <a:pt x="3955899" y="2895516"/>
                  <a:pt x="3935778" y="2922143"/>
                  <a:pt x="3924300" y="2952750"/>
                </a:cubicBezTo>
                <a:cubicBezTo>
                  <a:pt x="3863625" y="3114551"/>
                  <a:pt x="3884307" y="3053680"/>
                  <a:pt x="3857625" y="3133725"/>
                </a:cubicBezTo>
                <a:cubicBezTo>
                  <a:pt x="3862646" y="3219087"/>
                  <a:pt x="3877576" y="3361595"/>
                  <a:pt x="3857625" y="3448050"/>
                </a:cubicBezTo>
                <a:cubicBezTo>
                  <a:pt x="3849643" y="3482639"/>
                  <a:pt x="3827786" y="3512579"/>
                  <a:pt x="3810000" y="3543300"/>
                </a:cubicBezTo>
                <a:cubicBezTo>
                  <a:pt x="3765929" y="3619423"/>
                  <a:pt x="3703790" y="3695939"/>
                  <a:pt x="3638550" y="3752850"/>
                </a:cubicBezTo>
                <a:cubicBezTo>
                  <a:pt x="3393788" y="3966365"/>
                  <a:pt x="3289182" y="4035889"/>
                  <a:pt x="3028950" y="4200525"/>
                </a:cubicBezTo>
                <a:cubicBezTo>
                  <a:pt x="2966369" y="4240117"/>
                  <a:pt x="2901588" y="4276128"/>
                  <a:pt x="2838450" y="4314825"/>
                </a:cubicBezTo>
                <a:cubicBezTo>
                  <a:pt x="2803155" y="4336457"/>
                  <a:pt x="2769173" y="4360201"/>
                  <a:pt x="2733675" y="4381500"/>
                </a:cubicBezTo>
                <a:cubicBezTo>
                  <a:pt x="2583823" y="4471411"/>
                  <a:pt x="2486896" y="4525438"/>
                  <a:pt x="2324100" y="4600575"/>
                </a:cubicBezTo>
                <a:cubicBezTo>
                  <a:pt x="2236282" y="4641106"/>
                  <a:pt x="2148837" y="4683345"/>
                  <a:pt x="2057400" y="4714875"/>
                </a:cubicBezTo>
                <a:cubicBezTo>
                  <a:pt x="1964207" y="4747011"/>
                  <a:pt x="1868218" y="4771266"/>
                  <a:pt x="1771650" y="4791075"/>
                </a:cubicBezTo>
                <a:cubicBezTo>
                  <a:pt x="1620299" y="4822121"/>
                  <a:pt x="1314450" y="4867275"/>
                  <a:pt x="1314450" y="4867275"/>
                </a:cubicBezTo>
                <a:cubicBezTo>
                  <a:pt x="1238250" y="4864100"/>
                  <a:pt x="1161722" y="4865492"/>
                  <a:pt x="1085850" y="4857750"/>
                </a:cubicBezTo>
                <a:cubicBezTo>
                  <a:pt x="1005881" y="4849590"/>
                  <a:pt x="927404" y="4830274"/>
                  <a:pt x="847725" y="4819650"/>
                </a:cubicBezTo>
                <a:lnTo>
                  <a:pt x="704850" y="4800600"/>
                </a:lnTo>
                <a:cubicBezTo>
                  <a:pt x="673100" y="4791075"/>
                  <a:pt x="642037" y="4778854"/>
                  <a:pt x="609600" y="4772025"/>
                </a:cubicBezTo>
                <a:cubicBezTo>
                  <a:pt x="581466" y="4766102"/>
                  <a:pt x="552337" y="4766566"/>
                  <a:pt x="523875" y="4762500"/>
                </a:cubicBezTo>
                <a:cubicBezTo>
                  <a:pt x="489669" y="4757613"/>
                  <a:pt x="428735" y="4741096"/>
                  <a:pt x="400050" y="4733925"/>
                </a:cubicBezTo>
                <a:cubicBezTo>
                  <a:pt x="373961" y="4716533"/>
                  <a:pt x="334220" y="4695435"/>
                  <a:pt x="314325" y="4667250"/>
                </a:cubicBezTo>
                <a:cubicBezTo>
                  <a:pt x="283852" y="4624079"/>
                  <a:pt x="256155" y="4578990"/>
                  <a:pt x="228600" y="4533900"/>
                </a:cubicBezTo>
                <a:cubicBezTo>
                  <a:pt x="221196" y="4521784"/>
                  <a:pt x="219590" y="4505840"/>
                  <a:pt x="209550" y="4495800"/>
                </a:cubicBezTo>
                <a:cubicBezTo>
                  <a:pt x="190237" y="4476487"/>
                  <a:pt x="164523" y="4464828"/>
                  <a:pt x="142875" y="4448175"/>
                </a:cubicBezTo>
                <a:cubicBezTo>
                  <a:pt x="123220" y="4433056"/>
                  <a:pt x="105089" y="4416041"/>
                  <a:pt x="85725" y="4400550"/>
                </a:cubicBezTo>
                <a:cubicBezTo>
                  <a:pt x="73329" y="4390633"/>
                  <a:pt x="60325" y="4381500"/>
                  <a:pt x="47625" y="4371975"/>
                </a:cubicBezTo>
                <a:cubicBezTo>
                  <a:pt x="-9203" y="4277262"/>
                  <a:pt x="8851" y="4327462"/>
                  <a:pt x="28575" y="4143375"/>
                </a:cubicBezTo>
                <a:cubicBezTo>
                  <a:pt x="38092" y="4054551"/>
                  <a:pt x="19462" y="4057650"/>
                  <a:pt x="57150" y="4057650"/>
                </a:cubicBezTo>
                <a:lnTo>
                  <a:pt x="0" y="9525"/>
                </a:lnTo>
                <a:lnTo>
                  <a:pt x="5010150" y="0"/>
                </a:lnTo>
                <a:lnTo>
                  <a:pt x="4895850" y="1905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7A00534-144E-789E-E281-7C3BD07D4A85}"/>
              </a:ext>
            </a:extLst>
          </p:cNvPr>
          <p:cNvSpPr/>
          <p:nvPr/>
        </p:nvSpPr>
        <p:spPr>
          <a:xfrm>
            <a:off x="8676917" y="3461277"/>
            <a:ext cx="2781300" cy="1355378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B5AF3CB-8E7A-B565-3975-7A79ADC3F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Observations from Cosmos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/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 = [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…..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blipFill>
                <a:blip r:embed="rId2"/>
                <a:stretch>
                  <a:fillRect l="-602" t="-10526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/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 = [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ea typeface="D2Coding" panose="020B0609020101020101" pitchFamily="49" charset="-127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blipFill>
                <a:blip r:embed="rId3"/>
                <a:stretch>
                  <a:fillRect l="-1558" t="-24590" r="-11429" b="-491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/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sz="2400" i="1" dirty="0">
                    <a:solidFill>
                      <a:schemeClr val="bg1"/>
                    </a:solidFill>
                    <a:latin typeface="Cascadia Code Light" panose="020B0609020000020004" pitchFamily="49" charset="0"/>
                    <a:ea typeface="Cascadia Code Light" panose="020B0609020000020004" pitchFamily="49" charset="0"/>
                    <a:cs typeface="Cascadia Code Light" panose="020B06090200000200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[ </m:t>
                    </m:r>
                    <m:acc>
                      <m:accPr>
                        <m:chr m:val="̅"/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ko-KR" altLang="en-US" sz="2400" i="1" dirty="0">
                  <a:solidFill>
                    <a:schemeClr val="bg1"/>
                  </a:solidFill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blipFill>
                <a:blip r:embed="rId4"/>
                <a:stretch>
                  <a:fillRect t="-18750" r="-15427" b="-468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래픽 19" descr="조금 굽은 줄 화살표">
            <a:extLst>
              <a:ext uri="{FF2B5EF4-FFF2-40B4-BE49-F238E27FC236}">
                <a16:creationId xmlns:a16="http://schemas.microsoft.com/office/drawing/2014/main" id="{E37B9DF7-4E67-AF8B-184A-7005DCA484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78062" y="3056793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1E6EBC8-E794-3DF3-955C-5BDD4CF63A41}"/>
              </a:ext>
            </a:extLst>
          </p:cNvPr>
          <p:cNvSpPr txBox="1"/>
          <p:nvPr/>
        </p:nvSpPr>
        <p:spPr>
          <a:xfrm>
            <a:off x="5975240" y="3938911"/>
            <a:ext cx="20386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Observe Sample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22C429-0B09-B242-7C4C-ED3FB45614C9}"/>
              </a:ext>
            </a:extLst>
          </p:cNvPr>
          <p:cNvSpPr txBox="1"/>
          <p:nvPr/>
        </p:nvSpPr>
        <p:spPr>
          <a:xfrm rot="20476529">
            <a:off x="1202984" y="5309156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Nobody Knows only God knows.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99C399-E405-3040-8040-8AB4104E97A2}"/>
              </a:ext>
            </a:extLst>
          </p:cNvPr>
          <p:cNvSpPr txBox="1"/>
          <p:nvPr/>
        </p:nvSpPr>
        <p:spPr>
          <a:xfrm rot="20476529">
            <a:off x="7981458" y="5498717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Somebody knows only sample.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84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D9B7B-9865-94AF-F861-27D861A9B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DFEC7E-217F-9738-2899-DE169B8DB4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확률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Likelihood(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우도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C704D45-D66D-3982-D34F-19A2D6440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685" y="1426450"/>
            <a:ext cx="11006440" cy="96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P(X/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 앞면 확률이 50%(</a:t>
            </a:r>
            <a:r>
              <a:rPr kumimoji="0" lang="el-G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)일 때, 앞면이 3번 나올 확률(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변수)"</a:t>
            </a:r>
          </a:p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가능도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/X)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"동전을 던져 앞면이 3번 나왔을 때(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고정), 이 동전의 앞면 확률이 50%일 가능성(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변수)"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2D04D8A-3886-39B2-9C8F-CCAD8920B1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580291"/>
              </p:ext>
            </p:extLst>
          </p:nvPr>
        </p:nvGraphicFramePr>
        <p:xfrm>
          <a:off x="1531270" y="3035278"/>
          <a:ext cx="8736680" cy="3031328"/>
        </p:xfrm>
        <a:graphic>
          <a:graphicData uri="http://schemas.openxmlformats.org/drawingml/2006/table">
            <a:tbl>
              <a:tblPr/>
              <a:tblGrid>
                <a:gridCol w="1481525">
                  <a:extLst>
                    <a:ext uri="{9D8B030D-6E8A-4147-A177-3AD203B41FA5}">
                      <a16:colId xmlns:a16="http://schemas.microsoft.com/office/drawing/2014/main" val="267189901"/>
                    </a:ext>
                  </a:extLst>
                </a:gridCol>
                <a:gridCol w="3454680">
                  <a:extLst>
                    <a:ext uri="{9D8B030D-6E8A-4147-A177-3AD203B41FA5}">
                      <a16:colId xmlns:a16="http://schemas.microsoft.com/office/drawing/2014/main" val="3764504089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3219757678"/>
                    </a:ext>
                  </a:extLst>
                </a:gridCol>
              </a:tblGrid>
              <a:tr h="31234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확률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Probability)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가능도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Likelihood)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7679390"/>
                  </a:ext>
                </a:extLst>
              </a:tr>
              <a:tr h="5678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모델이 정해졌을 때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데이터가 나올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데이터가 주어졌을 때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모델이 맞을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3690163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수식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kumimoji="0" lang="en-US" altLang="ko-K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P(X/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r>
                        <a:rPr lang="sv-SE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= 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endParaRPr lang="sv-SE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7091301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고정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Fixed)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38009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변수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Variable)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507235"/>
                  </a:ext>
                </a:extLst>
              </a:tr>
              <a:tr h="69566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주어진 모델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에서 데이터가 관측될 확률 예측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관측된 데이터를 가장 잘 설명하는 모델 최적화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(MLE)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891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8402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4254-58A6-C02B-B475-AE6B2E4A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38EBB4-A907-F841-EA2A-C6ECBF884D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ELBO in Variational Inference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AD5AABC5-EAA9-5BB9-A0A0-E11991C467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410" name="Picture 2" descr="image">
            <a:extLst>
              <a:ext uri="{FF2B5EF4-FFF2-40B4-BE49-F238E27FC236}">
                <a16:creationId xmlns:a16="http://schemas.microsoft.com/office/drawing/2014/main" id="{D831A98B-3A5C-9C07-5F09-E5B24BCD3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272" y="3071482"/>
            <a:ext cx="5611366" cy="3283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DF87399-B02B-F268-AD75-B6F467AD5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009" y="3551491"/>
            <a:ext cx="3242446" cy="4102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C0444A-0E3E-D38F-21D7-3130E871769D}"/>
              </a:ext>
            </a:extLst>
          </p:cNvPr>
          <p:cNvSpPr txBox="1"/>
          <p:nvPr/>
        </p:nvSpPr>
        <p:spPr>
          <a:xfrm>
            <a:off x="5215754" y="5945091"/>
            <a:ext cx="39828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https://gregorygundersen.com/blog/2021/04/16/variational-inference/</a:t>
            </a:r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451C9C-1174-BE0D-96FC-24F43E9F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4" y="1180611"/>
            <a:ext cx="1113533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잠재된 특성(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확률분포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 수가 없고, 관측 데이터(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또한 알 수가 없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 데이터가 주어졌을 때의 참 사후분포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수학적으로 직접 계산하는 것(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Intractable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불가능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루기 쉬운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등의 근사 분포내에서 참 분포와 가장 유사한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찾아 나가는 '변분법적 접근(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Variational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3C8BB89-86CF-30AE-BC66-41AF6DE15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009" y="4187761"/>
            <a:ext cx="4892464" cy="87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4257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90FD7-A050-92C9-D55B-DBE0ABC5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6F90A-0CB3-0392-D4C4-DB0D5F9DB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Dimension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reduction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Linear/Non-Linear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2322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226C-24EB-9585-A96D-879EDE3E1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B51D12-91CF-52CE-301F-ED40F23D5B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curse of dimensionality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0AACD530-C9AD-2C71-9511-4F29F07CBF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F82DD7-DAB3-D851-7E45-515CE0B3E7BA}"/>
              </a:ext>
            </a:extLst>
          </p:cNvPr>
          <p:cNvSpPr txBox="1"/>
          <p:nvPr/>
        </p:nvSpPr>
        <p:spPr>
          <a:xfrm>
            <a:off x="1323975" y="5728938"/>
            <a:ext cx="98029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4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curse of dimensionality. Adding dimensions stretches the points apart making high-dimensional data extremely sparse and uniformly distributed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1301F1-004E-A86C-1126-E249B6F8C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344" y="2226185"/>
            <a:ext cx="9996623" cy="326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073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2B515-9CA1-0B60-170B-E39A98641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A7E0D-FC70-C4C0-A53A-1185CB2877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23ECC2F2-2168-8C81-6FAC-7DFB4A8723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635F914-D349-45EE-8D1B-8D0A263C4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498" y="2200275"/>
            <a:ext cx="9390992" cy="3209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544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D45F-9959-C2FE-BCFE-D047BCAF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AFD0A-085C-5BB2-80E4-F468D2675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1BE5526-2A5D-5F05-FCBF-F9280260B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2554" y="1788322"/>
            <a:ext cx="4544238" cy="4511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F853161-803E-81DB-419B-7773E6EAF298}"/>
              </a:ext>
            </a:extLst>
          </p:cNvPr>
          <p:cNvGrpSpPr/>
          <p:nvPr/>
        </p:nvGrpSpPr>
        <p:grpSpPr>
          <a:xfrm>
            <a:off x="6827926" y="1788321"/>
            <a:ext cx="3020924" cy="4247939"/>
            <a:chOff x="9628030" y="2838154"/>
            <a:chExt cx="2246046" cy="363882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F7B7470-53A3-F586-A9A7-B3DFB8ADC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A28C5B0-4392-9343-2622-9256EF1DE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EB1DDEF-D8F2-AB6A-FF39-537D658F4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CF4A01C3-9D37-C424-A393-4795DCE2A3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447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C6058-BCAC-5973-88B3-9937643C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1D1540C-C9B8-D40C-73EE-259E91537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Principal component analysis (PCA) 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D43EB65-3E9B-ECE8-23C1-24B298B14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pic>
        <p:nvPicPr>
          <p:cNvPr id="1026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FD5454AF-9D9D-C1F8-13C5-FB50F1510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2525" y="2730092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FD1F97AF-8F47-3913-BD7E-049B0A55E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4" y="2730093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C5D7F7-968B-3650-11E3-08E33038F536}"/>
              </a:ext>
            </a:extLst>
          </p:cNvPr>
          <p:cNvSpPr txBox="1"/>
          <p:nvPr/>
        </p:nvSpPr>
        <p:spPr>
          <a:xfrm>
            <a:off x="521206" y="1219111"/>
            <a:ext cx="1097631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The technique that transforms high-dimensions data into lower-dimensions while retaining as much information as possible.(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5"/>
              </a:rPr>
              <a:t>principal-component-analysis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58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4FB8-06CD-73F2-EE18-4EB790B5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9F695C8-63E7-901C-D60E-7603F7243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Learning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A446DE-BDBE-AEA7-C88C-26A4B5495D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CD1ED1A-A8F4-98FA-6CB3-498DB0946C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36EBF0C-BEE1-1B68-10DE-567E58988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327" y="1700432"/>
            <a:ext cx="5191843" cy="48941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8A9347-2C1F-279B-77B4-3E8257F3AD5E}"/>
              </a:ext>
            </a:extLst>
          </p:cNvPr>
          <p:cNvSpPr txBox="1"/>
          <p:nvPr/>
        </p:nvSpPr>
        <p:spPr>
          <a:xfrm>
            <a:off x="628650" y="1331100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manifold-learning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(Data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7012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1E9B-DC1C-C687-ACF2-C837C2EB0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352C18C-02FC-DB44-6C9C-E85E7455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Reducing rank by random choice of features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13EB8A-BEA6-A6CD-7C7A-09A826670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8EFB-4524-4DD2-6EFA-8D2AC221E9D7}"/>
              </a:ext>
            </a:extLst>
          </p:cNvPr>
          <p:cNvSpPr txBox="1"/>
          <p:nvPr/>
        </p:nvSpPr>
        <p:spPr>
          <a:xfrm>
            <a:off x="609600" y="1304243"/>
            <a:ext cx="54864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url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"https://img.tf.co.kr/article/home/2025/07/22/202598011753169335.jpg"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3173D52B-4178-8B02-04E4-68AA1DAE0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36" y="1800107"/>
            <a:ext cx="8986982" cy="486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187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481C-56DE-A303-2D4C-E12ED6D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6562AF-EDD3-7FD9-789C-A59F62BF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 Reducing rank by SVD, PCA</a:t>
            </a:r>
            <a:endParaRPr lang="ko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C72ECB-26ED-AC43-69FC-B181EE6AD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1EDBD8-B293-7B46-746E-84D1944B0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508" y="1820059"/>
            <a:ext cx="8765310" cy="474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1210D5-7927-EB22-F5B4-C0811943D190}"/>
              </a:ext>
            </a:extLst>
          </p:cNvPr>
          <p:cNvSpPr txBox="1"/>
          <p:nvPr/>
        </p:nvSpPr>
        <p:spPr>
          <a:xfrm>
            <a:off x="604333" y="1358737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Rank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30, 10, 5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인데도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식별이 가능한 이유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6759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AE45B-DED7-1C98-3C49-D10799CC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E92FD1-6FA2-73C5-E656-2734EE17C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5128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06F2B-CE90-D579-2B88-0A5E99C0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8CA659-6149-EDE3-2FD5-523267A87F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EFE7053-F270-ACA7-0EE4-A7134C61E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808164"/>
            <a:ext cx="8848725" cy="412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9417FF-04F4-0DD8-35F5-0BB01AE0AB91}"/>
              </a:ext>
            </a:extLst>
          </p:cNvPr>
          <p:cNvSpPr txBox="1"/>
          <p:nvPr/>
        </p:nvSpPr>
        <p:spPr>
          <a:xfrm>
            <a:off x="1524000" y="600668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https://lilianweng.github.io/posts/2018-08-12-vae/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7943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955C9-5FA3-824C-2018-F1AE5DBC2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2444F5-6D20-4CA4-41CD-0088D7CED38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20060-A4EA-2828-D79C-3EE57139181F}"/>
              </a:ext>
            </a:extLst>
          </p:cNvPr>
          <p:cNvSpPr txBox="1"/>
          <p:nvPr/>
        </p:nvSpPr>
        <p:spPr>
          <a:xfrm>
            <a:off x="2604526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https://www.geeksforgeeks.org/deep-learning/types-of-autoencoders/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91714E5F-61DB-E17F-BC52-BE9F4E4401A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0ED493-D3B6-5B03-31D9-27588704B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540" y="1786711"/>
            <a:ext cx="6683319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9039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FEBD0-5EDE-31E7-2F29-210E26D58478}"/>
              </a:ext>
            </a:extLst>
          </p:cNvPr>
          <p:cNvSpPr txBox="1"/>
          <p:nvPr/>
        </p:nvSpPr>
        <p:spPr>
          <a:xfrm>
            <a:off x="723900" y="1532662"/>
            <a:ext cx="10105508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models.AE import Autoencoder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Autoencoder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객체 생성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AE = Autoencoder(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(28, 28, 1),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흑백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압축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(28x28 -&gt; 14x14 -&gt; 7x7)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[32, 64, 64, 64],  	#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레이어별 필터 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반감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복원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(7x7 -&gt; 14x14 -&gt; 28x28)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[64, 64, 32, 1], 	# Transpose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               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 공간 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-&gt;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압축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441917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E9819-0512-F067-9BF6-61298102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E6FD6F3-76C0-30A7-F618-AD74CD8622B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FA70F1-3665-6564-E646-A739528F7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924" y="2009633"/>
            <a:ext cx="3934626" cy="389586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C6D46CB-2637-57D2-7777-183C3EFA7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661" y="2009634"/>
            <a:ext cx="4989880" cy="41419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D81DD2C-B118-2973-A071-6B96A83813AB}"/>
              </a:ext>
            </a:extLst>
          </p:cNvPr>
          <p:cNvSpPr txBox="1"/>
          <p:nvPr/>
        </p:nvSpPr>
        <p:spPr>
          <a:xfrm>
            <a:off x="3162300" y="6006685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등간격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F13746-632B-D734-460B-675C920C1A4E}"/>
              </a:ext>
            </a:extLst>
          </p:cNvPr>
          <p:cNvSpPr txBox="1"/>
          <p:nvPr/>
        </p:nvSpPr>
        <p:spPr>
          <a:xfrm>
            <a:off x="475645" y="3900417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등간격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2F92E4B-6233-1808-1251-2D124A50C420}"/>
              </a:ext>
            </a:extLst>
          </p:cNvPr>
          <p:cNvCxnSpPr/>
          <p:nvPr/>
        </p:nvCxnSpPr>
        <p:spPr>
          <a:xfrm>
            <a:off x="6562725" y="3900417"/>
            <a:ext cx="9429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FCF750-92CC-6DC4-A8BE-E8127B0261C1}"/>
              </a:ext>
            </a:extLst>
          </p:cNvPr>
          <p:cNvSpPr txBox="1"/>
          <p:nvPr/>
        </p:nvSpPr>
        <p:spPr>
          <a:xfrm>
            <a:off x="6468674" y="4208194"/>
            <a:ext cx="11721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67739C-31BF-CA70-BA90-296E4375840E}"/>
              </a:ext>
            </a:extLst>
          </p:cNvPr>
          <p:cNvSpPr txBox="1"/>
          <p:nvPr/>
        </p:nvSpPr>
        <p:spPr>
          <a:xfrm>
            <a:off x="7812924" y="6006685"/>
            <a:ext cx="43140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일부 데이터는 수자라고 볼 수가 없음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(Discrete)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1BDFFC1-E2F2-CD91-A7B1-AB8CCA6D2D7F}"/>
              </a:ext>
            </a:extLst>
          </p:cNvPr>
          <p:cNvSpPr/>
          <p:nvPr/>
        </p:nvSpPr>
        <p:spPr>
          <a:xfrm>
            <a:off x="9220200" y="2072640"/>
            <a:ext cx="1112520" cy="9677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57A9038-0763-C939-AF63-B7E745D551F1}"/>
              </a:ext>
            </a:extLst>
          </p:cNvPr>
          <p:cNvSpPr/>
          <p:nvPr/>
        </p:nvSpPr>
        <p:spPr>
          <a:xfrm>
            <a:off x="2740351" y="3112889"/>
            <a:ext cx="1112520" cy="9677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033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7A5D-65F3-CC35-B404-4E45F48C0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07618FF-8FD0-6445-18C7-0DF65B87DD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DE1FF1-81FF-E700-E2A9-EE44DCF89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22" y="1837476"/>
            <a:ext cx="3687781" cy="43588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C26CFAF-86D2-7811-ABB1-6D9A8230B803}"/>
              </a:ext>
            </a:extLst>
          </p:cNvPr>
          <p:cNvSpPr txBox="1"/>
          <p:nvPr/>
        </p:nvSpPr>
        <p:spPr>
          <a:xfrm>
            <a:off x="3697397" y="695925"/>
            <a:ext cx="6025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vae_art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exhibition_explanation.pdf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51CD087-5C75-DE34-4191-5F89A8A24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151" y="1837476"/>
            <a:ext cx="4282049" cy="43588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F05786E-6BB3-3FB1-7F95-E7CA77962979}"/>
              </a:ext>
            </a:extLst>
          </p:cNvPr>
          <p:cNvSpPr txBox="1"/>
          <p:nvPr/>
        </p:nvSpPr>
        <p:spPr>
          <a:xfrm>
            <a:off x="6385951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poorly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B31CDD-457B-72E7-8E65-67D12983C91D}"/>
              </a:ext>
            </a:extLst>
          </p:cNvPr>
          <p:cNvSpPr txBox="1"/>
          <p:nvPr/>
        </p:nvSpPr>
        <p:spPr>
          <a:xfrm>
            <a:off x="1447800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good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0EA6-F24E-6E98-93F4-45BF324CE073}"/>
              </a:ext>
            </a:extLst>
          </p:cNvPr>
          <p:cNvSpPr txBox="1"/>
          <p:nvPr/>
        </p:nvSpPr>
        <p:spPr>
          <a:xfrm>
            <a:off x="3337951" y="6210181"/>
            <a:ext cx="47201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69816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941FA-B84D-C6FD-65F8-79F80D5C9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9A877FF-BBE4-726E-EBFF-F3451BC777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Discrete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vs.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Continuous Function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DCDC91B5-EA99-28F5-7DAB-371DF1837F0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2A27CA0-1CD2-3E90-00A5-FDC4216D2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067" y="2008449"/>
            <a:ext cx="9736046" cy="4056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8212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A4201-27AF-9D64-86CC-1F1C8A380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C13BD-8CB8-F992-F86A-1EB798A7D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62005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342E9-6C38-FA32-18FB-153823A8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C3F9A7-C49B-E541-7644-11CE24E215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DC8903-EAF5-B143-ACD9-9B7BD1BE9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744" y="1922558"/>
            <a:ext cx="7696613" cy="36748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C19082-8F36-05E1-CB3C-7EE63D024883}"/>
              </a:ext>
            </a:extLst>
          </p:cNvPr>
          <p:cNvSpPr txBox="1"/>
          <p:nvPr/>
        </p:nvSpPr>
        <p:spPr>
          <a:xfrm>
            <a:off x="585019" y="572452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2" descr="png">
            <a:extLst>
              <a:ext uri="{FF2B5EF4-FFF2-40B4-BE49-F238E27FC236}">
                <a16:creationId xmlns:a16="http://schemas.microsoft.com/office/drawing/2014/main" id="{78473249-EDD1-2EFD-4360-A70EF2C792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9344" y="1988345"/>
            <a:ext cx="3409950" cy="3409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E299D1-F29D-E264-DC97-66606A457604}"/>
              </a:ext>
            </a:extLst>
          </p:cNvPr>
          <p:cNvSpPr txBox="1"/>
          <p:nvPr/>
        </p:nvSpPr>
        <p:spPr>
          <a:xfrm>
            <a:off x="8519344" y="5398295"/>
            <a:ext cx="21082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Generative/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cvae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45534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5FEF5-617C-D3EC-5F92-DCB77404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4A5BB0-CE71-790E-4ED7-E088E146AF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Art Exhibition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5F89A81-3A70-D6E7-3F1F-E5A1D600F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" y="2040082"/>
            <a:ext cx="8550381" cy="39779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B05E78-6A83-AA7D-BB3A-777326A65F39}"/>
              </a:ext>
            </a:extLst>
          </p:cNvPr>
          <p:cNvSpPr txBox="1"/>
          <p:nvPr/>
        </p:nvSpPr>
        <p:spPr>
          <a:xfrm>
            <a:off x="475645" y="1600200"/>
            <a:ext cx="6532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Convolutional Variational Autoencoder, trained on MNIST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F92648-BA8C-EB45-4CF1-D020CB3CF871}"/>
              </a:ext>
            </a:extLst>
          </p:cNvPr>
          <p:cNvSpPr txBox="1"/>
          <p:nvPr/>
        </p:nvSpPr>
        <p:spPr>
          <a:xfrm>
            <a:off x="592084" y="6088617"/>
            <a:ext cx="45053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42476831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09516-21E9-348C-3C75-0C0D6299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FE18E0-5B17-FE87-AF9F-7D5AE232EC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15A6743-67F3-498A-6A7B-D286FE65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3" y="1483553"/>
            <a:ext cx="4313294" cy="4892464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78DA0AB-083D-F17B-9BF3-539604C1E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267" y="2481180"/>
            <a:ext cx="4553140" cy="1868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C20C81-978F-7EA5-11A7-8EBF6E12D6A3}"/>
              </a:ext>
            </a:extLst>
          </p:cNvPr>
          <p:cNvSpPr txBox="1"/>
          <p:nvPr/>
        </p:nvSpPr>
        <p:spPr>
          <a:xfrm>
            <a:off x="6315637" y="4629835"/>
            <a:ext cx="4474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difference between the encoder in an autoencoder and a variational autoencoder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32321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22660-74B4-FE78-8B0A-9B358B4A3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FF8BA2-223F-DC99-8585-2020CEF24F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57D4F87D-2936-DD67-37DB-C1CB04996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389" y="1781175"/>
            <a:ext cx="8400521" cy="3629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D07041-F708-055B-2873-633BE94652C6}"/>
              </a:ext>
            </a:extLst>
          </p:cNvPr>
          <p:cNvSpPr txBox="1"/>
          <p:nvPr/>
        </p:nvSpPr>
        <p:spPr>
          <a:xfrm>
            <a:off x="1762389" y="5604399"/>
            <a:ext cx="57246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https://en.wikipedia.org/wiki/Variational_autoencoder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80A9288D-F49A-F7E1-D5AB-7AB58C22176E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73A30D27-E89B-7E4F-D331-8C037EA76C95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717A3B35-33CF-1D73-05C5-CD756F95813B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02118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12224-2CF6-01C8-921F-61545FCA4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6DCCA-6712-13C1-8E72-AA7FE403A0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01647269-D6E0-C149-E21A-8CCFC6653156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4C0C9A2C-24BA-4516-8AA1-3DFC8862D023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9A979A12-FF09-51C2-510E-816F9D2132C1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72851DB-A449-0AF4-B8B5-EC8DD5390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537" y="2080434"/>
            <a:ext cx="8902730" cy="269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1522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314EA-D872-2165-B417-661EEBB6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FBADAB-8924-014C-10EA-F8650E69D9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Understanding Variational Autoencoders (VAEs) From Scratch | by Paweł  Litwin | Medium">
            <a:extLst>
              <a:ext uri="{FF2B5EF4-FFF2-40B4-BE49-F238E27FC236}">
                <a16:creationId xmlns:a16="http://schemas.microsoft.com/office/drawing/2014/main" id="{F278E4DD-BCA4-2F4F-4D40-C30BFA3DA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7257" y="1755775"/>
            <a:ext cx="8868293" cy="411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BE837F3-F60A-B5F9-34E5-0CAACE71F20D}"/>
              </a:ext>
            </a:extLst>
          </p:cNvPr>
          <p:cNvSpPr txBox="1"/>
          <p:nvPr/>
        </p:nvSpPr>
        <p:spPr>
          <a:xfrm>
            <a:off x="1247257" y="5897702"/>
            <a:ext cx="82867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https://medium.com/@litwinp2006/understanding-variational-autoencoders-vaes-from-scratch-439073f864d0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37450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C9950-8B20-FB27-23EA-7F1F00CEE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344EAE5-E862-E316-A22E-E0C08FAA4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A110CBC-175E-E049-269F-E6FCDFE2AF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411" y="2343227"/>
            <a:ext cx="5685589" cy="421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E4F7934-F1AD-B4F1-17D8-0CAC6E94D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546" y="3866760"/>
            <a:ext cx="4167172" cy="569614"/>
          </a:xfrm>
          <a:prstGeom prst="rect">
            <a:avLst/>
          </a:prstGeom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3133C57F-BCEA-EE67-AF28-CB71D0342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737" y="1248422"/>
            <a:ext cx="11087618" cy="74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파란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빨강색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점들의 구름(분포)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 실행 시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epsilon이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새로 뽑히면서, 고정된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중심점mu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주위에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z가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타원형 구름 모양으로 퍼져서 형성되는 모습을 확인</a:t>
            </a:r>
          </a:p>
        </p:txBody>
      </p:sp>
    </p:spTree>
    <p:extLst>
      <p:ext uri="{BB962C8B-B14F-4D97-AF65-F5344CB8AC3E}">
        <p14:creationId xmlns:p14="http://schemas.microsoft.com/office/powerpoint/2010/main" val="32020131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3E598-0C4A-B0DD-57AD-9E78BF3B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8024365-8F4C-537F-00C4-68A98B80A9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D5D096CE-CB85-5114-3B09-1269B7F28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770" y="2491271"/>
            <a:ext cx="8830280" cy="363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3DAC6B8-2E2E-2068-71DB-217A1D87D9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1280" y="2964151"/>
            <a:ext cx="2522439" cy="6629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FC2300F-372F-E39F-9AED-3EFA616C4855}"/>
              </a:ext>
            </a:extLst>
          </p:cNvPr>
          <p:cNvSpPr txBox="1"/>
          <p:nvPr/>
        </p:nvSpPr>
        <p:spPr>
          <a:xfrm>
            <a:off x="604837" y="1192090"/>
            <a:ext cx="1137761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다루기 쉬운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</p:spTree>
    <p:extLst>
      <p:ext uri="{BB962C8B-B14F-4D97-AF65-F5344CB8AC3E}">
        <p14:creationId xmlns:p14="http://schemas.microsoft.com/office/powerpoint/2010/main" val="9835544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3C6E-4685-B978-1759-5F251A91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0D3BCA73-BF83-0D20-F7F3-8F3E80548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99" y="2390667"/>
            <a:ext cx="10509564" cy="382915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CAE5EF4-DCF0-ABA5-8D05-DF1FA3434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771DB-DDD0-F797-AB5A-28E1C5BCF7B7}"/>
              </a:ext>
            </a:extLst>
          </p:cNvPr>
          <p:cNvSpPr txBox="1"/>
          <p:nvPr/>
        </p:nvSpPr>
        <p:spPr>
          <a:xfrm>
            <a:off x="604837" y="1192090"/>
            <a:ext cx="109823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 하는 대신 혼합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(mixture) variational family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037A59-AE5A-4D4A-9F36-0E9E7061B4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00718" y="3307063"/>
            <a:ext cx="3619814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129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B13F0-E02B-1045-51FB-989F0FE71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B9B3B85-5E52-9230-DD95-4F3B089BF0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B0D8A624-4058-8026-A73F-C5213C059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4D28E1-77DA-DB1C-B399-F4CF67311ED3}"/>
              </a:ext>
            </a:extLst>
          </p:cNvPr>
          <p:cNvSpPr txBox="1"/>
          <p:nvPr/>
        </p:nvSpPr>
        <p:spPr>
          <a:xfrm>
            <a:off x="581543" y="1913206"/>
            <a:ext cx="5343007" cy="46095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[1],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      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[2])),</a:t>
            </a: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filters=32,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(rate=0.2),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filters=16,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87B2E-C0D6-A7A1-9B0C-FF100E202028}"/>
              </a:ext>
            </a:extLst>
          </p:cNvPr>
          <p:cNvSpPr txBox="1"/>
          <p:nvPr/>
        </p:nvSpPr>
        <p:spPr>
          <a:xfrm>
            <a:off x="6239394" y="1916412"/>
            <a:ext cx="5371063" cy="46095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layers.Conv1DTranspose(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filters=16,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(rate=0.2),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layers.Conv1DTranspose(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filters=32,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layers.Conv1DTranspose(filters=1, 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 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 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	padding="same"),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]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7E28F6-6F3B-6339-FB54-A19DE95E7877}"/>
              </a:ext>
            </a:extLst>
          </p:cNvPr>
          <p:cNvSpPr txBox="1"/>
          <p:nvPr/>
        </p:nvSpPr>
        <p:spPr>
          <a:xfrm>
            <a:off x="581544" y="1539508"/>
            <a:ext cx="534300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Encoder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46B48A-D1C5-50CB-84C8-297D8286B0A5}"/>
              </a:ext>
            </a:extLst>
          </p:cNvPr>
          <p:cNvSpPr txBox="1"/>
          <p:nvPr/>
        </p:nvSpPr>
        <p:spPr>
          <a:xfrm>
            <a:off x="6239394" y="1539508"/>
            <a:ext cx="5371062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Decoder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3" name="설명선: 굽은 선(강조선) 12">
            <a:extLst>
              <a:ext uri="{FF2B5EF4-FFF2-40B4-BE49-F238E27FC236}">
                <a16:creationId xmlns:a16="http://schemas.microsoft.com/office/drawing/2014/main" id="{308A29D8-42FB-A163-C36A-816498E63113}"/>
              </a:ext>
            </a:extLst>
          </p:cNvPr>
          <p:cNvSpPr/>
          <p:nvPr/>
        </p:nvSpPr>
        <p:spPr>
          <a:xfrm>
            <a:off x="4476189" y="4901536"/>
            <a:ext cx="1448362" cy="1365914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35915"/>
              <a:gd name="adj6" fmla="val -5612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하나의 벡터가 아니라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72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채널이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개인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압축된 시계열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설명선: 굽은 선(강조선) 13">
            <a:extLst>
              <a:ext uri="{FF2B5EF4-FFF2-40B4-BE49-F238E27FC236}">
                <a16:creationId xmlns:a16="http://schemas.microsoft.com/office/drawing/2014/main" id="{ED45ED6C-1852-7EF6-E8A7-1274E84A36E2}"/>
              </a:ext>
            </a:extLst>
          </p:cNvPr>
          <p:cNvSpPr/>
          <p:nvPr/>
        </p:nvSpPr>
        <p:spPr>
          <a:xfrm>
            <a:off x="10581476" y="4568161"/>
            <a:ext cx="1448362" cy="762000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98716"/>
              <a:gd name="adj6" fmla="val -5941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출력층은 입력층과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동일하게</a:t>
            </a:r>
          </a:p>
        </p:txBody>
      </p:sp>
    </p:spTree>
    <p:extLst>
      <p:ext uri="{BB962C8B-B14F-4D97-AF65-F5344CB8AC3E}">
        <p14:creationId xmlns:p14="http://schemas.microsoft.com/office/powerpoint/2010/main" val="10374879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36D88-C1CA-BF53-8737-A03D35454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6EA9ED-3BE8-3158-F384-BE6C03C3AF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AE Architecture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680B2082-522F-4E2E-7475-A7CFF4C097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A00F8E4-F30B-7862-BFA9-DF406D1B76F9}"/>
              </a:ext>
            </a:extLst>
          </p:cNvPr>
          <p:cNvSpPr txBox="1"/>
          <p:nvPr/>
        </p:nvSpPr>
        <p:spPr>
          <a:xfrm>
            <a:off x="581024" y="1221695"/>
            <a:ext cx="113061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(art_daily_small_noise.csv)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학습하여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모델을 생성한 후 비정상이 포함된 검증데이터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(art_daily_jumpsup.csv)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anomaly 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91444C0-1E52-282D-D219-BCC4181FE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136095"/>
            <a:ext cx="8472488" cy="4104450"/>
          </a:xfrm>
          <a:prstGeom prst="rect">
            <a:avLst/>
          </a:prstGeom>
          <a:ln>
            <a:solidFill>
              <a:schemeClr val="tx1"/>
            </a:solidFill>
            <a:prstDash val="dashDot"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41B9BB-08D6-63FF-9A9C-EE7278F16C75}"/>
              </a:ext>
            </a:extLst>
          </p:cNvPr>
          <p:cNvSpPr txBox="1"/>
          <p:nvPr/>
        </p:nvSpPr>
        <p:spPr>
          <a:xfrm>
            <a:off x="1600200" y="6240545"/>
            <a:ext cx="10153650" cy="340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딥러닝에서는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데이터셋이 크고 학습 시간이 오래 걸려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cross validation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보다 이런 단순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hold-out validation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더 많이 사용하는 편</a:t>
            </a: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AC804EDE-1FB5-CBF1-CCB8-64A31BA24516}"/>
              </a:ext>
            </a:extLst>
          </p:cNvPr>
          <p:cNvSpPr/>
          <p:nvPr/>
        </p:nvSpPr>
        <p:spPr>
          <a:xfrm>
            <a:off x="4495800" y="2967037"/>
            <a:ext cx="704850" cy="676275"/>
          </a:xfrm>
          <a:prstGeom prst="cube">
            <a:avLst>
              <a:gd name="adj" fmla="val 6136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정육면체 20">
            <a:extLst>
              <a:ext uri="{FF2B5EF4-FFF2-40B4-BE49-F238E27FC236}">
                <a16:creationId xmlns:a16="http://schemas.microsoft.com/office/drawing/2014/main" id="{378638D7-8948-6023-18C9-92ABBB253661}"/>
              </a:ext>
            </a:extLst>
          </p:cNvPr>
          <p:cNvSpPr/>
          <p:nvPr/>
        </p:nvSpPr>
        <p:spPr>
          <a:xfrm>
            <a:off x="7715250" y="2959684"/>
            <a:ext cx="438150" cy="423862"/>
          </a:xfrm>
          <a:prstGeom prst="cube">
            <a:avLst>
              <a:gd name="adj" fmla="val 411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7931667B-05C6-2529-B4FB-7F238F0D38F4}"/>
              </a:ext>
            </a:extLst>
          </p:cNvPr>
          <p:cNvSpPr/>
          <p:nvPr/>
        </p:nvSpPr>
        <p:spPr>
          <a:xfrm>
            <a:off x="3790950" y="4568073"/>
            <a:ext cx="704850" cy="676275"/>
          </a:xfrm>
          <a:prstGeom prst="cube">
            <a:avLst>
              <a:gd name="adj" fmla="val 6136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정육면체 23">
            <a:extLst>
              <a:ext uri="{FF2B5EF4-FFF2-40B4-BE49-F238E27FC236}">
                <a16:creationId xmlns:a16="http://schemas.microsoft.com/office/drawing/2014/main" id="{A669FE07-F482-7E8A-22FE-EEA5144FB6A6}"/>
              </a:ext>
            </a:extLst>
          </p:cNvPr>
          <p:cNvSpPr/>
          <p:nvPr/>
        </p:nvSpPr>
        <p:spPr>
          <a:xfrm>
            <a:off x="7715250" y="4585617"/>
            <a:ext cx="438150" cy="423862"/>
          </a:xfrm>
          <a:prstGeom prst="cube">
            <a:avLst>
              <a:gd name="adj" fmla="val 411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BEC9FA2-F303-ACE8-52B7-D83E2D5F5E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17" y="2223338"/>
            <a:ext cx="762066" cy="7315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9A7165BC-7077-DD3B-B581-3D4C9E46D7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2198" y="5474106"/>
            <a:ext cx="739204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1639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ECE87-9257-2EED-1CDA-6480E7856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3E320D-289B-E17E-45A7-54F6084F4B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0231E0B4-E138-7B27-AEBB-EA43C8FAC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4919DB8-1339-CA54-4BDD-88FE727E0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112" y="2987810"/>
            <a:ext cx="4263374" cy="3225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F84FAF4-A80E-B4AB-E15B-13298B3F2D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3177" y="2982038"/>
            <a:ext cx="4360439" cy="3262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42A78F-426F-10FC-E766-D9BDD5DF4644}"/>
              </a:ext>
            </a:extLst>
          </p:cNvPr>
          <p:cNvSpPr txBox="1"/>
          <p:nvPr/>
        </p:nvSpPr>
        <p:spPr>
          <a:xfrm>
            <a:off x="609435" y="1356112"/>
            <a:ext cx="5229389" cy="133350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Get train MAE loss.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x_train_pred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train_mae_loss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x_train_pred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 axis=1)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Get reconstruction loss threshold.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threshold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train_mae_loss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ADC89C-DB58-1B49-0480-50765D5E3E62}"/>
              </a:ext>
            </a:extLst>
          </p:cNvPr>
          <p:cNvSpPr txBox="1"/>
          <p:nvPr/>
        </p:nvSpPr>
        <p:spPr>
          <a:xfrm>
            <a:off x="6353177" y="1356112"/>
            <a:ext cx="5353050" cy="15182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Get test MAE loss.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x_test_pred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x_test_pred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axis=1)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test_mae_loss.reshape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((-1))</a:t>
            </a:r>
          </a:p>
          <a:p>
            <a:pPr>
              <a:lnSpc>
                <a:spcPts val="1575"/>
              </a:lnSpc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Detect all the samples which are anomalies.</a:t>
            </a: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anomalies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&gt; threshold</a:t>
            </a:r>
          </a:p>
        </p:txBody>
      </p:sp>
      <p:sp>
        <p:nvSpPr>
          <p:cNvPr id="11" name="설명선: 굽은 선(강조선) 10">
            <a:extLst>
              <a:ext uri="{FF2B5EF4-FFF2-40B4-BE49-F238E27FC236}">
                <a16:creationId xmlns:a16="http://schemas.microsoft.com/office/drawing/2014/main" id="{CCB59811-CA04-C8B0-D176-D386A25CBC80}"/>
              </a:ext>
            </a:extLst>
          </p:cNvPr>
          <p:cNvSpPr/>
          <p:nvPr/>
        </p:nvSpPr>
        <p:spPr>
          <a:xfrm>
            <a:off x="5142658" y="4600575"/>
            <a:ext cx="1019736" cy="241964"/>
          </a:xfrm>
          <a:prstGeom prst="accentCallout2">
            <a:avLst>
              <a:gd name="adj1" fmla="val 18750"/>
              <a:gd name="adj2" fmla="val -8333"/>
              <a:gd name="adj3" fmla="val 62052"/>
              <a:gd name="adj4" fmla="val -19469"/>
              <a:gd name="adj5" fmla="val 496490"/>
              <a:gd name="adj6" fmla="val -383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threshold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설명선: 굽은 선(강조선) 11">
            <a:extLst>
              <a:ext uri="{FF2B5EF4-FFF2-40B4-BE49-F238E27FC236}">
                <a16:creationId xmlns:a16="http://schemas.microsoft.com/office/drawing/2014/main" id="{171B9984-CC97-C2C6-25A5-CAFAF51820B0}"/>
              </a:ext>
            </a:extLst>
          </p:cNvPr>
          <p:cNvSpPr/>
          <p:nvPr/>
        </p:nvSpPr>
        <p:spPr>
          <a:xfrm>
            <a:off x="9029702" y="4600575"/>
            <a:ext cx="1019736" cy="241964"/>
          </a:xfrm>
          <a:prstGeom prst="accentCallout2">
            <a:avLst>
              <a:gd name="adj1" fmla="val 18750"/>
              <a:gd name="adj2" fmla="val -8333"/>
              <a:gd name="adj3" fmla="val 62052"/>
              <a:gd name="adj4" fmla="val -19469"/>
              <a:gd name="adj5" fmla="val 496490"/>
              <a:gd name="adj6" fmla="val -383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threshold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31768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99333-73CE-BB31-0BD2-CBD390E43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F4F3051-92D8-549A-D274-C22C510ECE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A24271-33E7-74D6-47A4-A4CE436008BF}"/>
              </a:ext>
            </a:extLst>
          </p:cNvPr>
          <p:cNvSpPr txBox="1"/>
          <p:nvPr/>
        </p:nvSpPr>
        <p:spPr>
          <a:xfrm>
            <a:off x="561975" y="1390619"/>
            <a:ext cx="37753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Timeseries_anomaly_detection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AI-with-python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8674" name="Picture 2" descr="png">
            <a:extLst>
              <a:ext uri="{FF2B5EF4-FFF2-40B4-BE49-F238E27FC236}">
                <a16:creationId xmlns:a16="http://schemas.microsoft.com/office/drawing/2014/main" id="{C2C98C34-52E5-5611-B6EA-87D0ADC17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134" y="1561751"/>
            <a:ext cx="5715000" cy="4814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C82E35D8-6752-158C-9F54-4BEAC76B14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49475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20368</TotalTime>
  <Words>1448</Words>
  <Application>Microsoft Office PowerPoint</Application>
  <PresentationFormat>와이드스크린</PresentationFormat>
  <Paragraphs>196</Paragraphs>
  <Slides>35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5" baseType="lpstr">
      <vt:lpstr>D2Coding</vt:lpstr>
      <vt:lpstr>맑은 고딕</vt:lpstr>
      <vt:lpstr>맑은 고딕 Semilight</vt:lpstr>
      <vt:lpstr>Batang</vt:lpstr>
      <vt:lpstr>Arial</vt:lpstr>
      <vt:lpstr>Cambria Math</vt:lpstr>
      <vt:lpstr>Cascadia Code Light</vt:lpstr>
      <vt:lpstr>Times New Roman</vt:lpstr>
      <vt:lpstr>Wingdings</vt:lpstr>
      <vt:lpstr>WelcomeDoc</vt:lpstr>
      <vt:lpstr>Generative Deep Learning Teaching Machines to Paint, Write, Compose, and Play</vt:lpstr>
      <vt:lpstr>PowerPoint 프레젠테이션</vt:lpstr>
      <vt:lpstr>Probability</vt:lpstr>
      <vt:lpstr>PowerPoint 프레젠테이션</vt:lpstr>
      <vt:lpstr>PowerPoint 프레젠테이션</vt:lpstr>
      <vt:lpstr>PowerPoint 프레젠테이션</vt:lpstr>
      <vt:lpstr>Dimension reduction Linear/Non-Linear</vt:lpstr>
      <vt:lpstr>PowerPoint 프레젠테이션</vt:lpstr>
      <vt:lpstr>PowerPoint 프레젠테이션</vt:lpstr>
      <vt:lpstr>PowerPoint 프레젠테이션</vt:lpstr>
      <vt:lpstr>Principal component analysis (PCA) </vt:lpstr>
      <vt:lpstr>Manifold Learning</vt:lpstr>
      <vt:lpstr>Compressing Images – Reducing rank by random choice of features</vt:lpstr>
      <vt:lpstr>Compressing Images – Reducing rank by SVD, PCA</vt:lpstr>
      <vt:lpstr>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Variational 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279</cp:revision>
  <dcterms:created xsi:type="dcterms:W3CDTF">2026-04-06T01:00:39Z</dcterms:created>
  <dcterms:modified xsi:type="dcterms:W3CDTF">2026-09-05T14:59:14Z</dcterms:modified>
  <cp:version/>
</cp:coreProperties>
</file>