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264" r:id="rId3"/>
    <p:sldId id="1286" r:id="rId4"/>
    <p:sldId id="1345" r:id="rId5"/>
    <p:sldId id="1359" r:id="rId6"/>
    <p:sldId id="1351" r:id="rId7"/>
    <p:sldId id="1352" r:id="rId8"/>
    <p:sldId id="1355" r:id="rId9"/>
    <p:sldId id="1353" r:id="rId10"/>
    <p:sldId id="1354" r:id="rId11"/>
    <p:sldId id="1356" r:id="rId12"/>
    <p:sldId id="1358" r:id="rId13"/>
    <p:sldId id="1357" r:id="rId14"/>
    <p:sldId id="1344" r:id="rId15"/>
    <p:sldId id="1308" r:id="rId16"/>
    <p:sldId id="1309" r:id="rId17"/>
    <p:sldId id="1312" r:id="rId18"/>
    <p:sldId id="1310" r:id="rId19"/>
    <p:sldId id="1313" r:id="rId20"/>
    <p:sldId id="1314" r:id="rId21"/>
    <p:sldId id="1311" r:id="rId22"/>
    <p:sldId id="1315" r:id="rId23"/>
    <p:sldId id="1316" r:id="rId24"/>
    <p:sldId id="1349" r:id="rId25"/>
    <p:sldId id="1350" r:id="rId26"/>
    <p:sldId id="1330" r:id="rId27"/>
    <p:sldId id="1325" r:id="rId28"/>
    <p:sldId id="1326" r:id="rId29"/>
    <p:sldId id="1327" r:id="rId30"/>
    <p:sldId id="1331" r:id="rId31"/>
    <p:sldId id="1328" r:id="rId32"/>
    <p:sldId id="1334" r:id="rId33"/>
    <p:sldId id="1335" r:id="rId34"/>
    <p:sldId id="1339" r:id="rId35"/>
    <p:sldId id="1340" r:id="rId36"/>
    <p:sldId id="1336" r:id="rId37"/>
    <p:sldId id="1341" r:id="rId38"/>
    <p:sldId id="1337" r:id="rId39"/>
    <p:sldId id="1343" r:id="rId40"/>
    <p:sldId id="1342" r:id="rId41"/>
    <p:sldId id="1338" r:id="rId42"/>
    <p:sldId id="1347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59"/>
            <p14:sldId id="1351"/>
            <p14:sldId id="1352"/>
            <p14:sldId id="1355"/>
            <p14:sldId id="1353"/>
            <p14:sldId id="1354"/>
            <p14:sldId id="1356"/>
            <p14:sldId id="1358"/>
            <p14:sldId id="1357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37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xXgQAnMNBhY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ander.ai/2025/04/15/latents.html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latent_space_random_noise.ipynb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Generating-process-of-generative-models-which-shows-how-a-latent-vector-maps-to-a_fig1_339846296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Naive_Bayes_classifier" TargetMode="External"/><Relationship Id="rId5" Type="http://schemas.openxmlformats.org/officeDocument/2006/relationships/hyperlink" Target="https://github.com/ancestor9/2026_Fall_AI-Literacy/blob/main/naive_bayes_gender.xlsx" TargetMode="External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sv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9D37A-4AE5-D544-5EF6-E0D913AEF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75C0FE-287D-AB42-55D4-2B18FC52AD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to Diffusion (For Beginners)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3C1C282-FE83-A4AC-735E-5D246E0C2B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9F5F845-BA5D-4321-6093-8F10D34FA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593" y="1290237"/>
            <a:ext cx="6566675" cy="53649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53DA1D-1071-6021-8B8B-F4AC0CFC7184}"/>
              </a:ext>
            </a:extLst>
          </p:cNvPr>
          <p:cNvSpPr txBox="1"/>
          <p:nvPr/>
        </p:nvSpPr>
        <p:spPr>
          <a:xfrm>
            <a:off x="6206350" y="6376017"/>
            <a:ext cx="4038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https://www.youtube.com/watch?v=xXgQAnMNBhY</a:t>
            </a:r>
            <a:r>
              <a:rPr lang="ko-KR" altLang="en-US" sz="1400" dirty="0">
                <a:solidFill>
                  <a:srgbClr val="76E3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325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907A-DD39-754C-C424-A928B257E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E5090B-FAE5-8A17-21CF-E7CE69B40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Latent Space?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88EC94-4496-9F73-6658-A4191A5080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1BF85-F140-69A5-78B3-915EF759E0B6}"/>
              </a:ext>
            </a:extLst>
          </p:cNvPr>
          <p:cNvSpPr txBox="1"/>
          <p:nvPr/>
        </p:nvSpPr>
        <p:spPr>
          <a:xfrm>
            <a:off x="542622" y="1207782"/>
            <a:ext cx="111067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과정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가장 단순하게 개념화하고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1E042-925F-7C38-46C4-9ECA0B374735}"/>
              </a:ext>
            </a:extLst>
          </p:cNvPr>
          <p:cNvSpPr txBox="1"/>
          <p:nvPr/>
        </p:nvSpPr>
        <p:spPr>
          <a:xfrm>
            <a:off x="2891192" y="2815600"/>
            <a:ext cx="6828713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Vector = Latent Space = Random Noise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E2E81-4373-C757-157D-E46C57A82A1C}"/>
              </a:ext>
            </a:extLst>
          </p:cNvPr>
          <p:cNvSpPr txBox="1"/>
          <p:nvPr/>
        </p:nvSpPr>
        <p:spPr>
          <a:xfrm>
            <a:off x="3192778" y="3638764"/>
            <a:ext cx="6225541" cy="7931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8563FB-7FFE-BEEC-3ADF-63079FAC0ACD}"/>
              </a:ext>
            </a:extLst>
          </p:cNvPr>
          <p:cNvSpPr txBox="1"/>
          <p:nvPr/>
        </p:nvSpPr>
        <p:spPr>
          <a:xfrm>
            <a:off x="2349498" y="4916540"/>
            <a:ext cx="8623302" cy="88081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생성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무작위 노이즈로부터 새로운 데이터를 생성해내는 파이프라인과 그 원리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최소한의 코드로 구현하고 시각화</a:t>
            </a:r>
          </a:p>
        </p:txBody>
      </p:sp>
    </p:spTree>
    <p:extLst>
      <p:ext uri="{BB962C8B-B14F-4D97-AF65-F5344CB8AC3E}">
        <p14:creationId xmlns:p14="http://schemas.microsoft.com/office/powerpoint/2010/main" val="305137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644FB-6850-0980-1515-227B687E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CD03EC-683E-4BC6-E7E9-864184F877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C5C37-94E9-911E-2DC2-FBCE9FBC8B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043AC3-6555-6AA2-25AD-27C92A3D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1" y="1370679"/>
            <a:ext cx="7036238" cy="4857344"/>
          </a:xfrm>
          <a:prstGeom prst="rect">
            <a:avLst/>
          </a:prstGeom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04F12F-2703-587A-BD7F-D07F3D46A2C1}"/>
              </a:ext>
            </a:extLst>
          </p:cNvPr>
          <p:cNvSpPr txBox="1"/>
          <p:nvPr/>
        </p:nvSpPr>
        <p:spPr>
          <a:xfrm>
            <a:off x="688121" y="6222128"/>
            <a:ext cx="39549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https://sander.ai/2025/04/15/latents.html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915C19-A3FB-8A49-A6E6-2DF8CCCBC3B1}"/>
              </a:ext>
            </a:extLst>
          </p:cNvPr>
          <p:cNvSpPr/>
          <p:nvPr/>
        </p:nvSpPr>
        <p:spPr>
          <a:xfrm>
            <a:off x="3535680" y="2763520"/>
            <a:ext cx="3881120" cy="12903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A9B3D-1FEB-465C-5055-AA889723F941}"/>
              </a:ext>
            </a:extLst>
          </p:cNvPr>
          <p:cNvSpPr txBox="1"/>
          <p:nvPr/>
        </p:nvSpPr>
        <p:spPr>
          <a:xfrm>
            <a:off x="8185266" y="2350201"/>
            <a:ext cx="3481173" cy="36141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기반 생성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(GAN, VAE, Diffusion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고정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생략하고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표준정규분포에서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random sampling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한 잠재공간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고차원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(28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잠재공간과 고차원의 이미지가 비슷한 지 확인</a:t>
            </a: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F9E76BBC-F43D-5299-9D3B-99636AB85E6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7416800" y="3408680"/>
            <a:ext cx="768466" cy="748587"/>
          </a:xfrm>
          <a:prstGeom prst="curved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71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BA51-61B5-08CA-A137-D9CB96399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CD7CB1-E5E0-ADAE-7014-E7665C7636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156CCC0-7D25-F8DE-77AB-F3FF0ACAAD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1CA27-55AA-41C5-6A64-E0828CDCA54F}"/>
              </a:ext>
            </a:extLst>
          </p:cNvPr>
          <p:cNvSpPr txBox="1"/>
          <p:nvPr/>
        </p:nvSpPr>
        <p:spPr>
          <a:xfrm>
            <a:off x="772159" y="1440940"/>
            <a:ext cx="10647681" cy="46095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정규분포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(Gaussian) Random Noise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활용한 생성모델링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Modeling)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예제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업로드된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이미지의 흐름을 그대로 재현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data –training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과정은 생략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--training--&gt; Generative Model &lt;--sampling-- Random noise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  <a:p>
            <a:pPr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 noise z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표준정규분포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I)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"Generative Model"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이 노이즈 벡터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공간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등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매핑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(mapping)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하는 함수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G(z) 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실제로는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decoder, GAN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generator,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denoiser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이 역할을 담당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여기서는 실제 학습된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VAE/GAN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개념을 보여주기 위해 고정된 랜덤 가중치를 갖는 간단한 매핑 함수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 랜덤 신경망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사용해 노이즈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형태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패턴을 생성  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바뀔 때마다 다른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샘플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만들어지는 것을 확인</a:t>
            </a:r>
          </a:p>
        </p:txBody>
      </p:sp>
    </p:spTree>
    <p:extLst>
      <p:ext uri="{BB962C8B-B14F-4D97-AF65-F5344CB8AC3E}">
        <p14:creationId xmlns:p14="http://schemas.microsoft.com/office/powerpoint/2010/main" val="1621001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40C3-E184-3395-150C-7C66E3D6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6D73C2-A27B-56CE-53BD-9665D5EBC4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3B622C-6D79-7C6A-766F-FFD92690BF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B2A8-09C5-6224-71FA-CCF680467FD4}"/>
              </a:ext>
            </a:extLst>
          </p:cNvPr>
          <p:cNvSpPr txBox="1"/>
          <p:nvPr/>
        </p:nvSpPr>
        <p:spPr>
          <a:xfrm>
            <a:off x="640080" y="2440804"/>
            <a:ext cx="6035040" cy="3180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재현성을 위한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np.random.default_rng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(seed=42)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Random noise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표준정규분포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1)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32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노이즈 벡터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차원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8          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샘플 개수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28  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한 변 크기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(28x28)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z ~ N(0, I)  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 정규분포에서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(loc=0.0, scale=1.0, size=(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9B98972-B78E-0AF8-085B-AA5154353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0" y="2466824"/>
            <a:ext cx="5259186" cy="36270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7F232F-D053-D89A-3F2C-7274B41151FA}"/>
              </a:ext>
            </a:extLst>
          </p:cNvPr>
          <p:cNvSpPr txBox="1"/>
          <p:nvPr/>
        </p:nvSpPr>
        <p:spPr>
          <a:xfrm>
            <a:off x="640080" y="2102250"/>
            <a:ext cx="603504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잠재 공간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(Latent Space)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무작위 노이즈 샘플링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7DDBD0-8455-19B0-6775-AEC49741ED2F}"/>
              </a:ext>
            </a:extLst>
          </p:cNvPr>
          <p:cNvSpPr txBox="1"/>
          <p:nvPr/>
        </p:nvSpPr>
        <p:spPr>
          <a:xfrm>
            <a:off x="548890" y="1317995"/>
            <a:ext cx="109223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https://github.com/ancestor9/2026_Fall_Deep-Learning-with-Python/blob/main/scripts/latent_space_random_noise.ipynb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BFEA38-B548-4019-5D7A-4E1C7A713DF1}"/>
              </a:ext>
            </a:extLst>
          </p:cNvPr>
          <p:cNvSpPr txBox="1"/>
          <p:nvPr/>
        </p:nvSpPr>
        <p:spPr>
          <a:xfrm>
            <a:off x="640080" y="5857679"/>
            <a:ext cx="4421447" cy="70788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  Try this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  # </a:t>
            </a:r>
            <a:r>
              <a:rPr lang="ko-KR" altLang="en-US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노이즈 벡터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차원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32   # </a:t>
            </a:r>
            <a:r>
              <a:rPr lang="ko-KR" altLang="en-US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한 변 크기 </a:t>
            </a:r>
            <a:r>
              <a:rPr lang="en-US" altLang="ko-KR" sz="12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(28x28)</a:t>
            </a:r>
          </a:p>
        </p:txBody>
      </p:sp>
    </p:spTree>
    <p:extLst>
      <p:ext uri="{BB962C8B-B14F-4D97-AF65-F5344CB8AC3E}">
        <p14:creationId xmlns:p14="http://schemas.microsoft.com/office/powerpoint/2010/main" val="1342582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D59F-1DBC-4BC0-2477-DFC3784BC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C60978-0ACF-AB86-646F-120C473FE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DA4CF22-E254-70FB-EC55-E8CF848997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B138C-AAC3-834F-C48D-235EC55DE5DD}"/>
              </a:ext>
            </a:extLst>
          </p:cNvPr>
          <p:cNvSpPr txBox="1"/>
          <p:nvPr/>
        </p:nvSpPr>
        <p:spPr>
          <a:xfrm>
            <a:off x="640079" y="1766940"/>
            <a:ext cx="8133531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랜덤 가중치를 갖는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2-layer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매핑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128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generator(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h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W1 + b1)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비선형 매핑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 @ W2 + b2)    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-&gt; [-1,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out.reshape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시각화를 위해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범위로 정규화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(images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/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images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generator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generator(z)   # sampling: noise -&gt; generated sample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print("Generated samples shape:",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1CC5B-9945-4706-46F1-C3A6117DA634}"/>
              </a:ext>
            </a:extLst>
          </p:cNvPr>
          <p:cNvSpPr txBox="1"/>
          <p:nvPr/>
        </p:nvSpPr>
        <p:spPr>
          <a:xfrm>
            <a:off x="640080" y="1428386"/>
            <a:ext cx="813353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결정론적 매핑 함수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(Generator)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8CB7B-7E91-AF17-1AF2-0FC34D6F727E}"/>
              </a:ext>
            </a:extLst>
          </p:cNvPr>
          <p:cNvSpPr txBox="1"/>
          <p:nvPr/>
        </p:nvSpPr>
        <p:spPr>
          <a:xfrm>
            <a:off x="8773610" y="1766940"/>
            <a:ext cx="316069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이 가중치들을 진짜 이미지를 만들어내도록 훈련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코드에서는 원리 시연을 위해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미리 고정된 임의의 신경망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매핑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사용</a:t>
            </a:r>
          </a:p>
        </p:txBody>
      </p:sp>
    </p:spTree>
    <p:extLst>
      <p:ext uri="{BB962C8B-B14F-4D97-AF65-F5344CB8AC3E}">
        <p14:creationId xmlns:p14="http://schemas.microsoft.com/office/powerpoint/2010/main" val="2107628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3601A-E214-43CE-EC3C-5A0357D3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6D0384-1E66-083A-318C-3EFB389229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72E29BF-AF4D-2230-1544-7E37DCEBFE0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D0580BC-2EB5-53C3-CA56-A8A6B9982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34" y="1410266"/>
            <a:ext cx="10729731" cy="5148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2217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5458-A584-9DCE-97DB-DF2694E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A12A52-96E0-D89D-EE09-FD4A01B240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428D01-58CB-F84E-95C3-5824BED3B4B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E6F6FCDB-14FC-7E75-BCAE-7967E3E8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96" y="2245309"/>
            <a:ext cx="10829407" cy="403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6F662-3C95-FD91-C0BD-D2492E8D7BD9}"/>
              </a:ext>
            </a:extLst>
          </p:cNvPr>
          <p:cNvSpPr txBox="1"/>
          <p:nvPr/>
        </p:nvSpPr>
        <p:spPr>
          <a:xfrm>
            <a:off x="565549" y="1248422"/>
            <a:ext cx="10353762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Z1, Z2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도수 분포를 확인하면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variable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분포와 아주 유사</a:t>
            </a:r>
          </a:p>
        </p:txBody>
      </p:sp>
    </p:spTree>
    <p:extLst>
      <p:ext uri="{BB962C8B-B14F-4D97-AF65-F5344CB8AC3E}">
        <p14:creationId xmlns:p14="http://schemas.microsoft.com/office/powerpoint/2010/main" val="537814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1956-3FD7-62E9-44AE-8B86717CC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C0821F-0704-DF66-85C7-4D21BCD8CB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 Vectors Mapping to Generated Samples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E15B0E7-B0AE-C29B-14CE-21D6CEF0ECF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7C84EF-A4A8-B7F7-0128-504F8C542244}"/>
              </a:ext>
            </a:extLst>
          </p:cNvPr>
          <p:cNvSpPr txBox="1"/>
          <p:nvPr/>
        </p:nvSpPr>
        <p:spPr>
          <a:xfrm>
            <a:off x="577123" y="1190547"/>
            <a:ext cx="11229054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 process of generative models, which shows how a latent vector maps to a generated image: a low 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qz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maps to a high‐dimension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The generative distribution approximates the real data to make the generated samples look like the real samples</a:t>
            </a:r>
          </a:p>
          <a:p>
            <a:pPr>
              <a:lnSpc>
                <a:spcPct val="150000"/>
              </a:lnSpc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96D7BD-AC19-A8D4-BCE8-C3CA3BE02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756" y="2671813"/>
            <a:ext cx="6782841" cy="37042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9BF46A-3734-3DCD-632C-0F5F88B2972E}"/>
              </a:ext>
            </a:extLst>
          </p:cNvPr>
          <p:cNvSpPr txBox="1"/>
          <p:nvPr/>
        </p:nvSpPr>
        <p:spPr>
          <a:xfrm>
            <a:off x="836752" y="6376017"/>
            <a:ext cx="10518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https://www.researchgate.net/figure/Generating-process-of-generative-models-which-shows-how-a-latent-vector-maps-to-a_fig1_339846296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F34C4-41E5-D62D-2892-0542CA6ABB72}"/>
              </a:ext>
            </a:extLst>
          </p:cNvPr>
          <p:cNvSpPr txBox="1"/>
          <p:nvPr/>
        </p:nvSpPr>
        <p:spPr>
          <a:xfrm>
            <a:off x="2430606" y="2371664"/>
            <a:ext cx="6805991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Generative Model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</p:txBody>
      </p:sp>
    </p:spTree>
    <p:extLst>
      <p:ext uri="{BB962C8B-B14F-4D97-AF65-F5344CB8AC3E}">
        <p14:creationId xmlns:p14="http://schemas.microsoft.com/office/powerpoint/2010/main" val="542107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693" y="3171824"/>
            <a:ext cx="8593826" cy="32237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27564" y="2833271"/>
            <a:ext cx="861211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D850E6-405F-EB40-0C57-308CA96CF502}"/>
              </a:ext>
            </a:extLst>
          </p:cNvPr>
          <p:cNvSpPr txBox="1"/>
          <p:nvPr/>
        </p:nvSpPr>
        <p:spPr>
          <a:xfrm>
            <a:off x="8321675" y="5011083"/>
            <a:ext cx="19526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80" y="304217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96071" y="2706897"/>
            <a:ext cx="90843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600233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19769</TotalTime>
  <Words>2862</Words>
  <Application>Microsoft Office PowerPoint</Application>
  <PresentationFormat>와이드스크린</PresentationFormat>
  <Paragraphs>313</Paragraphs>
  <Slides>42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0" baseType="lpstr">
      <vt:lpstr>D2Coding</vt:lpstr>
      <vt:lpstr>맑은 고딕</vt:lpstr>
      <vt:lpstr>Batang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278</cp:revision>
  <dcterms:created xsi:type="dcterms:W3CDTF">2026-04-06T01:00:39Z</dcterms:created>
  <dcterms:modified xsi:type="dcterms:W3CDTF">2026-10-02T03:11:47Z</dcterms:modified>
  <cp:version/>
</cp:coreProperties>
</file>