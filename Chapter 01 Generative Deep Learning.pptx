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5"/>
  </p:notesMasterIdLst>
  <p:handoutMasterIdLst>
    <p:handoutMasterId r:id="rId46"/>
  </p:handoutMasterIdLst>
  <p:sldIdLst>
    <p:sldId id="256" r:id="rId2"/>
    <p:sldId id="1264" r:id="rId3"/>
    <p:sldId id="1286" r:id="rId4"/>
    <p:sldId id="1345" r:id="rId5"/>
    <p:sldId id="1359" r:id="rId6"/>
    <p:sldId id="1351" r:id="rId7"/>
    <p:sldId id="1352" r:id="rId8"/>
    <p:sldId id="1355" r:id="rId9"/>
    <p:sldId id="1353" r:id="rId10"/>
    <p:sldId id="1354" r:id="rId11"/>
    <p:sldId id="1356" r:id="rId12"/>
    <p:sldId id="1358" r:id="rId13"/>
    <p:sldId id="1357" r:id="rId14"/>
    <p:sldId id="1344" r:id="rId15"/>
    <p:sldId id="1308" r:id="rId16"/>
    <p:sldId id="1309" r:id="rId17"/>
    <p:sldId id="1312" r:id="rId18"/>
    <p:sldId id="1360" r:id="rId19"/>
    <p:sldId id="1310" r:id="rId20"/>
    <p:sldId id="1313" r:id="rId21"/>
    <p:sldId id="1314" r:id="rId22"/>
    <p:sldId id="1311" r:id="rId23"/>
    <p:sldId id="1315" r:id="rId24"/>
    <p:sldId id="1316" r:id="rId25"/>
    <p:sldId id="1349" r:id="rId26"/>
    <p:sldId id="1350" r:id="rId27"/>
    <p:sldId id="1330" r:id="rId28"/>
    <p:sldId id="1325" r:id="rId29"/>
    <p:sldId id="1326" r:id="rId30"/>
    <p:sldId id="1327" r:id="rId31"/>
    <p:sldId id="1331" r:id="rId32"/>
    <p:sldId id="1328" r:id="rId33"/>
    <p:sldId id="1334" r:id="rId34"/>
    <p:sldId id="1335" r:id="rId35"/>
    <p:sldId id="1339" r:id="rId36"/>
    <p:sldId id="1340" r:id="rId37"/>
    <p:sldId id="1336" r:id="rId38"/>
    <p:sldId id="1341" r:id="rId39"/>
    <p:sldId id="1337" r:id="rId40"/>
    <p:sldId id="1343" r:id="rId41"/>
    <p:sldId id="1342" r:id="rId42"/>
    <p:sldId id="1338" r:id="rId43"/>
    <p:sldId id="1347" r:id="rId44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264"/>
            <p14:sldId id="1286"/>
            <p14:sldId id="1345"/>
            <p14:sldId id="1359"/>
            <p14:sldId id="1351"/>
            <p14:sldId id="1352"/>
            <p14:sldId id="1355"/>
            <p14:sldId id="1353"/>
            <p14:sldId id="1354"/>
            <p14:sldId id="1356"/>
            <p14:sldId id="1358"/>
            <p14:sldId id="1357"/>
            <p14:sldId id="1344"/>
            <p14:sldId id="1308"/>
            <p14:sldId id="1309"/>
            <p14:sldId id="1312"/>
            <p14:sldId id="1360"/>
            <p14:sldId id="1310"/>
            <p14:sldId id="1313"/>
            <p14:sldId id="1314"/>
            <p14:sldId id="1311"/>
            <p14:sldId id="1315"/>
            <p14:sldId id="1316"/>
            <p14:sldId id="1349"/>
            <p14:sldId id="1350"/>
            <p14:sldId id="1330"/>
            <p14:sldId id="1325"/>
            <p14:sldId id="1326"/>
            <p14:sldId id="1327"/>
            <p14:sldId id="1331"/>
            <p14:sldId id="1328"/>
            <p14:sldId id="1334"/>
            <p14:sldId id="1335"/>
            <p14:sldId id="1339"/>
            <p14:sldId id="1340"/>
            <p14:sldId id="1336"/>
            <p14:sldId id="1341"/>
            <p14:sldId id="1337"/>
            <p14:sldId id="1343"/>
            <p14:sldId id="1342"/>
            <p14:sldId id="1338"/>
            <p14:sldId id="1347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404040"/>
    <a:srgbClr val="DD462F"/>
    <a:srgbClr val="FF9B45"/>
    <a:srgbClr val="D24726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1136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2026-10-03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2026-10-03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83C67-24C9-5543-9125-00AD2A7AF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9A7283-3839-C586-69C5-A98066A7D2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BA2A4E1-666E-F5FA-1ED3-122FD3DD68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800870-2C91-9378-9D8B-CD79263FC7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0864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2026-10-03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10/3/2026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2026-10-03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jpeg"/><Relationship Id="rId16" Type="http://schemas.openxmlformats.org/officeDocument/2006/relationships/image" Target="../media/image21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Relationship Id="rId14" Type="http://schemas.openxmlformats.org/officeDocument/2006/relationships/image" Target="../media/image1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xXgQAnMNBhY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ander.ai/2025/04/15/latents.html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2026_Fall_Deep-Learning-with-Python/blob/main/scripts/latent_space_random_noise.ipynb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figure/Generating-process-of-generative-models-which-shows-how-a-latent-vector-maps-to-a_fig1_339846296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stanford.edu/~shervine/teaching/cs-229/cheatsheet-supervised-learning/" TargetMode="Externa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hyperlink" Target="https://en.wikipedia.org/wiki/Naive_Bayes_classifier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github.com/ancestor9/2026_Fall_AI-Literacy/blob/main/naive_bayes_gender.xlsx" TargetMode="External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60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0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2026_Fall_Generative-Deep-Learning/tree/main/scripts" TargetMode="External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jakevdp.github.io/PythonDataScienceHandbook/05.10-manifold-learning.html" TargetMode="External"/><Relationship Id="rId2" Type="http://schemas.openxmlformats.org/officeDocument/2006/relationships/hyperlink" Target="https://jakevdp.github.io/PythonDataScienceHandbook/05.09-principal-component-analysis.html" TargetMode="Externa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Nonlinear_dimensionality_reduction" TargetMode="External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Generative Deep Learning</a:t>
            </a:r>
            <a:b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Teaching Machines to Paint, Write, Compose, and Play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85264-DAF7-E028-936A-3E39FB0AE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C317C8E-BF00-9996-5D78-F73C973977E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Introduction to Generative Deep Learning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0AAD77-2BE3-B651-D9E7-0AADA229A2B1}"/>
              </a:ext>
            </a:extLst>
          </p:cNvPr>
          <p:cNvSpPr txBox="1"/>
          <p:nvPr/>
        </p:nvSpPr>
        <p:spPr>
          <a:xfrm>
            <a:off x="2502417" y="1583297"/>
            <a:ext cx="6981307" cy="4404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What Is Generative Modeling?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Generative Versus Discriminative Modeling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Your First Probabilistic Generative Model(Naive Bayes)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Advances in Machine Learning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The Rise of Generative Modeling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The Generative Modeling Framework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Probabilistic Generative Models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Hello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Wrodl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!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Manifold Learning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CF4B8AC-C92D-256F-22B9-1BCA3A48E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6948" y="1583297"/>
            <a:ext cx="1684918" cy="22327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ABF1DF-F364-FC6B-B631-1FB3134DF963}"/>
              </a:ext>
            </a:extLst>
          </p:cNvPr>
          <p:cNvSpPr txBox="1"/>
          <p:nvPr/>
        </p:nvSpPr>
        <p:spPr>
          <a:xfrm>
            <a:off x="591709" y="1691187"/>
            <a:ext cx="1789416" cy="461665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en-US" altLang="ko-KR" sz="2400" cap="none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Chapter 1 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7212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5C927-A56A-F51B-6518-140E5922C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3A52980-41D7-E59A-63AB-724FDA7C36A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What Is Generative Modeling?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87C1567E-DBDB-E8CB-99FE-1A85DDD10F71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28674" name="Picture 2" descr="기차역을 걷는 사람들의 군중">
            <a:extLst>
              <a:ext uri="{FF2B5EF4-FFF2-40B4-BE49-F238E27FC236}">
                <a16:creationId xmlns:a16="http://schemas.microsoft.com/office/drawing/2014/main" id="{7EAEBAFF-72C0-1DAD-100D-019D72E26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" y="2023739"/>
            <a:ext cx="259080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76" name="Picture 4" descr="개 옆에 서있는 사람들의 그룹">
            <a:extLst>
              <a:ext uri="{FF2B5EF4-FFF2-40B4-BE49-F238E27FC236}">
                <a16:creationId xmlns:a16="http://schemas.microsoft.com/office/drawing/2014/main" id="{76AE52E1-9FCE-85E2-887E-7F7E6A5D7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2423789"/>
            <a:ext cx="259080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78" name="Picture 6" descr="레드 페라리 458 이탈리아 흰 벽 앞에 주차">
            <a:extLst>
              <a:ext uri="{FF2B5EF4-FFF2-40B4-BE49-F238E27FC236}">
                <a16:creationId xmlns:a16="http://schemas.microsoft.com/office/drawing/2014/main" id="{6229FE34-0559-04A4-B06B-01A35F1B50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0" y="3395339"/>
            <a:ext cx="3533775" cy="235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80" name="Picture 8" descr="녹색 땅에 세 마리의 말">
            <a:extLst>
              <a:ext uri="{FF2B5EF4-FFF2-40B4-BE49-F238E27FC236}">
                <a16:creationId xmlns:a16="http://schemas.microsoft.com/office/drawing/2014/main" id="{897BE0E4-2E7B-505E-823E-24DB4F999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4179909"/>
            <a:ext cx="3533775" cy="2358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A3636C0-BFD4-9813-8285-40CD45BCD3F2}"/>
              </a:ext>
            </a:extLst>
          </p:cNvPr>
          <p:cNvSpPr txBox="1"/>
          <p:nvPr/>
        </p:nvSpPr>
        <p:spPr>
          <a:xfrm>
            <a:off x="542925" y="1371600"/>
            <a:ext cx="11068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이미지의 객체가 무엇인지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?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어떻게 인지하는 걸까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86035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5F022-716B-CE54-5E8E-80054745C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D7A31E1-B5C2-196E-B358-1CEB162FBFF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What Is Generative Modeling?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0FBD4ACF-0776-795D-FE5C-C4FF759A80E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8356F4-58EF-5FB0-11AD-E6B694B92414}"/>
              </a:ext>
            </a:extLst>
          </p:cNvPr>
          <p:cNvSpPr txBox="1"/>
          <p:nvPr/>
        </p:nvSpPr>
        <p:spPr>
          <a:xfrm>
            <a:off x="542925" y="1371600"/>
            <a:ext cx="11068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인지한 이미지를 어떻게 다시 생성할 까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</a:p>
        </p:txBody>
      </p:sp>
      <p:pic>
        <p:nvPicPr>
          <p:cNvPr id="28682" name="Picture 10" descr="색깔이 다른 다섯 마리의 말이 푸른 초원을 달리고 있었다">
            <a:extLst>
              <a:ext uri="{FF2B5EF4-FFF2-40B4-BE49-F238E27FC236}">
                <a16:creationId xmlns:a16="http://schemas.microsoft.com/office/drawing/2014/main" id="{EFFC1912-94D5-6792-ABCF-C5D3BEFBB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75" y="1955477"/>
            <a:ext cx="5626100" cy="421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래픽 3" descr="말">
            <a:extLst>
              <a:ext uri="{FF2B5EF4-FFF2-40B4-BE49-F238E27FC236}">
                <a16:creationId xmlns:a16="http://schemas.microsoft.com/office/drawing/2014/main" id="{D4B8D422-CB2B-9271-CCC7-941AFA135D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65125" y="2164726"/>
            <a:ext cx="914400" cy="914400"/>
          </a:xfrm>
          <a:prstGeom prst="rect">
            <a:avLst/>
          </a:prstGeom>
        </p:spPr>
      </p:pic>
      <p:pic>
        <p:nvPicPr>
          <p:cNvPr id="6" name="그래픽 5" descr="기린">
            <a:extLst>
              <a:ext uri="{FF2B5EF4-FFF2-40B4-BE49-F238E27FC236}">
                <a16:creationId xmlns:a16="http://schemas.microsoft.com/office/drawing/2014/main" id="{4B62CEDE-AB5D-6134-698F-5376DA57FB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49200" y="3079126"/>
            <a:ext cx="914400" cy="914400"/>
          </a:xfrm>
          <a:prstGeom prst="rect">
            <a:avLst/>
          </a:prstGeom>
        </p:spPr>
      </p:pic>
      <p:pic>
        <p:nvPicPr>
          <p:cNvPr id="8" name="그래픽 7" descr="코끼리">
            <a:extLst>
              <a:ext uri="{FF2B5EF4-FFF2-40B4-BE49-F238E27FC236}">
                <a16:creationId xmlns:a16="http://schemas.microsoft.com/office/drawing/2014/main" id="{13AA0A8E-7016-AD27-C5C1-3E3F3B19F4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22325" y="3340724"/>
            <a:ext cx="914400" cy="914400"/>
          </a:xfrm>
          <a:prstGeom prst="rect">
            <a:avLst/>
          </a:prstGeom>
        </p:spPr>
      </p:pic>
      <p:pic>
        <p:nvPicPr>
          <p:cNvPr id="11" name="그래픽 10" descr="여성 집단">
            <a:extLst>
              <a:ext uri="{FF2B5EF4-FFF2-40B4-BE49-F238E27FC236}">
                <a16:creationId xmlns:a16="http://schemas.microsoft.com/office/drawing/2014/main" id="{65552E9B-AA3B-C215-6505-C28B0B0628E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672650" y="3376500"/>
            <a:ext cx="914400" cy="914400"/>
          </a:xfrm>
          <a:prstGeom prst="rect">
            <a:avLst/>
          </a:prstGeom>
        </p:spPr>
      </p:pic>
      <p:pic>
        <p:nvPicPr>
          <p:cNvPr id="13" name="그래픽 12" descr="남자 아이가 있는 가족">
            <a:extLst>
              <a:ext uri="{FF2B5EF4-FFF2-40B4-BE49-F238E27FC236}">
                <a16:creationId xmlns:a16="http://schemas.microsoft.com/office/drawing/2014/main" id="{45D84394-1E02-2B43-002F-C8B86E1F135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799525" y="2919300"/>
            <a:ext cx="914400" cy="914400"/>
          </a:xfrm>
          <a:prstGeom prst="rect">
            <a:avLst/>
          </a:prstGeom>
        </p:spPr>
      </p:pic>
      <p:pic>
        <p:nvPicPr>
          <p:cNvPr id="15" name="그래픽 14" descr="자전거 타기">
            <a:extLst>
              <a:ext uri="{FF2B5EF4-FFF2-40B4-BE49-F238E27FC236}">
                <a16:creationId xmlns:a16="http://schemas.microsoft.com/office/drawing/2014/main" id="{99014BA1-01CF-12F3-C2E9-7180F763C85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682050" y="4610100"/>
            <a:ext cx="914400" cy="914400"/>
          </a:xfrm>
          <a:prstGeom prst="rect">
            <a:avLst/>
          </a:prstGeom>
        </p:spPr>
      </p:pic>
      <p:pic>
        <p:nvPicPr>
          <p:cNvPr id="17" name="그래픽 16" descr="전기 카">
            <a:extLst>
              <a:ext uri="{FF2B5EF4-FFF2-40B4-BE49-F238E27FC236}">
                <a16:creationId xmlns:a16="http://schemas.microsoft.com/office/drawing/2014/main" id="{0D6B36F0-DFDB-ACEE-F433-D7810B156EE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767650" y="494812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070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9D37A-4AE5-D544-5EF6-E0D913AEF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275C0FE-287D-AB42-55D4-2B18FC52ADD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AutoEncoder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to Diffusion (For Beginners)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53C1C282-FE83-A4AC-735E-5D246E0C2BD0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9F5F845-BA5D-4321-6093-8F10D34FA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593" y="1290237"/>
            <a:ext cx="6566675" cy="53649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53DA1D-1071-6021-8B8B-F4AC0CFC7184}"/>
              </a:ext>
            </a:extLst>
          </p:cNvPr>
          <p:cNvSpPr txBox="1"/>
          <p:nvPr/>
        </p:nvSpPr>
        <p:spPr>
          <a:xfrm>
            <a:off x="6206350" y="6376017"/>
            <a:ext cx="4038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rgbClr val="76E3FF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https://www.youtube.com/watch?v=xXgQAnMNBhY</a:t>
            </a:r>
            <a:r>
              <a:rPr lang="ko-KR" altLang="en-US" sz="1400" dirty="0">
                <a:solidFill>
                  <a:srgbClr val="76E3F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3325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A907A-DD39-754C-C424-A928B257E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8E5090B-FAE5-8A17-21CF-E7CE69B402E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What Is Latent Space?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1C88EC94-4496-9F73-6658-A4191A50803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01BF85-F140-69A5-78B3-915EF759E0B6}"/>
              </a:ext>
            </a:extLst>
          </p:cNvPr>
          <p:cNvSpPr txBox="1"/>
          <p:nvPr/>
        </p:nvSpPr>
        <p:spPr>
          <a:xfrm>
            <a:off x="542622" y="1207782"/>
            <a:ext cx="11106755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생성 모델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(Generative Model)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핵심 원리인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확률적 노이즈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(Latent Vector)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데이터 공간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(Image)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으로 매핑하는 과정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가장 단순하게 개념화하고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시각화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D1E042-925F-7C38-46C4-9ECA0B374735}"/>
              </a:ext>
            </a:extLst>
          </p:cNvPr>
          <p:cNvSpPr txBox="1"/>
          <p:nvPr/>
        </p:nvSpPr>
        <p:spPr>
          <a:xfrm>
            <a:off x="2891192" y="2815600"/>
            <a:ext cx="6828713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Latent Vector = Latent Space = Random Noise 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9E2E81-4373-C757-157D-E46C57A82A1C}"/>
              </a:ext>
            </a:extLst>
          </p:cNvPr>
          <p:cNvSpPr txBox="1"/>
          <p:nvPr/>
        </p:nvSpPr>
        <p:spPr>
          <a:xfrm>
            <a:off x="3192778" y="3638764"/>
            <a:ext cx="6225541" cy="7931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어떻게 아무 의미 없는 무작위 숫자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노이즈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로부터 이미지 형태의 데이터가 만들어지는가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8563FB-7FFE-BEEC-3ADF-63079FAC0ACD}"/>
              </a:ext>
            </a:extLst>
          </p:cNvPr>
          <p:cNvSpPr txBox="1"/>
          <p:nvPr/>
        </p:nvSpPr>
        <p:spPr>
          <a:xfrm>
            <a:off x="2349498" y="4916540"/>
            <a:ext cx="8623302" cy="88081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딥러닝 생성 모델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(Generative Model)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 무작위 노이즈로부터 새로운 데이터를 생성해내는 파이프라인과 그 원리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최소한의 코드로 구현하고 시각화</a:t>
            </a:r>
          </a:p>
        </p:txBody>
      </p:sp>
    </p:spTree>
    <p:extLst>
      <p:ext uri="{BB962C8B-B14F-4D97-AF65-F5344CB8AC3E}">
        <p14:creationId xmlns:p14="http://schemas.microsoft.com/office/powerpoint/2010/main" val="305137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644FB-6850-0980-1515-227B687ED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5CD03EC-683E-4BC6-E7E9-864184F8772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Latent</a:t>
            </a:r>
            <a:r>
              <a:rPr lang="fr-FR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space transformation process</a:t>
            </a:r>
            <a:endParaRPr lang="en-US" altLang="ko-KR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B95C5C37-94E9-911E-2DC2-FBCE9FBC8B8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F043AC3-6555-6AA2-25AD-27C92A3D7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841" y="1370679"/>
            <a:ext cx="7036238" cy="4857344"/>
          </a:xfrm>
          <a:prstGeom prst="rect">
            <a:avLst/>
          </a:prstGeom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04F12F-2703-587A-BD7F-D07F3D46A2C1}"/>
              </a:ext>
            </a:extLst>
          </p:cNvPr>
          <p:cNvSpPr txBox="1"/>
          <p:nvPr/>
        </p:nvSpPr>
        <p:spPr>
          <a:xfrm>
            <a:off x="688121" y="6222128"/>
            <a:ext cx="39549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https://sander.ai/2025/04/15/latents.html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7915C19-A3FB-8A49-A6E6-2DF8CCCBC3B1}"/>
              </a:ext>
            </a:extLst>
          </p:cNvPr>
          <p:cNvSpPr/>
          <p:nvPr/>
        </p:nvSpPr>
        <p:spPr>
          <a:xfrm>
            <a:off x="3535680" y="2763520"/>
            <a:ext cx="3881120" cy="12903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5A9B3D-1FEB-465C-5055-AA889723F941}"/>
              </a:ext>
            </a:extLst>
          </p:cNvPr>
          <p:cNvSpPr txBox="1"/>
          <p:nvPr/>
        </p:nvSpPr>
        <p:spPr>
          <a:xfrm>
            <a:off x="8185266" y="2350201"/>
            <a:ext cx="3481173" cy="36141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딥러닝 기반 생성 모델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(GAN, VAE, Diffusion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등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의 학습 과정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(decoder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 고정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을 생략하고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어떻게 아무 의미 없는 무작위 숫자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노이즈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로부터 이미지 형태의 데이터가 만들어지는가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표준정규분포에서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random sampling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한 잠재공간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(38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차원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에서 고차원 이미지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(28 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28)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decoder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하여 잠재공간과 고차원의 이미지가 비슷한 지 확인</a:t>
            </a:r>
          </a:p>
        </p:txBody>
      </p:sp>
      <p:cxnSp>
        <p:nvCxnSpPr>
          <p:cNvPr id="13" name="연결선: 구부러짐 12">
            <a:extLst>
              <a:ext uri="{FF2B5EF4-FFF2-40B4-BE49-F238E27FC236}">
                <a16:creationId xmlns:a16="http://schemas.microsoft.com/office/drawing/2014/main" id="{F9E76BBC-F43D-5299-9D3B-99636AB85E6D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7416800" y="3408680"/>
            <a:ext cx="768466" cy="748587"/>
          </a:xfrm>
          <a:prstGeom prst="curved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9717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DBA51-61B5-08CA-A137-D9CB96399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FCD7CB1-E5E0-ADAE-7014-E7665C76362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Latent</a:t>
            </a:r>
            <a:r>
              <a:rPr lang="fr-FR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space transformation process</a:t>
            </a:r>
            <a:endParaRPr lang="en-US" altLang="ko-KR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5156CCC0-7D25-F8DE-77AB-F3FF0ACAADD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B1CA27-55AA-41C5-6A64-E0828CDCA54F}"/>
              </a:ext>
            </a:extLst>
          </p:cNvPr>
          <p:cNvSpPr txBox="1"/>
          <p:nvPr/>
        </p:nvSpPr>
        <p:spPr>
          <a:xfrm>
            <a:off x="772159" y="1440940"/>
            <a:ext cx="10647681" cy="46095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정규분포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(Gaussian) Random Noise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 활용한 생성모델링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(Generative Modeling) 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예제</a:t>
            </a:r>
          </a:p>
          <a:p>
            <a:pPr>
              <a:lnSpc>
                <a:spcPct val="150000"/>
              </a:lnSpc>
              <a:buNone/>
            </a:pPr>
            <a:r>
              <a:rPr lang="ko-KR" altLang="en-US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업로드된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이미지의 흐름을 그대로 재현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(Generative Model)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하면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Training data –training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과정은 생략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endParaRPr lang="ko-KR" altLang="en-US" sz="16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Training data --training--&gt; Generative Model &lt;--sampling-- Random noise</a:t>
            </a:r>
            <a:endParaRPr lang="ko-KR" altLang="en-US" sz="16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                            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|</a:t>
            </a:r>
            <a:endParaRPr lang="ko-KR" altLang="en-US" sz="16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                            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</a:t>
            </a:r>
            <a:endParaRPr lang="ko-KR" altLang="en-US" sz="16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                    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Generated sample</a:t>
            </a:r>
          </a:p>
          <a:p>
            <a:pPr>
              <a:buNone/>
            </a:pPr>
            <a:endParaRPr lang="ko-KR" altLang="en-US" sz="16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Random noise z 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는 표준정규분포 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N(0, I) 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에서 샘플링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"Generative Model"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은 이 노이즈 벡터 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z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ko-KR" altLang="en-US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입력받아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데이터 공간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이미지 등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으로 매핑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(mapping)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하는 함수 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G(z) (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실제로는 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VAE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 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decoder, GAN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 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generator,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Diffusion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 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denoiser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가 이 역할을 담당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6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여기서는 실제 학습된 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VAE/GAN 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대신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개념을 보여주기 위해 고정된 랜덤 가중치를 갖는 간단한 매핑 함수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고정 랜덤 신경망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 사용해 노이즈 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-&gt; 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이미지 형태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정규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분포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 패턴을 생성   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z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가 바뀔 때마다 다른 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샘플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 만들어지는 것을 확인</a:t>
            </a:r>
          </a:p>
        </p:txBody>
      </p:sp>
    </p:spTree>
    <p:extLst>
      <p:ext uri="{BB962C8B-B14F-4D97-AF65-F5344CB8AC3E}">
        <p14:creationId xmlns:p14="http://schemas.microsoft.com/office/powerpoint/2010/main" val="1621001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440C3-E184-3395-150C-7C66E3D62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D6D73C2-A27B-56CE-53BD-9665D5EBC47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Latent</a:t>
            </a:r>
            <a:r>
              <a:rPr lang="fr-FR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space transformation process</a:t>
            </a:r>
            <a:endParaRPr lang="en-US" altLang="ko-KR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1C3B622C-6D79-7C6A-766F-FFD92690BF6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C5B2A8-09C5-6224-71FA-CCF680467FD4}"/>
              </a:ext>
            </a:extLst>
          </p:cNvPr>
          <p:cNvSpPr txBox="1"/>
          <p:nvPr/>
        </p:nvSpPr>
        <p:spPr>
          <a:xfrm>
            <a:off x="640080" y="2440804"/>
            <a:ext cx="6035040" cy="3180166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as np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matplotlib.pyplot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as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plt</a:t>
            </a: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재현성을 위한 </a:t>
            </a:r>
            <a:r>
              <a:rPr lang="ko-KR" altLang="en-US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시드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고정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rng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np.random.default_rng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(seed=42)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------------------------------------------------------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1. Random noise 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정의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표준정규분포 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N(0, 1) 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에서 샘플링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------------------------------------------------------</a:t>
            </a:r>
            <a:endParaRPr lang="ko-KR" altLang="en-US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latent_dim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32          # 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노이즈 벡터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(latent vector)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 차원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n_samples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8             # 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생성할 샘플 개수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img_size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28              # 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생성할 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이미지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 한 변 크기 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(28x28)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z ~ N(0, I)  : 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평균 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0, 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표준편차 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인 정규분포에서 샘플링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z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rng.normal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(loc=0.0, scale=1.0, size=(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n_samples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latent_dim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9B98972-B78E-0AF8-085B-AA51543532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120" y="2466824"/>
            <a:ext cx="5259186" cy="362702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7F232F-D053-D89A-3F2C-7274B41151FA}"/>
              </a:ext>
            </a:extLst>
          </p:cNvPr>
          <p:cNvSpPr txBox="1"/>
          <p:nvPr/>
        </p:nvSpPr>
        <p:spPr>
          <a:xfrm>
            <a:off x="640080" y="2102250"/>
            <a:ext cx="6035040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1.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잠재 공간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(Latent Space)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과 무작위 노이즈 샘플링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7DDBD0-8455-19B0-6775-AEC49741ED2F}"/>
              </a:ext>
            </a:extLst>
          </p:cNvPr>
          <p:cNvSpPr txBox="1"/>
          <p:nvPr/>
        </p:nvSpPr>
        <p:spPr>
          <a:xfrm>
            <a:off x="548890" y="1317995"/>
            <a:ext cx="109223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https://github.com/ancestor9/2026_Fall_Deep-Learning-with-Python/blob/main/scripts/latent_space_random_noise.ipynb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42582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5D59F-1DBC-4BC0-2477-DFC3784BC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AC60978-0ACF-AB86-646F-120C473FE78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Latent</a:t>
            </a:r>
            <a:r>
              <a:rPr lang="fr-FR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space transformation process</a:t>
            </a:r>
            <a:endParaRPr lang="en-US" altLang="ko-KR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5DA4CF22-E254-70FB-EC55-E8CF848997BF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FB138C-AAC3-834F-C48D-235EC55DE5DD}"/>
              </a:ext>
            </a:extLst>
          </p:cNvPr>
          <p:cNvSpPr txBox="1"/>
          <p:nvPr/>
        </p:nvSpPr>
        <p:spPr>
          <a:xfrm>
            <a:off x="640079" y="1766940"/>
            <a:ext cx="8133531" cy="4616648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def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build_fixed_generator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latent_dim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img_size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rng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"""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고정된 랜덤 가중치를 갖는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2-layer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매핑 함수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."""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hidden_dim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128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W1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rng.normal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(0, 1 /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np.sqrt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latent_dim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), size=(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latent_dim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hidden_dim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b1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rng.normal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(0, 0.1, size=(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hidden_dim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,))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W2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rng.normal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(0, 1 /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np.sqrt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hidden_dim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), size=(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hidden_dim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img_size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*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img_size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b2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rng.normal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(0, 0.1, size=(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img_size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*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img_size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,))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def generator(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z_batch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h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np.tanh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z_batch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@ W1 + b1)          #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은닉층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비선형 매핑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out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np.tanh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(h @ W2 + b2)              #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출력층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-&gt; [-1, 1]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범위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images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out.reshape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(-1,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img_size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img_size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시각화를 위해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[0, 1]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범위로 정규화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images = (images -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images.min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()) / 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images.max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 -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images.min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return images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return generator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generator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build_fixed_generator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latent_dim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img_size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rng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generated_samples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generator(z)   # sampling: noise -&gt; generated sample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print("Generated samples shape:",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generated_samples.shape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51CC5B-9945-4706-46F1-C3A6117DA634}"/>
              </a:ext>
            </a:extLst>
          </p:cNvPr>
          <p:cNvSpPr txBox="1"/>
          <p:nvPr/>
        </p:nvSpPr>
        <p:spPr>
          <a:xfrm>
            <a:off x="640080" y="1428386"/>
            <a:ext cx="8133530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2.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결정론적 매핑 함수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(Generator)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구축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D8CB7B-7E91-AF17-1AF2-0FC34D6F727E}"/>
              </a:ext>
            </a:extLst>
          </p:cNvPr>
          <p:cNvSpPr txBox="1"/>
          <p:nvPr/>
        </p:nvSpPr>
        <p:spPr>
          <a:xfrm>
            <a:off x="8773610" y="1766940"/>
            <a:ext cx="3160696" cy="16004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원래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GAN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VAE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에서는 이 가중치들을 진짜 이미지를 만들어내도록 훈련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(Training)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시키지만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 코드에서는 원리 시연을 위해 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미리 고정된 임의의 신경망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을 매핑 함수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G(z)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 사용</a:t>
            </a:r>
          </a:p>
        </p:txBody>
      </p:sp>
    </p:spTree>
    <p:extLst>
      <p:ext uri="{BB962C8B-B14F-4D97-AF65-F5344CB8AC3E}">
        <p14:creationId xmlns:p14="http://schemas.microsoft.com/office/powerpoint/2010/main" val="2107628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3601A-E214-43CE-EC3C-5A0357D37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26D0384-1E66-083A-318C-3EFB3892292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Latent</a:t>
            </a:r>
            <a:r>
              <a:rPr lang="fr-FR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space transformation process</a:t>
            </a:r>
            <a:endParaRPr lang="en-US" altLang="ko-KR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772E29BF-AF4D-2230-1544-7E37DCEBFE04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D0580BC-2EB5-53C3-CA56-A8A6B99826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134" y="1410266"/>
            <a:ext cx="10729731" cy="5148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2217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85458-A584-9DCE-97DB-DF2694E37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4A12A52-96E0-D89D-EE09-FD4A01B2400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Latent</a:t>
            </a:r>
            <a:r>
              <a:rPr lang="fr-FR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space transformation process</a:t>
            </a:r>
            <a:endParaRPr lang="en-US" altLang="ko-KR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AA428D01-58CB-F84E-95C3-5824BED3B4B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E6F6FCDB-14FC-7E75-BCAE-7967E3E824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296" y="2245309"/>
            <a:ext cx="10829407" cy="4034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146F662-3C95-FD91-C0BD-D2492E8D7BD9}"/>
              </a:ext>
            </a:extLst>
          </p:cNvPr>
          <p:cNvSpPr txBox="1"/>
          <p:nvPr/>
        </p:nvSpPr>
        <p:spPr>
          <a:xfrm>
            <a:off x="565549" y="1248422"/>
            <a:ext cx="10353762" cy="793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G(z)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Z1, Z2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통해 생성한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(Generate)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만든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8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sample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차원 도수 분포를 확인하면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latent variable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분포와 아주 유사</a:t>
            </a:r>
          </a:p>
        </p:txBody>
      </p:sp>
    </p:spTree>
    <p:extLst>
      <p:ext uri="{BB962C8B-B14F-4D97-AF65-F5344CB8AC3E}">
        <p14:creationId xmlns:p14="http://schemas.microsoft.com/office/powerpoint/2010/main" val="537814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71956-3FD7-62E9-44AE-8B86717CC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7C0821F-0704-DF66-85C7-4D21BCD8CBD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Latent Vectors Mapping to Generated Samples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AE15B0E7-B0AE-C29B-14CE-21D6CEF0ECF2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7C84EF-A4A8-B7F7-0128-504F8C542244}"/>
              </a:ext>
            </a:extLst>
          </p:cNvPr>
          <p:cNvSpPr txBox="1"/>
          <p:nvPr/>
        </p:nvSpPr>
        <p:spPr>
          <a:xfrm>
            <a:off x="577123" y="1190547"/>
            <a:ext cx="11229054" cy="1351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Generating process of generative models, which shows how a latent vector maps to a generated image: a low dimension manifold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qz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maps to a high‐dimension manifold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pgx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. The generative distribution approximates the real data to make the generated samples look like the real samples</a:t>
            </a:r>
          </a:p>
          <a:p>
            <a:pPr>
              <a:lnSpc>
                <a:spcPct val="150000"/>
              </a:lnSpc>
            </a:pP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196D7BD-AC19-A8D4-BCE8-C3CA3BE02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756" y="2671813"/>
            <a:ext cx="6782841" cy="370420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79BF46A-3734-3DCD-632C-0F5F88B2972E}"/>
              </a:ext>
            </a:extLst>
          </p:cNvPr>
          <p:cNvSpPr txBox="1"/>
          <p:nvPr/>
        </p:nvSpPr>
        <p:spPr>
          <a:xfrm>
            <a:off x="836752" y="6376017"/>
            <a:ext cx="105184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https://www.researchgate.net/figure/Generating-process-of-generative-models-which-shows-how-a-latent-vector-maps-to-a_fig1_339846296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1F34C4-41E5-D62D-2892-0542CA6ABB72}"/>
              </a:ext>
            </a:extLst>
          </p:cNvPr>
          <p:cNvSpPr txBox="1"/>
          <p:nvPr/>
        </p:nvSpPr>
        <p:spPr>
          <a:xfrm>
            <a:off x="2430606" y="2371664"/>
            <a:ext cx="6805991" cy="30777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Training data 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training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Generative Model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Generated sample</a:t>
            </a:r>
          </a:p>
        </p:txBody>
      </p:sp>
    </p:spTree>
    <p:extLst>
      <p:ext uri="{BB962C8B-B14F-4D97-AF65-F5344CB8AC3E}">
        <p14:creationId xmlns:p14="http://schemas.microsoft.com/office/powerpoint/2010/main" val="5421072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57A69-CF43-F60E-8A70-82E81E92B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8800EEE-BEE5-58BC-2071-7452C60F949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What Is Generative Modeling?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A255859B-1160-F3AE-1280-58385BC310FF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2585D8-553E-999B-ECEB-4DF5B946FDA3}"/>
              </a:ext>
            </a:extLst>
          </p:cNvPr>
          <p:cNvSpPr txBox="1"/>
          <p:nvPr/>
        </p:nvSpPr>
        <p:spPr>
          <a:xfrm>
            <a:off x="581025" y="1210322"/>
            <a:ext cx="11029950" cy="1351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데이터의 패턴을 단순히 분류하거나 예측하는 것을 넘어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학습한 데이터의 확률 분포를 기반으로 새로운 데이터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텍스트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오디오 등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 스스로 창조해내는 딥러닝 기술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생성 모델은 결정론적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(deterministic)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 아닌 확률적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(probabilistic)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이며 어떤 이미지는 훈련 데이터셋에 등장할 확률이 높고 다른 이미지는 그렇지 않은 이유를 설명하는 알 수 없는 확률 분포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(probabilistic distribution)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 찾아내는 예측 방법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5FC8F7F-14AA-30E5-B2CA-C7CE401E2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693" y="3171824"/>
            <a:ext cx="8593826" cy="322375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0DE769F-7391-520C-13C5-F02F6CB49B3B}"/>
              </a:ext>
            </a:extLst>
          </p:cNvPr>
          <p:cNvSpPr txBox="1"/>
          <p:nvPr/>
        </p:nvSpPr>
        <p:spPr>
          <a:xfrm>
            <a:off x="1527564" y="2833271"/>
            <a:ext cx="8612115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The generative modeling process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D850E6-405F-EB40-0C57-308CA96CF502}"/>
              </a:ext>
            </a:extLst>
          </p:cNvPr>
          <p:cNvSpPr txBox="1"/>
          <p:nvPr/>
        </p:nvSpPr>
        <p:spPr>
          <a:xfrm>
            <a:off x="8321675" y="5011083"/>
            <a:ext cx="195262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VAE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GAN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Diffusion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7956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B1B8E-E2C0-F8F0-3B82-666DEDAF4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EDCE78C-7D22-0283-9918-3710982EF2A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What Is Discriminative Modeling?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09F36924-A4F6-33CB-915A-7A92FFD99DF9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7291239-A819-3C38-60EC-542F15F47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880" y="3042177"/>
            <a:ext cx="9084371" cy="29795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ADD637-6F42-1870-5E0A-F069B631F6E0}"/>
              </a:ext>
            </a:extLst>
          </p:cNvPr>
          <p:cNvSpPr txBox="1"/>
          <p:nvPr/>
        </p:nvSpPr>
        <p:spPr>
          <a:xfrm>
            <a:off x="1296071" y="2706897"/>
            <a:ext cx="9084370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The discriminative modeling process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72474879-9B87-3C59-E688-E121CF454D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24" y="1205845"/>
            <a:ext cx="11058526" cy="1162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판별 모델(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Discriminative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)은 입력 데이터(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)가 주어졌을 때 그 데이터가 특정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클래스(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)에 속할 확률을 예측하는 모델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로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데이터 자체의 분포를 학습하는 생성 모델과 달리, 데이터 간의 차이와 경계(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Decision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Boundary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)를 구별하는 데 집중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0F83E3-3607-3C6F-1BF6-C88F26BE350D}"/>
              </a:ext>
            </a:extLst>
          </p:cNvPr>
          <p:cNvSpPr txBox="1"/>
          <p:nvPr/>
        </p:nvSpPr>
        <p:spPr>
          <a:xfrm>
            <a:off x="8372475" y="4513243"/>
            <a:ext cx="195262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KNN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로지스틱 회귀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SVM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의사결정나무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CNN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기반 분류기</a:t>
            </a:r>
          </a:p>
        </p:txBody>
      </p:sp>
    </p:spTree>
    <p:extLst>
      <p:ext uri="{BB962C8B-B14F-4D97-AF65-F5344CB8AC3E}">
        <p14:creationId xmlns:p14="http://schemas.microsoft.com/office/powerpoint/2010/main" val="3285088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FE966-BCB2-F147-4B01-693D0F4E3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27EF895-9473-FE20-141B-18AB6FF1AE1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Generative Versus Discriminative Modeling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A2689650-4C83-2C8B-B1F5-A0308FD8A8CF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0216A8-6BAB-D675-6A73-9EE69FFC5B2A}"/>
              </a:ext>
            </a:extLst>
          </p:cNvPr>
          <p:cNvSpPr txBox="1"/>
          <p:nvPr/>
        </p:nvSpPr>
        <p:spPr>
          <a:xfrm>
            <a:off x="954062" y="6071217"/>
            <a:ext cx="61991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Supervised Learning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cheatsheet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 - Stanford CS 229 (Machine Learning)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0EB02D6-879A-DDA7-7E7D-F595DB15F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062" y="1743076"/>
            <a:ext cx="9549540" cy="432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8176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F3197-A79D-CBDD-111F-2E51560D8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6EDAF64-C92D-8795-3CF0-0EDB5E881E2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Generative Versus Discriminative Modeling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382FB47C-3C02-43F3-82B3-6BFE8615282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4BF205B-0AB7-B58A-CD26-84AFCE38C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820" y="2066926"/>
            <a:ext cx="9142546" cy="134935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7D11BBB-5934-0BEF-051A-12851ABB4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821" y="3971407"/>
            <a:ext cx="9105830" cy="183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7152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67375-8D96-2AAD-31CE-C877CF9BF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56F506-02E2-11CE-23EB-069B263A69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Gaussian Naïve</a:t>
            </a:r>
            <a:r>
              <a:rPr lang="ko-KR" altLang="en-US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Bayes classifier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891541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5A02E-3652-653D-212C-06BC714FE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641E45E-6A33-92A4-9AF4-778F87088BD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Your First Probabilistic Generative Model(Naive Bayes)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0C7DFEBF-47BC-B91A-9DC4-5D87B5BFD5B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ACCCA9C-E0E7-0515-6F18-EF7FF18D9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076" y="1504831"/>
            <a:ext cx="4351397" cy="274343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9566EBC-F9B3-1622-71AB-3A83A06DC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187" y="4048006"/>
            <a:ext cx="5730737" cy="1615580"/>
          </a:xfrm>
          <a:prstGeom prst="rect">
            <a:avLst/>
          </a:prstGeom>
        </p:spPr>
      </p:pic>
      <p:pic>
        <p:nvPicPr>
          <p:cNvPr id="13" name="그래픽 12" descr="오른쪽으로 굽은 화살표">
            <a:extLst>
              <a:ext uri="{FF2B5EF4-FFF2-40B4-BE49-F238E27FC236}">
                <a16:creationId xmlns:a16="http://schemas.microsoft.com/office/drawing/2014/main" id="{0416FEB0-BF89-837F-8734-38A13F7407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81600" y="3038475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F62A3EF-A283-D0FA-B163-77DFA24CBDAB}"/>
              </a:ext>
            </a:extLst>
          </p:cNvPr>
          <p:cNvSpPr txBox="1"/>
          <p:nvPr/>
        </p:nvSpPr>
        <p:spPr>
          <a:xfrm>
            <a:off x="6096000" y="2376755"/>
            <a:ext cx="400631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훈련 데이터셋에 등장할 확률이 높고 다른 이미지는 그렇지 않은 이유를 설명하는 알 수 없는 확률 분포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(probabilistic distribution)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찾아내는 예측 방법</a:t>
            </a:r>
            <a:endParaRPr lang="ko-KR" altLang="en-US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4901B1-1C8A-769B-0491-FE4FC4CEDFF0}"/>
              </a:ext>
            </a:extLst>
          </p:cNvPr>
          <p:cNvSpPr txBox="1"/>
          <p:nvPr/>
        </p:nvSpPr>
        <p:spPr>
          <a:xfrm>
            <a:off x="596076" y="4352985"/>
            <a:ext cx="49423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hlinkClick r:id="rId6"/>
              </a:rPr>
              <a:t>naive_bayes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hlinkClick r:id="rId7"/>
              </a:rPr>
              <a:t>https://en.wikipedia.org/wiki/Naive_Bayes_classifier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85389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508D8-8346-A7AD-3072-BBB2C727E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35FC180-D9B9-750F-BCF0-26884F4D047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Your First Probabilistic Generative Model(Naive Bayes)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B70FBC0B-D4FE-13FD-AD5C-BA80C316F991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FE8F966-0DBA-E1DE-D330-EF20F18FB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91038"/>
            <a:ext cx="10663344" cy="2782745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27F945-AE26-73FA-6CA1-A297D6C48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224810"/>
            <a:ext cx="6838879" cy="137880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0F2E46B-BCA0-BD73-F07A-54916DA778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633190"/>
            <a:ext cx="3025140" cy="65784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A1182F6-3424-D51E-4FCF-E89A3A7F7E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056" y="1818557"/>
            <a:ext cx="3314987" cy="47248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C627BFD-372B-CB2E-6DD7-A4748F2615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1250" y="1866958"/>
            <a:ext cx="3314987" cy="413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7590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93358-BA7E-579E-BA26-23ADD9B75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5E3685E-FC83-C849-CC16-C1EA7EF2B4D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Your First Probabilistic Generative Model(Naive Bayes)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336ADCC7-F81C-FF1C-03F7-D306B25EF13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3B8BD1E-2E49-CBF5-4FB4-601FCA33A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779" y="1468577"/>
            <a:ext cx="7551508" cy="444644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C9A220B-46F6-AE24-2813-24DEC4297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862" y="4371949"/>
            <a:ext cx="5380494" cy="43922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611B868-A14B-F16B-25D4-313CBB6F78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862" y="4811173"/>
            <a:ext cx="5391474" cy="389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0075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29811-8F5F-7D8D-7677-9386CC972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68772FE-1AB6-6535-F86F-1064012DE2D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Advances in Machine Learning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83490EAF-DF7E-2DF7-EAE1-F5DCECA4C2F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51829C-6887-C482-3272-70F4D5AA4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147" y="1471589"/>
            <a:ext cx="11087705" cy="4671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학술적 관점: 명확한 성과 측정 및 평가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평가의 용이성: 분류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정답률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등 객관적 지표로 성과 추적이 명확함 (생성 모델은 결과물 평가가 주관적임)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ImageNet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(ILSVRC) 대회를 통한 기술 격차 증명:</a:t>
            </a: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2012년: 제프 힌튼 팀의 CNN 모델 우승 (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에러율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16%로 2위 26.2%를 압도) </a:t>
            </a:r>
            <a:r>
              <a:rPr kumimoji="0" lang="en-US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딥러닝 열풍의 계기</a:t>
            </a: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2015년: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에러율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4% 달성으로 인간 수준 추월</a:t>
            </a: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현재: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에러율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2% 수준 달성으로 이미지 분류 과제 사실상 완료</a:t>
            </a:r>
            <a:endParaRPr kumimoji="0" lang="en-US" altLang="ko-K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kumimoji="0" lang="ko-KR" altLang="ko-K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산업적 관점: 높은 비즈니스 실용성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의사결정 중심: 기업은 데이터의 생성 원리보다 '새로운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입력값의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분류 및 평가' 정보를 필요로 함</a:t>
            </a: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국방: 위성 이미지 내 적 부대 존재 여부 판단</a:t>
            </a: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고객 관리: 수신 이메일의 긍정/부정 감성 분류</a:t>
            </a: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의료: 망막 이미지를 통한 녹내장 발병 확률 진단</a:t>
            </a:r>
            <a:endParaRPr kumimoji="0" lang="en-US" altLang="ko-K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kumimoji="0" lang="ko-KR" altLang="ko-K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시장 형성: 판별 모델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구축·검증·모니터링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자동화 중심의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MLaaS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Machine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Learning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as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-Service) </a:t>
            </a:r>
          </a:p>
        </p:txBody>
      </p:sp>
    </p:spTree>
    <p:extLst>
      <p:ext uri="{BB962C8B-B14F-4D97-AF65-F5344CB8AC3E}">
        <p14:creationId xmlns:p14="http://schemas.microsoft.com/office/powerpoint/2010/main" val="596893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8DC4D-A008-8E87-150D-24F7754EE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2635108-B29D-3BA4-CD4C-197908442D8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Rise of Generative Modeling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ABADACEB-592D-2E62-DC14-05F063E9DBB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A139DB88-6B9A-DEA1-1CE3-E7C0B0317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24" y="1205844"/>
            <a:ext cx="11058526" cy="1162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기술적 도약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StyleGAN(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초실사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얼굴 생성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), GPT-2(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텍스트 완성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등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딥러닝을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결합한 생성 모델의 급격한 발전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산업적 활용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게임 디자인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영화 제작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자동 음악 생성 등 다양한 분야의 콘텐츠 제작 혁신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윤리적 우려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가짜 콘텐츠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딥페이크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확산으로 인한 정보 신뢰성 저하 문제 대두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F5DF69E-71B6-8D2B-08EA-8F4E9A6E9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522" y="2909643"/>
            <a:ext cx="10420955" cy="2412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4379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14042-4B69-1FC5-36D4-3D2DF5AA2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2C608B5-0071-388D-1BFE-EF1A0241180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Generative Model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7ADA2561-B9A5-B2F2-C427-F1BE98DC1B2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1332CB-3782-5021-515C-7C662FEC2B8D}"/>
              </a:ext>
            </a:extLst>
          </p:cNvPr>
          <p:cNvSpPr txBox="1"/>
          <p:nvPr/>
        </p:nvSpPr>
        <p:spPr>
          <a:xfrm>
            <a:off x="3086100" y="1863209"/>
            <a:ext cx="5438776" cy="3670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4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Generative</a:t>
            </a:r>
            <a:r>
              <a:rPr lang="ko-KR" altLang="en-US" sz="4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altLang="ko-KR" sz="4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AI</a:t>
            </a:r>
            <a:r>
              <a:rPr lang="ko-KR" altLang="en-US" sz="4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는 어떻게 완전히 새로운 창작물을 만들어 내는가</a:t>
            </a:r>
            <a:r>
              <a:rPr lang="en-US" altLang="ko-KR" sz="4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425297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B8330-AAF7-59F1-594D-112DC9C44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제목 1">
                <a:extLst>
                  <a:ext uri="{FF2B5EF4-FFF2-40B4-BE49-F238E27FC236}">
                    <a16:creationId xmlns:a16="http://schemas.microsoft.com/office/drawing/2014/main" id="{20EDC6C7-8D4D-138B-5B3B-EBAEBD681A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5645" y="481983"/>
                <a:ext cx="10353762" cy="76643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ctr" defTabSz="914400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200" kern="1200" cap="all" baseline="0"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  <a:cs typeface="+mj-cs"/>
                  </a:defRPr>
                </a:lvl1pPr>
              </a:lstStyle>
              <a:p>
                <a:pPr algn="l"/>
                <a:r>
                  <a:rPr lang="en-US" altLang="ko-KR" sz="2800" cap="none" dirty="0">
                    <a:solidFill>
                      <a:schemeClr val="bg2">
                        <a:lumMod val="25000"/>
                      </a:schemeClr>
                    </a:solidFill>
                    <a:latin typeface="D2Coding" panose="020B0609020101020101" pitchFamily="49" charset="-127"/>
                    <a:ea typeface="D2Coding" panose="020B0609020101020101" pitchFamily="49" charset="-127"/>
                    <a:cs typeface="Segoe UI Light" panose="020B0502040204020203" pitchFamily="34" charset="0"/>
                  </a:rPr>
                  <a:t>1. </a:t>
                </a:r>
                <a:r>
                  <a:rPr lang="ko-KR" altLang="en-US" sz="2800" cap="none" dirty="0">
                    <a:solidFill>
                      <a:schemeClr val="bg2">
                        <a:lumMod val="25000"/>
                      </a:schemeClr>
                    </a:solidFill>
                    <a:latin typeface="D2Coding" panose="020B0609020101020101" pitchFamily="49" charset="-127"/>
                    <a:ea typeface="D2Coding" panose="020B0609020101020101" pitchFamily="49" charset="-127"/>
                    <a:cs typeface="Segoe UI Light" panose="020B0502040204020203" pitchFamily="34" charset="0"/>
                  </a:rPr>
                  <a:t>보이지</a:t>
                </a:r>
                <a:r>
                  <a:rPr lang="en-US" altLang="ko-KR" sz="2800" cap="none" dirty="0">
                    <a:solidFill>
                      <a:schemeClr val="bg2">
                        <a:lumMod val="25000"/>
                      </a:schemeClr>
                    </a:solidFill>
                    <a:latin typeface="D2Coding" panose="020B0609020101020101" pitchFamily="49" charset="-127"/>
                    <a:ea typeface="D2Coding" panose="020B0609020101020101" pitchFamily="49" charset="-127"/>
                    <a:cs typeface="Segoe UI Light" panose="020B0502040204020203" pitchFamily="34" charset="0"/>
                  </a:rPr>
                  <a:t> </a:t>
                </a:r>
                <a:r>
                  <a:rPr lang="ko-KR" altLang="en-US" sz="2800" cap="none" dirty="0">
                    <a:solidFill>
                      <a:schemeClr val="bg2">
                        <a:lumMod val="25000"/>
                      </a:schemeClr>
                    </a:solidFill>
                    <a:latin typeface="D2Coding" panose="020B0609020101020101" pitchFamily="49" charset="-127"/>
                    <a:ea typeface="D2Coding" panose="020B0609020101020101" pitchFamily="49" charset="-127"/>
                    <a:cs typeface="Segoe UI Light" panose="020B0502040204020203" pitchFamily="34" charset="0"/>
                  </a:rPr>
                  <a:t>않는 규칙</a:t>
                </a:r>
                <a:r>
                  <a:rPr lang="en-US" altLang="ko-KR" sz="2800" cap="none" dirty="0">
                    <a:solidFill>
                      <a:schemeClr val="bg2">
                        <a:lumMod val="25000"/>
                      </a:schemeClr>
                    </a:solidFill>
                    <a:latin typeface="D2Coding" panose="020B0609020101020101" pitchFamily="49" charset="-127"/>
                    <a:ea typeface="D2Coding" panose="020B0609020101020101" pitchFamily="49" charset="-127"/>
                    <a:cs typeface="Segoe UI Light" panose="020B0502040204020203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800" i="1" cap="none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Segoe UI Light" panose="020B0502040204020203" pitchFamily="34" charset="0"/>
                          </a:rPr>
                        </m:ctrlPr>
                      </m:sSubPr>
                      <m:e>
                        <m:r>
                          <a:rPr lang="en-US" altLang="ko-KR" sz="2800" b="0" i="1" cap="none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Segoe UI Light" panose="020B0502040204020203" pitchFamily="34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800" b="0" i="1" cap="none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Segoe UI Light" panose="020B0502040204020203" pitchFamily="34" charset="0"/>
                          </a:rPr>
                          <m:t>data</m:t>
                        </m:r>
                      </m:sub>
                    </m:sSub>
                  </m:oMath>
                </a14:m>
                <a:r>
                  <a:rPr lang="en-US" altLang="ko-KR" sz="2800" cap="none" dirty="0">
                    <a:solidFill>
                      <a:schemeClr val="bg2">
                        <a:lumMod val="25000"/>
                      </a:schemeClr>
                    </a:solidFill>
                    <a:latin typeface="D2Coding" panose="020B0609020101020101" pitchFamily="49" charset="-127"/>
                    <a:ea typeface="D2Coding" panose="020B0609020101020101" pitchFamily="49" charset="-127"/>
                    <a:cs typeface="Segoe UI Light" panose="020B0502040204020203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" name="제목 1">
                <a:extLst>
                  <a:ext uri="{FF2B5EF4-FFF2-40B4-BE49-F238E27FC236}">
                    <a16:creationId xmlns:a16="http://schemas.microsoft.com/office/drawing/2014/main" id="{20EDC6C7-8D4D-138B-5B3B-EBAEBD681A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645" y="481983"/>
                <a:ext cx="10353762" cy="766439"/>
              </a:xfrm>
              <a:prstGeom prst="rect">
                <a:avLst/>
              </a:prstGeom>
              <a:blipFill>
                <a:blip r:embed="rId2"/>
                <a:stretch>
                  <a:fillRect l="-1178" b="-396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90566F08-F008-70AF-B96C-8D38F4AD837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C3D987D-7BAE-2A92-8C92-DCCC3398C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154" y="2186478"/>
            <a:ext cx="8012293" cy="42665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667B452-A606-E930-5197-73A1266C0F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9125" y="1231873"/>
                <a:ext cx="11010900" cy="7462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ko-KR" altLang="ko-KR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D2Coding" panose="020B0609020101020101" pitchFamily="49" charset="-127"/>
                    <a:ea typeface="D2Coding" panose="020B0609020101020101" pitchFamily="49" charset="-127"/>
                  </a:rPr>
                  <a:t>여러분 앞에 찍힌 검은 점 데이터가 있</a:t>
                </a:r>
                <a:r>
                  <a:rPr kumimoji="0" lang="ko-KR" alt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D2Coding" panose="020B0609020101020101" pitchFamily="49" charset="-127"/>
                    <a:ea typeface="D2Coding" panose="020B0609020101020101" pitchFamily="49" charset="-127"/>
                  </a:rPr>
                  <a:t>는데</a:t>
                </a:r>
                <a:r>
                  <a:rPr kumimoji="0" lang="en-US" altLang="ko-KR" sz="1600" b="0" i="0" u="none" strike="noStrike" cap="non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:r>
                  <a:rPr kumimoji="0" lang="ko-KR" altLang="ko-KR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D2Coding" panose="020B0609020101020101" pitchFamily="49" charset="-127"/>
                    <a:ea typeface="D2Coding" panose="020B0609020101020101" pitchFamily="49" charset="-127"/>
                  </a:rPr>
                  <a:t>우리는 점들의 좌표만 알 뿐, 이 점들이 </a:t>
                </a:r>
                <a:r>
                  <a:rPr kumimoji="0" lang="ko-KR" alt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D2Coding" panose="020B0609020101020101" pitchFamily="49" charset="-127"/>
                    <a:ea typeface="D2Coding" panose="020B0609020101020101" pitchFamily="49" charset="-127"/>
                  </a:rPr>
                  <a:t>어떤 숨겨진</a:t>
                </a:r>
                <a:r>
                  <a:rPr kumimoji="0" lang="en-US" altLang="ko-KR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D2Coding" panose="020B0609020101020101" pitchFamily="49" charset="-127"/>
                    <a:ea typeface="D2Coding" panose="020B0609020101020101" pitchFamily="49" charset="-127"/>
                  </a:rPr>
                  <a:t>(latent)</a:t>
                </a:r>
                <a:r>
                  <a:rPr kumimoji="0" lang="ko-KR" alt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D2Coding" panose="020B0609020101020101" pitchFamily="49" charset="-127"/>
                    <a:ea typeface="D2Coding" panose="020B0609020101020101" pitchFamily="49" charset="-127"/>
                  </a:rPr>
                  <a:t> 진짜 규칙</a:t>
                </a:r>
                <a:r>
                  <a:rPr lang="en-US" altLang="ko-KR" sz="1600" dirty="0">
                    <a:solidFill>
                      <a:schemeClr val="bg2">
                        <a:lumMod val="25000"/>
                      </a:schemeClr>
                    </a:solidFill>
                    <a:latin typeface="D2Coding" panose="020B0609020101020101" pitchFamily="49" charset="-127"/>
                    <a:ea typeface="D2Coding" panose="020B0609020101020101" pitchFamily="49" charset="-127"/>
                    <a:cs typeface="Segoe UI Light" panose="020B0502040204020203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Segoe UI Light" panose="020B0502040204020203" pitchFamily="34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Segoe UI Light" panose="020B0502040204020203" pitchFamily="34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i="1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Segoe UI Light" panose="020B0502040204020203" pitchFamily="34" charset="0"/>
                          </a:rPr>
                          <m:t>data</m:t>
                        </m:r>
                      </m:sub>
                    </m:sSub>
                  </m:oMath>
                </a14:m>
                <a:r>
                  <a:rPr lang="en-US" altLang="ko-KR" sz="1600" dirty="0">
                    <a:solidFill>
                      <a:schemeClr val="bg2">
                        <a:lumMod val="25000"/>
                      </a:schemeClr>
                    </a:solidFill>
                    <a:latin typeface="D2Coding" panose="020B0609020101020101" pitchFamily="49" charset="-127"/>
                    <a:ea typeface="D2Coding" panose="020B0609020101020101" pitchFamily="49" charset="-127"/>
                    <a:cs typeface="Segoe UI Light" panose="020B0502040204020203" pitchFamily="34" charset="0"/>
                  </a:rPr>
                  <a:t>)</a:t>
                </a:r>
                <a:r>
                  <a:rPr kumimoji="0" lang="ko-KR" altLang="ko-KR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D2Coding" panose="020B0609020101020101" pitchFamily="49" charset="-127"/>
                    <a:ea typeface="D2Coding" panose="020B0609020101020101" pitchFamily="49" charset="-127"/>
                  </a:rPr>
                  <a:t>은</a:t>
                </a:r>
                <a:r>
                  <a:rPr kumimoji="0" lang="en-US" altLang="ko-KR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:r>
                  <a:rPr kumimoji="0" lang="ko-KR" altLang="ko-KR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D2Coding" panose="020B0609020101020101" pitchFamily="49" charset="-127"/>
                    <a:ea typeface="D2Coding" panose="020B0609020101020101" pitchFamily="49" charset="-127"/>
                  </a:rPr>
                  <a:t>모</a:t>
                </a:r>
                <a:r>
                  <a:rPr kumimoji="0" lang="ko-KR" alt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D2Coding" panose="020B0609020101020101" pitchFamily="49" charset="-127"/>
                    <a:ea typeface="D2Coding" panose="020B0609020101020101" pitchFamily="49" charset="-127"/>
                  </a:rPr>
                  <a:t>른다</a:t>
                </a:r>
                <a:r>
                  <a:rPr kumimoji="0" lang="ko-KR" altLang="ko-KR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D2Coding" panose="020B0609020101020101" pitchFamily="49" charset="-127"/>
                    <a:ea typeface="D2Coding" panose="020B0609020101020101" pitchFamily="49" charset="-127"/>
                  </a:rPr>
                  <a:t>. </a:t>
                </a:r>
                <a:r>
                  <a:rPr kumimoji="0" lang="ko-KR" alt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D2Coding" panose="020B0609020101020101" pitchFamily="49" charset="-127"/>
                    <a:ea typeface="D2Coding" panose="020B0609020101020101" pitchFamily="49" charset="-127"/>
                  </a:rPr>
                  <a:t>여러분</a:t>
                </a:r>
                <a:r>
                  <a:rPr kumimoji="0" lang="en-US" altLang="ko-KR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D2Coding" panose="020B0609020101020101" pitchFamily="49" charset="-127"/>
                    <a:ea typeface="D2Coding" panose="020B0609020101020101" pitchFamily="49" charset="-127"/>
                  </a:rPr>
                  <a:t>(</a:t>
                </a:r>
                <a:r>
                  <a:rPr kumimoji="0" lang="ko-KR" altLang="ko-KR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D2Coding" panose="020B0609020101020101" pitchFamily="49" charset="-127"/>
                    <a:ea typeface="D2Coding" panose="020B0609020101020101" pitchFamily="49" charset="-127"/>
                  </a:rPr>
                  <a:t>AI</a:t>
                </a:r>
                <a:r>
                  <a:rPr kumimoji="0" lang="en-US" altLang="ko-KR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D2Coding" panose="020B0609020101020101" pitchFamily="49" charset="-127"/>
                    <a:ea typeface="D2Coding" panose="020B0609020101020101" pitchFamily="49" charset="-127"/>
                  </a:rPr>
                  <a:t>)</a:t>
                </a:r>
                <a:r>
                  <a:rPr kumimoji="0" lang="ko-KR" altLang="ko-KR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D2Coding" panose="020B0609020101020101" pitchFamily="49" charset="-127"/>
                    <a:ea typeface="D2Coding" panose="020B0609020101020101" pitchFamily="49" charset="-127"/>
                  </a:rPr>
                  <a:t>의 미션은 이 데이터 뒤에 숨은 규칙을 스스로 추론해 내는 것 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667B452-A606-E930-5197-73A1266C0F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9125" y="1231873"/>
                <a:ext cx="11010900" cy="746295"/>
              </a:xfrm>
              <a:prstGeom prst="rect">
                <a:avLst/>
              </a:prstGeom>
              <a:blipFill>
                <a:blip r:embed="rId4"/>
                <a:stretch>
                  <a:fillRect l="-1163" b="-894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28583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34A98-F450-84B5-2263-2D734AC34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제목 1">
                <a:extLst>
                  <a:ext uri="{FF2B5EF4-FFF2-40B4-BE49-F238E27FC236}">
                    <a16:creationId xmlns:a16="http://schemas.microsoft.com/office/drawing/2014/main" id="{DDAB23A6-99AE-59CB-5FA7-861F865AAD3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5645" y="481983"/>
                <a:ext cx="10353762" cy="76643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ctr" defTabSz="914400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200" kern="1200" cap="all" baseline="0"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  <a:cs typeface="+mj-cs"/>
                  </a:defRPr>
                </a:lvl1pPr>
              </a:lstStyle>
              <a:p>
                <a:pPr algn="l"/>
                <a:r>
                  <a:rPr lang="en-US" altLang="ko-KR" sz="2800" cap="none" dirty="0">
                    <a:solidFill>
                      <a:schemeClr val="bg2">
                        <a:lumMod val="25000"/>
                      </a:schemeClr>
                    </a:solidFill>
                    <a:latin typeface="D2Coding" panose="020B0609020101020101" pitchFamily="49" charset="-127"/>
                    <a:ea typeface="D2Coding" panose="020B0609020101020101" pitchFamily="49" charset="-127"/>
                    <a:cs typeface="Segoe UI Light" panose="020B0502040204020203" pitchFamily="34" charset="0"/>
                  </a:rPr>
                  <a:t>2. </a:t>
                </a:r>
                <a:r>
                  <a:rPr lang="ko-KR" altLang="en-US" sz="2800" cap="none" dirty="0">
                    <a:solidFill>
                      <a:schemeClr val="bg2">
                        <a:lumMod val="25000"/>
                      </a:schemeClr>
                    </a:solidFill>
                    <a:latin typeface="D2Coding" panose="020B0609020101020101" pitchFamily="49" charset="-127"/>
                    <a:ea typeface="D2Coding" panose="020B0609020101020101" pitchFamily="49" charset="-127"/>
                    <a:cs typeface="Segoe UI Light" panose="020B0502040204020203" pitchFamily="34" charset="0"/>
                  </a:rPr>
                  <a:t>보이지</a:t>
                </a:r>
                <a:r>
                  <a:rPr lang="en-US" altLang="ko-KR" sz="2800" cap="none" dirty="0">
                    <a:solidFill>
                      <a:schemeClr val="bg2">
                        <a:lumMod val="25000"/>
                      </a:schemeClr>
                    </a:solidFill>
                    <a:latin typeface="D2Coding" panose="020B0609020101020101" pitchFamily="49" charset="-127"/>
                    <a:ea typeface="D2Coding" panose="020B0609020101020101" pitchFamily="49" charset="-127"/>
                    <a:cs typeface="Segoe UI Light" panose="020B0502040204020203" pitchFamily="34" charset="0"/>
                  </a:rPr>
                  <a:t> </a:t>
                </a:r>
                <a:r>
                  <a:rPr lang="ko-KR" altLang="en-US" sz="2800" cap="none" dirty="0">
                    <a:solidFill>
                      <a:schemeClr val="bg2">
                        <a:lumMod val="25000"/>
                      </a:schemeClr>
                    </a:solidFill>
                    <a:latin typeface="D2Coding" panose="020B0609020101020101" pitchFamily="49" charset="-127"/>
                    <a:ea typeface="D2Coding" panose="020B0609020101020101" pitchFamily="49" charset="-127"/>
                    <a:cs typeface="Segoe UI Light" panose="020B0502040204020203" pitchFamily="34" charset="0"/>
                  </a:rPr>
                  <a:t>않는 규칙</a:t>
                </a:r>
                <a:r>
                  <a:rPr lang="en-US" altLang="ko-KR" sz="2800" cap="none" dirty="0">
                    <a:solidFill>
                      <a:schemeClr val="bg2">
                        <a:lumMod val="25000"/>
                      </a:schemeClr>
                    </a:solidFill>
                    <a:latin typeface="D2Coding" panose="020B0609020101020101" pitchFamily="49" charset="-127"/>
                    <a:ea typeface="D2Coding" panose="020B0609020101020101" pitchFamily="49" charset="-127"/>
                    <a:cs typeface="Segoe UI Light" panose="020B0502040204020203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800" i="1" cap="none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Segoe UI Light" panose="020B0502040204020203" pitchFamily="34" charset="0"/>
                          </a:rPr>
                        </m:ctrlPr>
                      </m:sSubPr>
                      <m:e>
                        <m:r>
                          <a:rPr lang="en-US" altLang="ko-KR" sz="2800" b="0" i="1" cap="none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Segoe UI Light" panose="020B0502040204020203" pitchFamily="34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800" b="0" i="1" cap="none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Segoe UI Light" panose="020B0502040204020203" pitchFamily="34" charset="0"/>
                          </a:rPr>
                          <m:t>data</m:t>
                        </m:r>
                      </m:sub>
                    </m:sSub>
                  </m:oMath>
                </a14:m>
                <a:r>
                  <a:rPr lang="en-US" altLang="ko-KR" sz="2800" cap="none" dirty="0">
                    <a:solidFill>
                      <a:schemeClr val="bg2">
                        <a:lumMod val="25000"/>
                      </a:schemeClr>
                    </a:solidFill>
                    <a:latin typeface="D2Coding" panose="020B0609020101020101" pitchFamily="49" charset="-127"/>
                    <a:ea typeface="D2Coding" panose="020B0609020101020101" pitchFamily="49" charset="-127"/>
                    <a:cs typeface="Segoe UI Light" panose="020B0502040204020203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" name="제목 1">
                <a:extLst>
                  <a:ext uri="{FF2B5EF4-FFF2-40B4-BE49-F238E27FC236}">
                    <a16:creationId xmlns:a16="http://schemas.microsoft.com/office/drawing/2014/main" id="{DDAB23A6-99AE-59CB-5FA7-861F865AA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645" y="481983"/>
                <a:ext cx="10353762" cy="766439"/>
              </a:xfrm>
              <a:prstGeom prst="rect">
                <a:avLst/>
              </a:prstGeom>
              <a:blipFill>
                <a:blip r:embed="rId2"/>
                <a:stretch>
                  <a:fillRect l="-1178" b="-396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097D8826-376D-F69C-DDA7-1E68D701D3F7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D516AAB-F3D7-4411-34CC-AB39EF8F9D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9125" y="1235564"/>
                <a:ext cx="11010900" cy="376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ko-KR" alt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D2Coding" panose="020B0609020101020101" pitchFamily="49" charset="-127"/>
                    <a:ea typeface="D2Coding" panose="020B0609020101020101" pitchFamily="49" charset="-127"/>
                  </a:rPr>
                  <a:t>어떤 숨겨진</a:t>
                </a:r>
                <a:r>
                  <a:rPr kumimoji="0" lang="en-US" altLang="ko-KR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D2Coding" panose="020B0609020101020101" pitchFamily="49" charset="-127"/>
                    <a:ea typeface="D2Coding" panose="020B0609020101020101" pitchFamily="49" charset="-127"/>
                  </a:rPr>
                  <a:t>(latent)</a:t>
                </a:r>
                <a:r>
                  <a:rPr kumimoji="0" lang="ko-KR" alt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D2Coding" panose="020B0609020101020101" pitchFamily="49" charset="-127"/>
                    <a:ea typeface="D2Coding" panose="020B0609020101020101" pitchFamily="49" charset="-127"/>
                  </a:rPr>
                  <a:t> 진짜 규칙</a:t>
                </a:r>
                <a:r>
                  <a:rPr lang="en-US" altLang="ko-KR" sz="1600" dirty="0">
                    <a:solidFill>
                      <a:schemeClr val="bg2">
                        <a:lumMod val="25000"/>
                      </a:schemeClr>
                    </a:solidFill>
                    <a:latin typeface="D2Coding" panose="020B0609020101020101" pitchFamily="49" charset="-127"/>
                    <a:ea typeface="D2Coding" panose="020B0609020101020101" pitchFamily="49" charset="-127"/>
                    <a:cs typeface="Segoe UI Light" panose="020B0502040204020203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Segoe UI Light" panose="020B0502040204020203" pitchFamily="34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Segoe UI Light" panose="020B0502040204020203" pitchFamily="34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i="1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Segoe UI Light" panose="020B0502040204020203" pitchFamily="34" charset="0"/>
                          </a:rPr>
                          <m:t>data</m:t>
                        </m:r>
                      </m:sub>
                    </m:sSub>
                  </m:oMath>
                </a14:m>
                <a:r>
                  <a:rPr lang="en-US" altLang="ko-KR" sz="1600" dirty="0">
                    <a:solidFill>
                      <a:schemeClr val="bg2">
                        <a:lumMod val="25000"/>
                      </a:schemeClr>
                    </a:solidFill>
                    <a:latin typeface="D2Coding" panose="020B0609020101020101" pitchFamily="49" charset="-127"/>
                    <a:ea typeface="D2Coding" panose="020B0609020101020101" pitchFamily="49" charset="-127"/>
                    <a:cs typeface="Segoe UI Light" panose="020B0502040204020203" pitchFamily="34" charset="0"/>
                  </a:rPr>
                  <a:t>)</a:t>
                </a:r>
                <a:r>
                  <a:rPr kumimoji="0" lang="ko-KR" altLang="ko-KR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D2Coding" panose="020B0609020101020101" pitchFamily="49" charset="-127"/>
                    <a:ea typeface="D2Coding" panose="020B0609020101020101" pitchFamily="49" charset="-127"/>
                  </a:rPr>
                  <a:t>은</a:t>
                </a:r>
                <a:r>
                  <a:rPr kumimoji="0" lang="en-US" altLang="ko-KR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:r>
                  <a:rPr kumimoji="0" lang="ko-KR" alt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D2Coding" panose="020B0609020101020101" pitchFamily="49" charset="-127"/>
                    <a:ea typeface="D2Coding" panose="020B0609020101020101" pitchFamily="49" charset="-127"/>
                  </a:rPr>
                  <a:t>세계지도의 육지위에 찍히는 모든 점</a:t>
                </a:r>
                <a:endParaRPr kumimoji="0" lang="ko-KR" altLang="ko-KR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D516AAB-F3D7-4411-34CC-AB39EF8F9D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9125" y="1235564"/>
                <a:ext cx="11010900" cy="376963"/>
              </a:xfrm>
              <a:prstGeom prst="rect">
                <a:avLst/>
              </a:prstGeom>
              <a:blipFill>
                <a:blip r:embed="rId3"/>
                <a:stretch>
                  <a:fillRect l="-1163" b="-1774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, AI로 생성">
            <a:extLst>
              <a:ext uri="{FF2B5EF4-FFF2-40B4-BE49-F238E27FC236}">
                <a16:creationId xmlns:a16="http://schemas.microsoft.com/office/drawing/2014/main" id="{1D99E959-1A54-7AF7-5530-851A3A6D41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9A5FE5E-3788-65EE-02B9-A69C3D5D60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6875" y="1819441"/>
            <a:ext cx="8553450" cy="4624151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2D0ED608-81B9-E390-0ED2-9B637BBD44C6}"/>
              </a:ext>
            </a:extLst>
          </p:cNvPr>
          <p:cNvGrpSpPr/>
          <p:nvPr/>
        </p:nvGrpSpPr>
        <p:grpSpPr>
          <a:xfrm>
            <a:off x="1666875" y="1819441"/>
            <a:ext cx="8553450" cy="4624151"/>
            <a:chOff x="1666875" y="1819441"/>
            <a:chExt cx="8553450" cy="4624151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FD09BE0A-FF8A-66DB-44EB-DDD39A006D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66875" y="1819441"/>
              <a:ext cx="8553450" cy="462415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CF60D1B-8ECD-6257-B240-48B83657E80F}"/>
                    </a:ext>
                  </a:extLst>
                </p:cNvPr>
                <p:cNvSpPr txBox="1"/>
                <p:nvPr/>
              </p:nvSpPr>
              <p:spPr>
                <a:xfrm>
                  <a:off x="1692768" y="2815101"/>
                  <a:ext cx="140831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sz="2400" b="1" dirty="0">
                      <a:solidFill>
                        <a:schemeClr val="bg2">
                          <a:lumMod val="25000"/>
                        </a:schemeClr>
                      </a:solidFill>
                      <a:latin typeface="D2Coding" panose="020B0609020101020101" pitchFamily="49" charset="-127"/>
                      <a:ea typeface="D2Coding" panose="020B0609020101020101" pitchFamily="49" charset="-127"/>
                      <a:cs typeface="Segoe UI Light" panose="020B0502040204020203" pitchFamily="34" charset="0"/>
                    </a:rPr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1" i="1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D2Coding" panose="020B0609020101020101" pitchFamily="49" charset="-127"/>
                              <a:cs typeface="Segoe UI Light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altLang="ko-KR" sz="2400" b="1" i="1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D2Coding" panose="020B0609020101020101" pitchFamily="49" charset="-127"/>
                              <a:cs typeface="Segoe UI Light" panose="020B0502040204020203" pitchFamily="34" charset="0"/>
                            </a:rPr>
                            <m:t>𝑷</m:t>
                          </m:r>
                        </m:e>
                        <m:sub>
                          <m:r>
                            <a:rPr lang="en-US" altLang="ko-KR" sz="2400" b="1" i="1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D2Coding" panose="020B0609020101020101" pitchFamily="49" charset="-127"/>
                              <a:cs typeface="Segoe UI Light" panose="020B0502040204020203" pitchFamily="34" charset="0"/>
                            </a:rPr>
                            <m:t>𝒅𝒂𝒕𝒂</m:t>
                          </m:r>
                        </m:sub>
                      </m:sSub>
                    </m:oMath>
                  </a14:m>
                  <a:r>
                    <a:rPr lang="en-US" altLang="ko-KR" sz="2400" b="1" dirty="0">
                      <a:solidFill>
                        <a:schemeClr val="bg2">
                          <a:lumMod val="25000"/>
                        </a:schemeClr>
                      </a:solidFill>
                      <a:latin typeface="D2Coding" panose="020B0609020101020101" pitchFamily="49" charset="-127"/>
                      <a:ea typeface="D2Coding" panose="020B0609020101020101" pitchFamily="49" charset="-127"/>
                      <a:cs typeface="Segoe UI Light" panose="020B0502040204020203" pitchFamily="34" charset="0"/>
                    </a:rPr>
                    <a:t>)</a:t>
                  </a:r>
                  <a:endParaRPr lang="ko-KR" altLang="en-US" sz="2400" b="1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CF60D1B-8ECD-6257-B240-48B83657E8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92768" y="2815101"/>
                  <a:ext cx="1408313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6926" t="-10526" b="-2894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26426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43FF2-F950-EB7F-770A-8DE24CA1C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342A5EB4-4A30-3F01-FFE4-E3C9ED2C4B4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6B300B8-8710-E424-E066-2EB909893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218" y="2122179"/>
            <a:ext cx="8195014" cy="43852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제목 1">
                <a:extLst>
                  <a:ext uri="{FF2B5EF4-FFF2-40B4-BE49-F238E27FC236}">
                    <a16:creationId xmlns:a16="http://schemas.microsoft.com/office/drawing/2014/main" id="{ADACC5DA-7EE7-2062-BC52-1F467833DD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5645" y="481983"/>
                <a:ext cx="10353762" cy="76643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ctr" defTabSz="914400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200" kern="1200" cap="all" baseline="0"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  <a:cs typeface="+mj-cs"/>
                  </a:defRPr>
                </a:lvl1pPr>
              </a:lstStyle>
              <a:p>
                <a:pPr algn="l"/>
                <a:r>
                  <a:rPr lang="en-US" altLang="ko-KR" sz="2800" cap="none" dirty="0">
                    <a:solidFill>
                      <a:schemeClr val="bg2">
                        <a:lumMod val="25000"/>
                      </a:schemeClr>
                    </a:solidFill>
                    <a:latin typeface="D2Coding" panose="020B0609020101020101" pitchFamily="49" charset="-127"/>
                    <a:ea typeface="D2Coding" panose="020B0609020101020101" pitchFamily="49" charset="-127"/>
                    <a:cs typeface="Segoe UI Light" panose="020B0502040204020203" pitchFamily="34" charset="0"/>
                  </a:rPr>
                  <a:t>3. </a:t>
                </a:r>
                <a:r>
                  <a:rPr lang="ko-KR" altLang="en-US" sz="2800" cap="none" dirty="0">
                    <a:solidFill>
                      <a:schemeClr val="bg2">
                        <a:lumMod val="25000"/>
                      </a:schemeClr>
                    </a:solidFill>
                    <a:latin typeface="D2Coding" panose="020B0609020101020101" pitchFamily="49" charset="-127"/>
                    <a:ea typeface="D2Coding" panose="020B0609020101020101" pitchFamily="49" charset="-127"/>
                    <a:cs typeface="Segoe UI Light" panose="020B0502040204020203" pitchFamily="34" charset="0"/>
                  </a:rPr>
                  <a:t>모델의</a:t>
                </a:r>
                <a:r>
                  <a:rPr lang="en-US" altLang="ko-KR" sz="2800" cap="none" dirty="0">
                    <a:solidFill>
                      <a:schemeClr val="bg2">
                        <a:lumMod val="25000"/>
                      </a:schemeClr>
                    </a:solidFill>
                    <a:latin typeface="D2Coding" panose="020B0609020101020101" pitchFamily="49" charset="-127"/>
                    <a:ea typeface="D2Coding" panose="020B0609020101020101" pitchFamily="49" charset="-127"/>
                    <a:cs typeface="Segoe UI Light" panose="020B0502040204020203" pitchFamily="34" charset="0"/>
                  </a:rPr>
                  <a:t> </a:t>
                </a:r>
                <a:r>
                  <a:rPr lang="ko-KR" altLang="en-US" sz="2800" cap="none" dirty="0">
                    <a:solidFill>
                      <a:schemeClr val="bg2">
                        <a:lumMod val="25000"/>
                      </a:schemeClr>
                    </a:solidFill>
                    <a:latin typeface="D2Coding" panose="020B0609020101020101" pitchFamily="49" charset="-127"/>
                    <a:ea typeface="D2Coding" panose="020B0609020101020101" pitchFamily="49" charset="-127"/>
                    <a:cs typeface="Segoe UI Light" panose="020B0502040204020203" pitchFamily="34" charset="0"/>
                  </a:rPr>
                  <a:t>추상적 예측</a:t>
                </a:r>
                <a:r>
                  <a:rPr lang="en-US" altLang="ko-KR" sz="2800" cap="none" dirty="0">
                    <a:solidFill>
                      <a:schemeClr val="bg2">
                        <a:lumMod val="25000"/>
                      </a:schemeClr>
                    </a:solidFill>
                    <a:latin typeface="D2Coding" panose="020B0609020101020101" pitchFamily="49" charset="-127"/>
                    <a:ea typeface="D2Coding" panose="020B0609020101020101" pitchFamily="49" charset="-127"/>
                    <a:cs typeface="Segoe UI Light" panose="020B0502040204020203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800" i="1" cap="none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Segoe UI Light" panose="020B0502040204020203" pitchFamily="34" charset="0"/>
                          </a:rPr>
                        </m:ctrlPr>
                      </m:sSubPr>
                      <m:e>
                        <m:r>
                          <a:rPr lang="en-US" altLang="ko-KR" sz="2800" b="0" i="1" cap="none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Segoe UI Light" panose="020B0502040204020203" pitchFamily="34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800" i="1" cap="none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Segoe UI Light" panose="020B0502040204020203" pitchFamily="34" charset="0"/>
                          </a:rPr>
                          <m:t>mode</m:t>
                        </m:r>
                        <m:r>
                          <m:rPr>
                            <m:sty m:val="p"/>
                          </m:rPr>
                          <a:rPr lang="en-US" altLang="ko-KR" sz="2800" b="0" i="1" cap="none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Segoe UI Light" panose="020B0502040204020203" pitchFamily="34" charset="0"/>
                          </a:rPr>
                          <m:t>l</m:t>
                        </m:r>
                      </m:sub>
                    </m:sSub>
                  </m:oMath>
                </a14:m>
                <a:r>
                  <a:rPr lang="en-US" altLang="ko-KR" sz="2800" cap="none" dirty="0">
                    <a:solidFill>
                      <a:schemeClr val="bg2">
                        <a:lumMod val="25000"/>
                      </a:schemeClr>
                    </a:solidFill>
                    <a:latin typeface="D2Coding" panose="020B0609020101020101" pitchFamily="49" charset="-127"/>
                    <a:ea typeface="D2Coding" panose="020B0609020101020101" pitchFamily="49" charset="-127"/>
                    <a:cs typeface="Segoe UI Light" panose="020B0502040204020203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4" name="제목 1">
                <a:extLst>
                  <a:ext uri="{FF2B5EF4-FFF2-40B4-BE49-F238E27FC236}">
                    <a16:creationId xmlns:a16="http://schemas.microsoft.com/office/drawing/2014/main" id="{ADACC5DA-7EE7-2062-BC52-1F467833D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645" y="481983"/>
                <a:ext cx="10353762" cy="766439"/>
              </a:xfrm>
              <a:prstGeom prst="rect">
                <a:avLst/>
              </a:prstGeom>
              <a:blipFill>
                <a:blip r:embed="rId3"/>
                <a:stretch>
                  <a:fillRect l="-1178" b="-396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AD9C0018-17E5-FC3B-E52B-49F75AA3C2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7700" y="1242235"/>
                <a:ext cx="11010900" cy="7469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AI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는 데이터 주변을 둘러싸는 영역</a:t>
                </a:r>
                <a:r>
                  <a:rPr lang="en-US" altLang="ko-KR" sz="1600" dirty="0">
                    <a:solidFill>
                      <a:schemeClr val="bg2">
                        <a:lumMod val="25000"/>
                      </a:schemeClr>
                    </a:solidFill>
                    <a:latin typeface="D2Coding" panose="020B0609020101020101" pitchFamily="49" charset="-127"/>
                    <a:ea typeface="D2Coding" panose="020B0609020101020101" pitchFamily="49" charset="-127"/>
                    <a:cs typeface="Segoe UI Light" panose="020B0502040204020203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Segoe UI Light" panose="020B0502040204020203" pitchFamily="34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Segoe UI Light" panose="020B0502040204020203" pitchFamily="34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i="1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Segoe UI Light" panose="020B0502040204020203" pitchFamily="34" charset="0"/>
                          </a:rPr>
                          <m:t>model</m:t>
                        </m:r>
                      </m:sub>
                    </m:sSub>
                  </m:oMath>
                </a14:m>
                <a:r>
                  <a:rPr lang="en-US" altLang="ko-KR" sz="1600" dirty="0">
                    <a:solidFill>
                      <a:schemeClr val="bg2">
                        <a:lumMod val="25000"/>
                      </a:schemeClr>
                    </a:solidFill>
                    <a:latin typeface="D2Coding" panose="020B0609020101020101" pitchFamily="49" charset="-127"/>
                    <a:ea typeface="D2Coding" panose="020B0609020101020101" pitchFamily="49" charset="-127"/>
                    <a:cs typeface="Segoe UI Light" panose="020B0502040204020203" pitchFamily="34" charset="0"/>
                  </a:rPr>
                  <a:t>)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을 그려보며 규칙을 예측하지만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처음에 만든 넓은 주황색 상자는 점들을 대충 감싸고 있지만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, 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여전히 정밀하지 못함</a:t>
                </a:r>
                <a:endParaRPr kumimoji="0" lang="ko-KR" altLang="ko-KR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</p:txBody>
          </p:sp>
        </mc:Choice>
        <mc:Fallback xmlns=""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AD9C0018-17E5-FC3B-E52B-49F75AA3C2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7700" y="1242235"/>
                <a:ext cx="11010900" cy="746999"/>
              </a:xfrm>
              <a:prstGeom prst="rect">
                <a:avLst/>
              </a:prstGeom>
              <a:blipFill>
                <a:blip r:embed="rId4"/>
                <a:stretch>
                  <a:fillRect l="-1107" b="-983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66773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CEFEF-FD23-9E99-FBEF-A5943635F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C8502B0B-42D9-1B7F-872B-9FB40FF23A51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79FB090-D4D5-0420-69C3-730EDBF4C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146" y="2186756"/>
            <a:ext cx="7800261" cy="43702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1D15716-87E1-4520-9610-5146025C1CE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4. 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생성 모델의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2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가지 조건</a:t>
            </a:r>
            <a:endParaRPr lang="en-US" altLang="ko-KR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B045830-70D9-3DE5-B708-5934C60786FD}"/>
                  </a:ext>
                </a:extLst>
              </p:cNvPr>
              <p:cNvSpPr txBox="1"/>
              <p:nvPr/>
            </p:nvSpPr>
            <p:spPr>
              <a:xfrm>
                <a:off x="561975" y="1191044"/>
                <a:ext cx="11068050" cy="8808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dirty="0" err="1">
                    <a:latin typeface="D2Coding" panose="020B0609020101020101" pitchFamily="49" charset="-127"/>
                    <a:ea typeface="D2Coding" panose="020B0609020101020101" pitchFamily="49" charset="-127"/>
                  </a:rPr>
                  <a:t>Rule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1. 진짜 같은가? 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: 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실제 규칙</a:t>
                </a:r>
                <a:r>
                  <a:rPr lang="en-US" altLang="ko-KR" dirty="0">
                    <a:solidFill>
                      <a:schemeClr val="bg2">
                        <a:lumMod val="25000"/>
                      </a:schemeClr>
                    </a:solidFill>
                    <a:latin typeface="D2Coding" panose="020B0609020101020101" pitchFamily="49" charset="-127"/>
                    <a:ea typeface="D2Coding" panose="020B0609020101020101" pitchFamily="49" charset="-127"/>
                    <a:cs typeface="Segoe UI Light" panose="020B0502040204020203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Segoe UI Light" panose="020B0502040204020203" pitchFamily="34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Segoe UI Light" panose="020B0502040204020203" pitchFamily="34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Segoe UI Light" panose="020B0502040204020203" pitchFamily="34" charset="0"/>
                          </a:rPr>
                          <m:t>data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chemeClr val="bg2">
                        <a:lumMod val="25000"/>
                      </a:schemeClr>
                    </a:solidFill>
                    <a:latin typeface="D2Coding" panose="020B0609020101020101" pitchFamily="49" charset="-127"/>
                    <a:ea typeface="D2Coding" panose="020B0609020101020101" pitchFamily="49" charset="-127"/>
                    <a:cs typeface="Segoe UI Light" panose="020B0502040204020203" pitchFamily="34" charset="0"/>
                  </a:rPr>
                  <a:t>)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에 부합하는가?  </a:t>
                </a:r>
                <a:endParaRPr lang="en-US" altLang="ko-KR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dirty="0" err="1">
                    <a:latin typeface="D2Coding" panose="020B0609020101020101" pitchFamily="49" charset="-127"/>
                    <a:ea typeface="D2Coding" panose="020B0609020101020101" pitchFamily="49" charset="-127"/>
                  </a:rPr>
                  <a:t>Rule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2. 독창적인가? (기존 데이터 </a:t>
                </a:r>
                <a:r>
                  <a:rPr lang="ko-KR" altLang="en-US" dirty="0" err="1">
                    <a:latin typeface="D2Coding" panose="020B0609020101020101" pitchFamily="49" charset="-127"/>
                    <a:ea typeface="D2Coding" panose="020B0609020101020101" pitchFamily="49" charset="-127"/>
                  </a:rPr>
                  <a:t>X를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그대로 베끼지 않았는가?)  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B045830-70D9-3DE5-B708-5934C6078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75" y="1191044"/>
                <a:ext cx="11068050" cy="880819"/>
              </a:xfrm>
              <a:prstGeom prst="rect">
                <a:avLst/>
              </a:prstGeom>
              <a:blipFill>
                <a:blip r:embed="rId3"/>
                <a:stretch>
                  <a:fillRect l="-441" b="-96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83346868-CE22-2323-46D6-C5D22E901BF1}"/>
              </a:ext>
            </a:extLst>
          </p:cNvPr>
          <p:cNvSpPr/>
          <p:nvPr/>
        </p:nvSpPr>
        <p:spPr>
          <a:xfrm>
            <a:off x="2724150" y="4733925"/>
            <a:ext cx="8456611" cy="15049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83750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6B7B6-813C-004C-7712-E015A3AD9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71D51038-6219-0C22-05BF-FDCB0BD12C8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E7C2E5E-A066-5F0A-D4FE-49BE7F751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774" y="1957343"/>
            <a:ext cx="8172751" cy="44186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E7C8DC-CDBF-E19D-339C-D2A3128F7E3C}"/>
              </a:ext>
            </a:extLst>
          </p:cNvPr>
          <p:cNvSpPr txBox="1"/>
          <p:nvPr/>
        </p:nvSpPr>
        <p:spPr>
          <a:xfrm>
            <a:off x="7629007" y="1399980"/>
            <a:ext cx="4105794" cy="31085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점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(실패 - 엉뚱한 출력): 바다 한가운데 찍힌 점입니다.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Rule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1을 위반하여 전혀 '진짜 같지 않은' 엉터리 생성물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점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(실패 - 단순 표절): 기존 점에 딱 붙어 있는 점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AI가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학습 데이터를 그냥 복사해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붙여넣은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수준이라 독창성(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Rule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2)이 없음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점 C (성공 - 진정한 생성): 기존 데이터에는 없던 완전히 새로운 위치지만, 정확히 '육지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안＇에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존재하며 진짜 데이터의 규칙을 완벽히 이해하면서도 새로운 창작물을 만든 성공적인 결과</a:t>
            </a: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2BCBFD48-A37F-EADE-961E-0A6C2CD4B8E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5. 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점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A,B,C 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로 보는 생성 모델의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성패</a:t>
            </a:r>
            <a:endParaRPr lang="en-US" altLang="ko-KR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6389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52F85-5F20-82E3-4D17-96D564A3B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7DF150D-F5AD-72C1-1C0A-752B8FBF609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Probabilistic Generative Models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068B1118-9C5E-7706-24CC-DF94CB9E461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C9ABC4-2033-556B-2FDB-1FA9D9F35324}"/>
              </a:ext>
            </a:extLst>
          </p:cNvPr>
          <p:cNvSpPr txBox="1"/>
          <p:nvPr/>
        </p:nvSpPr>
        <p:spPr>
          <a:xfrm>
            <a:off x="571500" y="1396594"/>
            <a:ext cx="4238626" cy="4445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Sample Space :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무대 정하기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"AI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가 점을 찍을 수 있는 전체 무대를 수학에서는 표본 공간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(Sample Space)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위도와 경도로 이루어진 세계 지도의 모든 위치가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표본공간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“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Density Function :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확률 나누기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는 전체 확률의 합인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을 세계지도 위에 골고루 뿌리고 상자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(Box)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안쪽 영역에는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확률값을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똑같이 나누어 주고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상자 밖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바다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은 확률을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으로 만들어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점이 나올 수 없는 곳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으로 지정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A0F3A0C-ED2A-A5B9-DE3F-76CBEF68A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981" y="1353197"/>
            <a:ext cx="6759526" cy="19966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921851D-3BEE-681C-0F7A-D396C7723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5981" y="3697507"/>
            <a:ext cx="6759526" cy="22633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868892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B8465-EAEC-ED66-DE78-54E8A7EE5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4992030-1A8D-8724-5EA9-E846F02339F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Probabilistic Generative Models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157A974F-6DA9-4663-62B3-7E7AC63F011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B70CAED-77A1-D1A4-3AE2-676DD0780086}"/>
                  </a:ext>
                </a:extLst>
              </p:cNvPr>
              <p:cNvSpPr txBox="1"/>
              <p:nvPr/>
            </p:nvSpPr>
            <p:spPr>
              <a:xfrm>
                <a:off x="590914" y="1408901"/>
                <a:ext cx="4238626" cy="47682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Parametric Modeling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AI</a:t>
                </a:r>
                <a:r>
                  <a:rPr lang="ko-KR" altLang="en-US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가 주황색 상자의 크기와 위치를 조정하기</a:t>
                </a:r>
                <a:r>
                  <a:rPr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:r>
                  <a:rPr lang="ko-KR" altLang="en-US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위해 상자의 왼쪽 아래 좌표 </a:t>
                </a:r>
                <a:r>
                  <a:rPr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ko-KR" sz="1400" i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ko-KR" sz="1400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)</a:t>
                </a:r>
                <a:r>
                  <a:rPr lang="ko-KR" altLang="en-US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와 오른쪽 위 좌표 </a:t>
                </a:r>
                <a:r>
                  <a:rPr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ko-KR" sz="1400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ko-KR" sz="1400" b="0" i="0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)</a:t>
                </a:r>
                <a:r>
                  <a:rPr lang="ko-KR" altLang="en-US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라는 </a:t>
                </a:r>
                <a:r>
                  <a:rPr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4</a:t>
                </a:r>
                <a:r>
                  <a:rPr lang="ko-KR" altLang="en-US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개의 수치</a:t>
                </a:r>
                <a:r>
                  <a:rPr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40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)</a:t>
                </a:r>
                <a:r>
                  <a:rPr lang="ko-KR" altLang="en-US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만 바꾸면 상자의 모양을 마음대로 움직이면서</a:t>
                </a:r>
                <a:r>
                  <a:rPr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:r>
                  <a:rPr lang="ko-KR" altLang="en-US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보이지</a:t>
                </a:r>
                <a:r>
                  <a:rPr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:r>
                  <a:rPr lang="ko-KR" altLang="en-US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않는 규칙을 찾기 위해 파라미터 모델링</a:t>
                </a:r>
                <a:endParaRPr lang="en-US" altLang="ko-KR" sz="1400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ko-KR" sz="1400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ko-KR" sz="1400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likelihood : 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점들의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만족도</a:t>
                </a:r>
                <a:endParaRPr lang="en-US" altLang="ko-KR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상자를 요리조리 옮겨볼 때</a:t>
                </a:r>
                <a:r>
                  <a:rPr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, </a:t>
                </a:r>
                <a:r>
                  <a:rPr lang="ko-KR" altLang="en-US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우리가 관찰한 실제 점들</a:t>
                </a:r>
                <a:r>
                  <a:rPr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(x)</a:t>
                </a:r>
                <a:r>
                  <a:rPr lang="ko-KR" altLang="en-US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이 현재 상자 위치에 얼마나 잘 들어맞는지 만족도를 점수로 매기는</a:t>
                </a:r>
                <a:r>
                  <a:rPr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:r>
                  <a:rPr lang="ko-KR" altLang="en-US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우도</a:t>
                </a:r>
                <a:r>
                  <a:rPr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(Likelihood)</a:t>
                </a:r>
                <a:endParaRPr lang="ko-KR" altLang="en-US" sz="1400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B70CAED-77A1-D1A4-3AE2-676DD07800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914" y="1408901"/>
                <a:ext cx="4238626" cy="4768293"/>
              </a:xfrm>
              <a:prstGeom prst="rect">
                <a:avLst/>
              </a:prstGeom>
              <a:blipFill>
                <a:blip r:embed="rId2"/>
                <a:stretch>
                  <a:fillRect l="-1007" r="-144" b="-38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그룹 9">
            <a:extLst>
              <a:ext uri="{FF2B5EF4-FFF2-40B4-BE49-F238E27FC236}">
                <a16:creationId xmlns:a16="http://schemas.microsoft.com/office/drawing/2014/main" id="{F2F009FC-5F2C-C9C8-4D23-8601820DB298}"/>
              </a:ext>
            </a:extLst>
          </p:cNvPr>
          <p:cNvGrpSpPr/>
          <p:nvPr/>
        </p:nvGrpSpPr>
        <p:grpSpPr>
          <a:xfrm>
            <a:off x="4809173" y="1554281"/>
            <a:ext cx="6791913" cy="2610712"/>
            <a:chOff x="4828587" y="1408901"/>
            <a:chExt cx="6791913" cy="2610712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300CFE03-79B8-BC25-D21B-C7F67585BB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30492" y="1408901"/>
              <a:ext cx="6790008" cy="188230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4E21A1DD-1C0E-36A1-08C3-8870F7A9F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28587" y="3295650"/>
              <a:ext cx="6782388" cy="723963"/>
            </a:xfrm>
            <a:prstGeom prst="rect">
              <a:avLst/>
            </a:prstGeom>
          </p:spPr>
        </p:pic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FD1AB228-1AC0-D935-269D-FE0A25E9EA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0126" y="4470852"/>
            <a:ext cx="6820491" cy="19051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525040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C3113-6D69-71EE-8077-0AF5DEB13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177714E-93AC-F55C-A7AE-CFDCDBBBFB1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Probabilistic Generative Models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586FEED8-4D99-C29D-1819-909BCDDF99F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FD2AD323-E0D2-2DB9-3BA3-5C9BB10B62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1700" y="2590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EEC5520-10B9-F598-DB75-806BA6BC2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004" y="1622090"/>
            <a:ext cx="6797629" cy="31397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8545EA0-966E-3041-EC02-65C33DAECBD4}"/>
              </a:ext>
            </a:extLst>
          </p:cNvPr>
          <p:cNvSpPr txBox="1"/>
          <p:nvPr/>
        </p:nvSpPr>
        <p:spPr>
          <a:xfrm>
            <a:off x="708558" y="5433758"/>
            <a:ext cx="10887075" cy="70564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prstDash val="dashDot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AI가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새로운 점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C를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성공적으로 찍어내는 비결은 수학적 핸들(파라미터)을 조절해 데이터 만족도(우도)가 극대화되는 최적의 영역을 찾아냈기 때문(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Maximum Likelihood Estimation,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FEE36E1-940D-F87B-B516-4EBD54EA0B60}"/>
                  </a:ext>
                </a:extLst>
              </p:cNvPr>
              <p:cNvSpPr txBox="1"/>
              <p:nvPr/>
            </p:nvSpPr>
            <p:spPr>
              <a:xfrm>
                <a:off x="586842" y="1622090"/>
                <a:ext cx="4125437" cy="28429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Maximum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Likelihood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Estimation : 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 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(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최고의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상자 찾기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)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상자를 AI 학습의 목적은 이 만족도 점수(우도)를 가장 높게 만드는 최적의 핸들 값(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sz="1400" i="1" dirty="0">
                            <a:latin typeface="Cambria Math" panose="02040503050406030204" pitchFamily="18" charset="0"/>
                            <a:ea typeface="D2Coding" panose="020B0609020101020101" pitchFamily="49" charset="-127"/>
                          </a:rPr>
                        </m:ctrlPr>
                      </m:accPr>
                      <m:e>
                        <m:r>
                          <a:rPr lang="ko-KR" altLang="en-US" sz="1400" dirty="0">
                            <a:latin typeface="Cambria Math" panose="02040503050406030204" pitchFamily="18" charset="0"/>
                            <a:ea typeface="D2Coding" panose="020B0609020101020101" pitchFamily="49" charset="-127"/>
                          </a:rPr>
                          <m:t>𝜃</m:t>
                        </m:r>
                      </m:e>
                    </m:acc>
                  </m:oMath>
                </a14:m>
                <a:r>
                  <a:rPr lang="ko-KR" altLang="en-US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)을 찾는 것으로 만족도가 최고가 되는 순간, 주황색 상자는 바다를 피하고 실제 육지(데이터)만을 완벽하게 감싸게 됨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FEE36E1-940D-F87B-B516-4EBD54EA0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42" y="1622090"/>
                <a:ext cx="4125437" cy="2842958"/>
              </a:xfrm>
              <a:prstGeom prst="rect">
                <a:avLst/>
              </a:prstGeom>
              <a:blipFill>
                <a:blip r:embed="rId3"/>
                <a:stretch>
                  <a:fillRect l="-886" r="-1329" b="-12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95739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84F52-3789-EEC2-F35F-2D16440A7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52B1B47-6798-59C1-02C0-78A40F43FE4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Hello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Wrodl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!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B95896C3-E642-4C49-D016-D0735075C16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C6971E7F-CB7B-410C-E673-99AE6B74C0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99FBBEA-C468-C545-FBF3-20D7ADEEB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7597" y="2157896"/>
            <a:ext cx="7512005" cy="412860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7BBBC7-A1B5-0ACE-049B-6B45422A6073}"/>
              </a:ext>
            </a:extLst>
          </p:cNvPr>
          <p:cNvSpPr txBox="1"/>
          <p:nvPr/>
        </p:nvSpPr>
        <p:spPr>
          <a:xfrm>
            <a:off x="630265" y="1205526"/>
            <a:ext cx="11028335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 = 50 observations of fashions described by five features, 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accessoriesType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clothingColor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clothingType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hairColor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topType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실습코드 및 데이터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63858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E1245-2CA8-C8C1-08E9-1DA8E4D86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96D78F1-F689-37FB-D080-C642F61B5DE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Hello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Wrodl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!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A63AB217-7415-BA7B-7CF1-1B01C9CE2E7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0B3C85D0-C718-D21D-EF2B-62DF300C4A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E8B1B2B-51EB-CE26-F5D4-DC263271E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327" y="1973730"/>
            <a:ext cx="5685013" cy="251481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8E99EC6-AB3B-6E72-6CF9-4587BFF6C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60" y="1973730"/>
            <a:ext cx="4955088" cy="23750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B4F9B61-F17B-61E8-2045-6BD039580431}"/>
              </a:ext>
            </a:extLst>
          </p:cNvPr>
          <p:cNvSpPr txBox="1"/>
          <p:nvPr/>
        </p:nvSpPr>
        <p:spPr>
          <a:xfrm>
            <a:off x="540660" y="4612423"/>
            <a:ext cx="5020103" cy="46166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7 × 6 × 3 × 4 × 8 = 4,032 different combinations of these features, so there are 4,032 points in the sample space.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34209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0F357-4D40-B17B-C7F6-5AE116A13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6210082-BD08-4AAA-0205-53303CDFE3F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Hello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Wrodl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!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81558EF7-C108-B7F8-E5A1-4EFD0A9B1D2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228582CC-EE93-34CF-7FB3-0DA07B228A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14D1D7E-AC3E-17B7-0A93-0C3B87C3A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973" y="1248422"/>
            <a:ext cx="5160816" cy="546028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4E81C5D-76C0-DDE2-A9A3-51EA12D2C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248422"/>
            <a:ext cx="5616427" cy="26062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75698A-F868-E4B1-B814-ED6DAF39CACE}"/>
              </a:ext>
            </a:extLst>
          </p:cNvPr>
          <p:cNvSpPr txBox="1"/>
          <p:nvPr/>
        </p:nvSpPr>
        <p:spPr>
          <a:xfrm>
            <a:off x="956701" y="6160573"/>
            <a:ext cx="4181475" cy="43088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each observation now has 32 × 32 = 1,024 features and each feature can take any of 256 values (256^1024)</a:t>
            </a:r>
            <a:endParaRPr lang="ko-KR" altLang="en-US" sz="11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2D2257-5915-78B3-970F-F6773368766B}"/>
              </a:ext>
            </a:extLst>
          </p:cNvPr>
          <p:cNvSpPr txBox="1"/>
          <p:nvPr/>
        </p:nvSpPr>
        <p:spPr>
          <a:xfrm>
            <a:off x="5943600" y="4621127"/>
            <a:ext cx="5616427" cy="135197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Naïve Bayes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의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단순한 독립성 가정만으로는 복잡한 데이터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이미지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구조를 올바르게 생성할 수 없으며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픽셀 간 복잡한 관계를 파악하는 고도화된 딥러닝 생성 모델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(VAE, GAN, Diffusion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등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 필요</a:t>
            </a:r>
          </a:p>
        </p:txBody>
      </p:sp>
    </p:spTree>
    <p:extLst>
      <p:ext uri="{BB962C8B-B14F-4D97-AF65-F5344CB8AC3E}">
        <p14:creationId xmlns:p14="http://schemas.microsoft.com/office/powerpoint/2010/main" val="14752946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F8B3A-9354-4708-3963-A89BD92EB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E4F9D3E-E201-7BFA-EBA7-6CB8B1E3B99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Hello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Wrodl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!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721F0197-850B-7C63-6A69-B88655ACE979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5C90FF50-7641-43E3-130E-B81F3C6636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E199BA-A911-06A8-7C64-2F727CE63B4C}"/>
              </a:ext>
            </a:extLst>
          </p:cNvPr>
          <p:cNvSpPr txBox="1"/>
          <p:nvPr/>
        </p:nvSpPr>
        <p:spPr>
          <a:xfrm>
            <a:off x="570895" y="1331774"/>
            <a:ext cx="11010900" cy="2948821"/>
          </a:xfrm>
          <a:prstGeom prst="rect">
            <a:avLst/>
          </a:prstGeom>
          <a:noFill/>
          <a:ln w="19050">
            <a:solidFill>
              <a:srgbClr val="DD462F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생성 모델링의 주요 과제</a:t>
            </a:r>
            <a:endParaRPr lang="en-US" altLang="ko-KR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특성 간 높은 조건부 의존성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모델이 특성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인접한 픽셀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간의 강한 상호 연관성을 어떻게 처리할 것인가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고차원 표본 공간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가늠할 수 없이 넓은 고차원 공간 속에서 유의미한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관측값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정상적인 얼굴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의 극소수 조합을 어떻게 찾아낼 것인가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</p:txBody>
      </p:sp>
      <p:sp>
        <p:nvSpPr>
          <p:cNvPr id="9" name="화살표: 줄무늬가 있는 오른쪽 8">
            <a:extLst>
              <a:ext uri="{FF2B5EF4-FFF2-40B4-BE49-F238E27FC236}">
                <a16:creationId xmlns:a16="http://schemas.microsoft.com/office/drawing/2014/main" id="{F0050164-F7B0-AECE-E87F-FD9E97014307}"/>
              </a:ext>
            </a:extLst>
          </p:cNvPr>
          <p:cNvSpPr/>
          <p:nvPr/>
        </p:nvSpPr>
        <p:spPr>
          <a:xfrm>
            <a:off x="3076575" y="4735652"/>
            <a:ext cx="4505326" cy="1255574"/>
          </a:xfrm>
          <a:prstGeom prst="stripedRightArrow">
            <a:avLst>
              <a:gd name="adj1" fmla="val 61601"/>
              <a:gd name="adj2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Deep Learning</a:t>
            </a:r>
          </a:p>
          <a:p>
            <a:pPr algn="ct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(Representation Learning)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783097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E8015-3E1C-4951-8810-EDC8E7A20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D07E9D2-7DFE-3951-1E5E-CC64C0B1A8F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Challenges of Generative Modeling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FCB0FC9A-31B8-1CAE-8A02-E1C82C18D24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8FE7ECC-B0DF-D8ED-8B53-74473A995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622" y="2160759"/>
            <a:ext cx="11020728" cy="880819"/>
          </a:xfrm>
          <a:prstGeom prst="rect">
            <a:avLst/>
          </a:prstGeom>
          <a:solidFill>
            <a:srgbClr val="DD462F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생성 모델의 2대 난제: 픽셀처럼 서로 얽혀 있는 데이터 특성 간의 의존성(</a:t>
            </a:r>
            <a:r>
              <a:rPr kumimoji="0" lang="ko-KR" altLang="ko-KR" sz="18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Dependence</a:t>
            </a: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0" lang="ko-KR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과</a:t>
            </a:r>
            <a:r>
              <a:rPr kumimoji="0" lang="en-US" altLang="ko-KR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수많은 무작위 조합 중 의미 있는 결과를 찾아내야 하는 고차원 공간(</a:t>
            </a:r>
            <a:r>
              <a:rPr kumimoji="0" lang="ko-KR" altLang="ko-KR" sz="18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High-dimensional</a:t>
            </a: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8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space</a:t>
            </a: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kumimoji="0" lang="en-US" altLang="ko-KR" sz="1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BFDBF02-F562-6823-9299-C9EA638C9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622" y="4261829"/>
            <a:ext cx="11020728" cy="1711815"/>
          </a:xfrm>
          <a:prstGeom prst="rect">
            <a:avLst/>
          </a:prstGeom>
          <a:solidFill>
            <a:srgbClr val="76E3FF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사람</a:t>
            </a: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 일일이 가정을 주입하지 않아도 데이터 스스로 구조를 학습하게 만듦으로써 두 난제를 해결</a:t>
            </a:r>
            <a:endParaRPr kumimoji="0" lang="en-US" altLang="ko-K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ko-KR" altLang="ko-K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표현 학습(</a:t>
            </a:r>
            <a:r>
              <a:rPr kumimoji="0" lang="ko-KR" altLang="ko-K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Representation</a:t>
            </a: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Learning</a:t>
            </a: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): 복잡하고 차원이 높은 원시 데이터(예: 픽셀 값들)</a:t>
            </a:r>
            <a:r>
              <a:rPr kumimoji="0" lang="ko-KR" altLang="ko-K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의미 있는 핵심 특성 중심의 </a:t>
            </a:r>
            <a:r>
              <a:rPr kumimoji="0" lang="ko-KR" altLang="ko-K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저차원</a:t>
            </a: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공간으로 압축하여 다루는 기술로, 생성 모델이 성공적으로 동작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015460F-C41D-C888-7449-90BF34877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622" y="1666864"/>
            <a:ext cx="3553125" cy="465320"/>
          </a:xfrm>
          <a:prstGeom prst="rect">
            <a:avLst/>
          </a:prstGeom>
          <a:solidFill>
            <a:srgbClr val="DD462F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Problems</a:t>
            </a:r>
            <a:endParaRPr kumimoji="0" lang="en-US" altLang="ko-KR" sz="1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94CA3EB-2343-A025-31EA-92F6B63D5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622" y="3767934"/>
            <a:ext cx="3553128" cy="465320"/>
          </a:xfrm>
          <a:prstGeom prst="rect">
            <a:avLst/>
          </a:prstGeom>
          <a:solidFill>
            <a:srgbClr val="76E3FF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Solving by Deep Learning</a:t>
            </a:r>
            <a:endParaRPr kumimoji="0" lang="ko-KR" altLang="ko-K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" name="그래픽 9" descr="오른쪽으로 굽은 화살표">
            <a:extLst>
              <a:ext uri="{FF2B5EF4-FFF2-40B4-BE49-F238E27FC236}">
                <a16:creationId xmlns:a16="http://schemas.microsoft.com/office/drawing/2014/main" id="{7BFADB9E-0DE0-D587-947C-C08E099982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445359">
            <a:off x="4133850" y="302879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1156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A1820-D8BB-F7ED-6AE6-43BD331E1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3B981F2-2467-D7E0-08BE-479E2199F0A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Representation Learning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37A653FF-5206-19AB-DD44-B9C8FF9BAE44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556384-3DDF-1FFF-9B9A-4AEF48BEB05E}"/>
              </a:ext>
            </a:extLst>
          </p:cNvPr>
          <p:cNvSpPr txBox="1"/>
          <p:nvPr/>
        </p:nvSpPr>
        <p:spPr>
          <a:xfrm>
            <a:off x="552449" y="1202027"/>
            <a:ext cx="11153776" cy="1531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Representation Learning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핵심은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사람의 얼굴을 픽셀 하나하나로 기억하지 않고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의미 있는 특징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(feature)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압축해서 표현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Representation Learning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은 복잡한 원본 데이터를 그대로 다루는 대신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데이터의 중요한 특징을 스스로 찾아서 훨씬 적은 수의 의미 있는 변수로 표현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B39968-8BFE-6D51-4666-350B192EBCCF}"/>
              </a:ext>
            </a:extLst>
          </p:cNvPr>
          <p:cNvSpPr txBox="1"/>
          <p:nvPr/>
        </p:nvSpPr>
        <p:spPr>
          <a:xfrm>
            <a:off x="2228848" y="3281660"/>
            <a:ext cx="9039227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사진 한 장이 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256 × 256 × 3 = 196,608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개의 </a:t>
            </a:r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픽셀값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으로 구성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BE4226-0E02-4D2E-7F49-D548E3B897E5}"/>
              </a:ext>
            </a:extLst>
          </p:cNvPr>
          <p:cNvSpPr txBox="1"/>
          <p:nvPr/>
        </p:nvSpPr>
        <p:spPr>
          <a:xfrm>
            <a:off x="2228849" y="4142085"/>
            <a:ext cx="9039226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사람은 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왼쪽 위에서 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37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번째 픽셀의 색깔이 무엇이고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...“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이렇게 생각하지 않음</a:t>
            </a:r>
            <a:endParaRPr lang="en-US" altLang="ko-KR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82C9C0-2D0B-9E1A-6664-BE096FCD1ECD}"/>
              </a:ext>
            </a:extLst>
          </p:cNvPr>
          <p:cNvSpPr txBox="1"/>
          <p:nvPr/>
        </p:nvSpPr>
        <p:spPr>
          <a:xfrm>
            <a:off x="2228848" y="5002510"/>
            <a:ext cx="9039226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추상적으로 생각 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금발 안경 둥근 얼굴 큰 눈 긴 코 웃는 표정 긴 머리 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...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4850DD-2C90-53A3-0851-79DE496DE803}"/>
              </a:ext>
            </a:extLst>
          </p:cNvPr>
          <p:cNvSpPr txBox="1"/>
          <p:nvPr/>
        </p:nvSpPr>
        <p:spPr>
          <a:xfrm>
            <a:off x="2228849" y="5862935"/>
            <a:ext cx="9039225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196,608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개의 픽셀 → 몇 개의 의미 있는 특징으로 바꾸어 생각하는데 이것이 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Representation</a:t>
            </a:r>
          </a:p>
        </p:txBody>
      </p:sp>
      <p:pic>
        <p:nvPicPr>
          <p:cNvPr id="19" name="그래픽 18" descr="반시계 방향으로 굽은 화살표">
            <a:extLst>
              <a:ext uri="{FF2B5EF4-FFF2-40B4-BE49-F238E27FC236}">
                <a16:creationId xmlns:a16="http://schemas.microsoft.com/office/drawing/2014/main" id="{B3B9281F-6990-E29E-8E22-65F51865AA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2122174">
            <a:off x="1345440" y="3585568"/>
            <a:ext cx="891188" cy="891188"/>
          </a:xfrm>
          <a:prstGeom prst="rect">
            <a:avLst/>
          </a:prstGeom>
        </p:spPr>
      </p:pic>
      <p:pic>
        <p:nvPicPr>
          <p:cNvPr id="20" name="그래픽 19" descr="반시계 방향으로 굽은 화살표">
            <a:extLst>
              <a:ext uri="{FF2B5EF4-FFF2-40B4-BE49-F238E27FC236}">
                <a16:creationId xmlns:a16="http://schemas.microsoft.com/office/drawing/2014/main" id="{EB4A33F2-1F74-EA56-92EA-D2D1035A5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2122174">
            <a:off x="1345439" y="4837116"/>
            <a:ext cx="891188" cy="891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7817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BF26A-F4F8-915E-A16A-A497D110A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50D1C35-682A-F02C-8CFE-8D28A092D64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Representation Learning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AA0B6D33-97F6-37BF-742E-F0CF017C5AD0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EEB8713C-7FB7-9130-0B0E-107FD2BA5F1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3FF05A-4D6D-A334-F8F1-B599A88BD9B2}"/>
              </a:ext>
            </a:extLst>
          </p:cNvPr>
          <p:cNvSpPr txBox="1"/>
          <p:nvPr/>
        </p:nvSpPr>
        <p:spPr>
          <a:xfrm>
            <a:off x="628649" y="2268964"/>
            <a:ext cx="5619751" cy="233910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dash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① 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Feature Learning</a:t>
            </a:r>
          </a:p>
          <a:p>
            <a:pPr>
              <a:buNone/>
            </a:pPr>
            <a:endParaRPr lang="en-US" altLang="ko-KR" sz="16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"AI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 이미지에서 무엇이 중요한 특징인지 스스로 학습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“</a:t>
            </a:r>
          </a:p>
          <a:p>
            <a:pPr>
              <a:buNone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Image</a:t>
            </a:r>
          </a:p>
          <a:p>
            <a:pPr rtl="0"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↓</a:t>
            </a:r>
          </a:p>
          <a:p>
            <a:pPr rtl="0"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Feature</a:t>
            </a:r>
          </a:p>
          <a:p>
            <a:pPr rtl="0"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↓</a:t>
            </a:r>
          </a:p>
          <a:p>
            <a:pPr rtl="0"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Representation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1E93C9-5273-88CB-EACB-0BDC361C6A6A}"/>
              </a:ext>
            </a:extLst>
          </p:cNvPr>
          <p:cNvSpPr txBox="1"/>
          <p:nvPr/>
        </p:nvSpPr>
        <p:spPr>
          <a:xfrm>
            <a:off x="2366962" y="3356451"/>
            <a:ext cx="6748463" cy="184665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dash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② 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Latent Space</a:t>
            </a:r>
          </a:p>
          <a:p>
            <a:pPr>
              <a:buNone/>
            </a:pPr>
            <a:endParaRPr lang="en-US" altLang="ko-KR" sz="16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비슷한 데이터는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latent space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에서도 가까운 위치에 놓이도록 표현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“</a:t>
            </a:r>
          </a:p>
          <a:p>
            <a:pPr>
              <a:buNone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buNone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얼굴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 ──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가까움 ── 얼굴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B</a:t>
            </a:r>
          </a:p>
          <a:p>
            <a:pPr rtl="0">
              <a:buNone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buNone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고양이 ───────────── 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0871E9-1EDB-8066-906B-840307526060}"/>
              </a:ext>
            </a:extLst>
          </p:cNvPr>
          <p:cNvSpPr txBox="1"/>
          <p:nvPr/>
        </p:nvSpPr>
        <p:spPr>
          <a:xfrm>
            <a:off x="5295900" y="4220476"/>
            <a:ext cx="6495531" cy="233910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dash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③ 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Generative Modeling</a:t>
            </a:r>
          </a:p>
          <a:p>
            <a:pPr>
              <a:buNone/>
            </a:pPr>
            <a:endParaRPr lang="en-US" altLang="ko-KR" sz="16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학습한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latent space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구조를 이용해서 새로운 데이터를 생성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“</a:t>
            </a:r>
          </a:p>
          <a:p>
            <a:pPr>
              <a:buNone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rtl="0"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Latent vector</a:t>
            </a:r>
          </a:p>
          <a:p>
            <a:pPr rtl="0"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↓</a:t>
            </a:r>
          </a:p>
          <a:p>
            <a:pPr rtl="0"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Generator</a:t>
            </a:r>
          </a:p>
          <a:p>
            <a:pPr rtl="0"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↓</a:t>
            </a:r>
          </a:p>
          <a:p>
            <a:pPr rtl="0"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New Image</a:t>
            </a:r>
            <a:endParaRPr lang="ko-KR" alt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F140C4-E706-AE2E-945A-5036966C83B3}"/>
              </a:ext>
            </a:extLst>
          </p:cNvPr>
          <p:cNvSpPr txBox="1"/>
          <p:nvPr/>
        </p:nvSpPr>
        <p:spPr>
          <a:xfrm>
            <a:off x="552449" y="1202027"/>
            <a:ext cx="11153776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Manifold =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실제 데이터들이 존재하는 고차원 공간 속의 구조적인 영역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Raw Data → Representation Learning → Latent Space → Data Distribution/Manifold → Generation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91936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EBE8B-4638-C8FD-63F0-D4DC1EC55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0C43EAB-92AE-29C7-8FC4-D709E8ECE988}"/>
              </a:ext>
            </a:extLst>
          </p:cNvPr>
          <p:cNvSpPr/>
          <p:nvPr/>
        </p:nvSpPr>
        <p:spPr>
          <a:xfrm>
            <a:off x="5076825" y="2762250"/>
            <a:ext cx="2838450" cy="257175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01CDFE70-09C7-4131-C4B1-9B053596BE9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Generative Model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4DE75E7F-5A47-8596-DDDE-D673158B65C4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7A9F42-66EB-3E99-E48F-252BB5B0ED1B}"/>
              </a:ext>
            </a:extLst>
          </p:cNvPr>
          <p:cNvSpPr txBox="1"/>
          <p:nvPr/>
        </p:nvSpPr>
        <p:spPr>
          <a:xfrm>
            <a:off x="699034" y="1186369"/>
            <a:ext cx="10845266" cy="5479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얼굴을 몇 개의 특징으로 표현할 수 있다면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반대로 그 특징을 이용해서 얼굴을 다시 만들어낼 수 있을까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?“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예를 들어 어떤 얼굴을 다음과 같이 표현했다고 생각하면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z = [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얼굴형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피부 특성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눈 모양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 모양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입 모양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머리카락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안경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표정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...]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이것이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latent representation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또는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latent vector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이며 즉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 rtl="0">
              <a:buNone/>
            </a:pP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얼굴 이미지</a:t>
            </a:r>
          </a:p>
          <a:p>
            <a:pPr algn="ctr" rtl="0">
              <a:buNone/>
            </a:pP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↓</a:t>
            </a:r>
          </a:p>
          <a:p>
            <a:pPr algn="ctr" rtl="0">
              <a:buNone/>
            </a:pP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Encoder</a:t>
            </a:r>
          </a:p>
          <a:p>
            <a:pPr algn="ctr" rtl="0">
              <a:buNone/>
            </a:pP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↓</a:t>
            </a:r>
          </a:p>
          <a:p>
            <a:pPr algn="ctr" rtl="0">
              <a:buNone/>
            </a:pP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Latent representation z</a:t>
            </a:r>
          </a:p>
          <a:p>
            <a:pPr algn="ctr" rtl="0">
              <a:buNone/>
            </a:pP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↓</a:t>
            </a:r>
          </a:p>
          <a:p>
            <a:pPr algn="ctr" rtl="0">
              <a:buNone/>
            </a:pP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Decoder / Generator</a:t>
            </a:r>
          </a:p>
          <a:p>
            <a:pPr algn="ctr" rtl="0">
              <a:buNone/>
            </a:pP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↓</a:t>
            </a:r>
          </a:p>
          <a:p>
            <a:pPr algn="ctr" rtl="0">
              <a:buNone/>
            </a:pP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얼굴 이미지</a:t>
            </a:r>
            <a:endParaRPr lang="en-US" altLang="ko-KR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	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즉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 → 의미 있는 내부 표현 → 다시 이미지가 되는 것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3">
              <a:lnSpc>
                <a:spcPct val="15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선형구조를 가진 데이터의 주성분분석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(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2"/>
              </a:rPr>
              <a:t>principal-component-analysis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)</a:t>
            </a:r>
          </a:p>
          <a:p>
            <a:pPr lvl="3">
              <a:lnSpc>
                <a:spcPct val="15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비선형구조를 가진 데이터의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Manifold Learning(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manifold-learning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)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86229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35063-C2D5-9F8A-5E6C-603DA5DB7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010BC49-337A-CD15-BCFD-9C740425182A}"/>
              </a:ext>
            </a:extLst>
          </p:cNvPr>
          <p:cNvSpPr/>
          <p:nvPr/>
        </p:nvSpPr>
        <p:spPr>
          <a:xfrm>
            <a:off x="4067175" y="2857500"/>
            <a:ext cx="4476750" cy="264795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2BEFCF6A-6F8E-F25A-1851-7C1EFA46184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Generative Model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5CC58470-FB43-A1C0-49AE-98C85F60E9C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2B91BB-6357-DEFF-8EBD-2490C23A5D83}"/>
              </a:ext>
            </a:extLst>
          </p:cNvPr>
          <p:cNvSpPr txBox="1"/>
          <p:nvPr/>
        </p:nvSpPr>
        <p:spPr>
          <a:xfrm>
            <a:off x="712267" y="1248422"/>
            <a:ext cx="11108258" cy="5155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"map the description back into pixels“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"10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 정도의 설명만으로도 그 사람의 얼굴을 머릿속에서 만들어낼 수 있다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."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사람은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금발이고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안경을 쓰고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얼굴이 갸름하고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눈이 크고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웃고 있다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.“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라고 들으면 머릿속으로 대략적인 얼굴을 상상할 수 있으며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관점에서 보면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en-US" sz="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 rtl="0">
              <a:lnSpc>
                <a:spcPct val="150000"/>
              </a:lnSpc>
            </a:pP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특징</a:t>
            </a:r>
          </a:p>
          <a:p>
            <a:pPr algn="ctr" rtl="0">
              <a:lnSpc>
                <a:spcPct val="150000"/>
              </a:lnSpc>
            </a:pP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↓</a:t>
            </a:r>
          </a:p>
          <a:p>
            <a:pPr algn="ctr" rtl="0">
              <a:lnSpc>
                <a:spcPct val="150000"/>
              </a:lnSpc>
            </a:pP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금발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안경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갸름한 얼굴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큰 눈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웃음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  <a:p>
            <a:pPr algn="ctr" rtl="0">
              <a:lnSpc>
                <a:spcPct val="150000"/>
              </a:lnSpc>
            </a:pP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↓</a:t>
            </a:r>
          </a:p>
          <a:p>
            <a:pPr algn="ctr" rtl="0">
              <a:lnSpc>
                <a:spcPct val="150000"/>
              </a:lnSpc>
            </a:pP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Generative Model</a:t>
            </a:r>
          </a:p>
          <a:p>
            <a:pPr algn="ctr" rtl="0">
              <a:lnSpc>
                <a:spcPct val="150000"/>
              </a:lnSpc>
            </a:pP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↓</a:t>
            </a:r>
          </a:p>
          <a:p>
            <a:pPr algn="ctr" rtl="0">
              <a:lnSpc>
                <a:spcPct val="150000"/>
              </a:lnSpc>
            </a:pP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이미지 생성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즉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Representation Learning + Generative Modeling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결합되면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어떤 얼굴을 어떻게 표현할 것인가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?“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뿐 아니라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그 표현으로부터 새로운 얼굴을 어떻게 생성할 것인가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?"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까지 가능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980477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52404-03F4-0002-663B-B28E4E9BE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17E8DB3-F3CF-0208-84FD-10E041632ED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Manifold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F9F4A3D9-A96A-B54F-106A-F0EE2B4EB37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1DA8A241-4537-3CC8-38D3-D332B839E81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B60824A-C873-712E-4676-9DE9D0500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83" y="1298138"/>
            <a:ext cx="4761858" cy="50154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F433541-8497-F540-6077-D092D2F0CC59}"/>
              </a:ext>
            </a:extLst>
          </p:cNvPr>
          <p:cNvSpPr txBox="1"/>
          <p:nvPr/>
        </p:nvSpPr>
        <p:spPr>
          <a:xfrm>
            <a:off x="566176" y="6313588"/>
            <a:ext cx="48016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lower-dimensional latent space (manifold)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F5FD42-1C8A-45BD-F930-8C7B16513321}"/>
              </a:ext>
            </a:extLst>
          </p:cNvPr>
          <p:cNvSpPr txBox="1"/>
          <p:nvPr/>
        </p:nvSpPr>
        <p:spPr>
          <a:xfrm>
            <a:off x="5943600" y="1551645"/>
            <a:ext cx="5386949" cy="3937296"/>
          </a:xfrm>
          <a:prstGeom prst="rect">
            <a:avLst/>
          </a:prstGeom>
          <a:noFill/>
          <a:ln>
            <a:solidFill>
              <a:srgbClr val="404040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The cube represents the extremely high-dimensional space of all images; representation learning tries to find the lower-dimensional latent subspace or manifold on which particular kinds of image lie (for example, the dog manifold)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정육면체는 모든 이미지의 극도로 고차원인 공간을 나타내며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표현 학습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(Representation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Leraning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은 특정 종류의 이미지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강아지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매니폴드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가 위치하는 더 낮은 차원의 잠재 부분 공간 또는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매니폴드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(manifold)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 탐색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	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Deep Learning architecture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의 학습 핵심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77156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80A49-558C-DAB7-A6AF-FB24D9FCA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4992EC2-DA75-6D1C-7D08-36449C04334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Manifold Hypothesis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703E4D5C-4FB9-C36D-D163-29B2AB72C917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5BBDCECB-199D-C241-C104-34488E1B3D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EFC2306-D2D9-619B-F95D-1E33A8C34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240" y="2411552"/>
            <a:ext cx="7254869" cy="40922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CFD65B-9FB0-2AB8-4933-8B927B2186F6}"/>
              </a:ext>
            </a:extLst>
          </p:cNvPr>
          <p:cNvSpPr txBox="1"/>
          <p:nvPr/>
        </p:nvSpPr>
        <p:spPr>
          <a:xfrm>
            <a:off x="536036" y="1210322"/>
            <a:ext cx="11484514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데이터 과학에서는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고차원 공간의 현실 세계 데이터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이미지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음성 등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는 무작위로 분포하지 않고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훨씬 낮은 차원의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매니폴드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주변에 집중되어 있다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는 </a:t>
            </a:r>
            <a:r>
              <a:rPr lang="ko-KR" altLang="en-US" b="0" u="none" strike="noStrike" dirty="0" err="1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매니폴드</a:t>
            </a:r>
            <a:r>
              <a:rPr lang="ko-KR" altLang="en-US" b="0" u="none" strike="noStrike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가설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을 기본 전제</a:t>
            </a:r>
          </a:p>
        </p:txBody>
      </p:sp>
    </p:spTree>
    <p:extLst>
      <p:ext uri="{BB962C8B-B14F-4D97-AF65-F5344CB8AC3E}">
        <p14:creationId xmlns:p14="http://schemas.microsoft.com/office/powerpoint/2010/main" val="1744359784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19882</TotalTime>
  <Words>2872</Words>
  <Application>Microsoft Office PowerPoint</Application>
  <PresentationFormat>와이드스크린</PresentationFormat>
  <Paragraphs>313</Paragraphs>
  <Slides>43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43</vt:i4>
      </vt:variant>
    </vt:vector>
  </HeadingPairs>
  <TitlesOfParts>
    <vt:vector size="51" baseType="lpstr">
      <vt:lpstr>D2Coding</vt:lpstr>
      <vt:lpstr>맑은 고딕</vt:lpstr>
      <vt:lpstr>바탕</vt:lpstr>
      <vt:lpstr>Arial</vt:lpstr>
      <vt:lpstr>Cambria Math</vt:lpstr>
      <vt:lpstr>Segoe UI Emoji</vt:lpstr>
      <vt:lpstr>Wingdings</vt:lpstr>
      <vt:lpstr>WelcomeDoc</vt:lpstr>
      <vt:lpstr>Generative Deep Learning Teaching Machines to Paint, Write, Compose, and Play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Gaussian Naïve Bayes classifier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279</cp:revision>
  <dcterms:created xsi:type="dcterms:W3CDTF">2026-04-06T01:00:39Z</dcterms:created>
  <dcterms:modified xsi:type="dcterms:W3CDTF">2026-10-02T23:04:27Z</dcterms:modified>
  <cp:version/>
</cp:coreProperties>
</file>