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256" r:id="rId2"/>
    <p:sldId id="1264" r:id="rId3"/>
    <p:sldId id="1286" r:id="rId4"/>
    <p:sldId id="1345" r:id="rId5"/>
    <p:sldId id="1359" r:id="rId6"/>
    <p:sldId id="1351" r:id="rId7"/>
    <p:sldId id="1352" r:id="rId8"/>
    <p:sldId id="1355" r:id="rId9"/>
    <p:sldId id="1353" r:id="rId10"/>
    <p:sldId id="1354" r:id="rId11"/>
    <p:sldId id="1356" r:id="rId12"/>
    <p:sldId id="1358" r:id="rId13"/>
    <p:sldId id="1357" r:id="rId14"/>
    <p:sldId id="1344" r:id="rId15"/>
    <p:sldId id="1308" r:id="rId16"/>
    <p:sldId id="1309" r:id="rId17"/>
    <p:sldId id="1312" r:id="rId18"/>
    <p:sldId id="1360" r:id="rId19"/>
    <p:sldId id="1310" r:id="rId20"/>
    <p:sldId id="1313" r:id="rId21"/>
    <p:sldId id="1314" r:id="rId22"/>
    <p:sldId id="1311" r:id="rId23"/>
    <p:sldId id="1315" r:id="rId24"/>
    <p:sldId id="1316" r:id="rId25"/>
    <p:sldId id="1349" r:id="rId26"/>
    <p:sldId id="1350" r:id="rId27"/>
    <p:sldId id="1330" r:id="rId28"/>
    <p:sldId id="1325" r:id="rId29"/>
    <p:sldId id="1326" r:id="rId30"/>
    <p:sldId id="1327" r:id="rId31"/>
    <p:sldId id="1331" r:id="rId32"/>
    <p:sldId id="1328" r:id="rId33"/>
    <p:sldId id="1334" r:id="rId34"/>
    <p:sldId id="1335" r:id="rId35"/>
    <p:sldId id="1339" r:id="rId36"/>
    <p:sldId id="1340" r:id="rId37"/>
    <p:sldId id="1336" r:id="rId38"/>
    <p:sldId id="1341" r:id="rId39"/>
    <p:sldId id="1337" r:id="rId40"/>
    <p:sldId id="1343" r:id="rId41"/>
    <p:sldId id="1342" r:id="rId42"/>
    <p:sldId id="1338" r:id="rId43"/>
    <p:sldId id="1347" r:id="rId4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59"/>
            <p14:sldId id="1351"/>
            <p14:sldId id="1352"/>
            <p14:sldId id="1355"/>
            <p14:sldId id="1353"/>
            <p14:sldId id="1354"/>
            <p14:sldId id="1356"/>
            <p14:sldId id="1358"/>
            <p14:sldId id="1357"/>
            <p14:sldId id="1344"/>
            <p14:sldId id="1308"/>
            <p14:sldId id="1309"/>
            <p14:sldId id="1312"/>
            <p14:sldId id="1360"/>
            <p14:sldId id="1310"/>
            <p14:sldId id="1313"/>
            <p14:sldId id="1314"/>
            <p14:sldId id="1311"/>
            <p14:sldId id="1315"/>
            <p14:sldId id="1316"/>
            <p14:sldId id="1349"/>
            <p14:sldId id="1350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790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83C67-24C9-5543-9125-00AD2A7AF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9A7283-3839-C586-69C5-A98066A7D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A2A4E1-666E-F5FA-1ED3-122FD3DD6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800870-2C91-9378-9D8B-CD79263FC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0864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jpe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xXgQAnMNBhY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ander.ai/2025/04/15/latents.html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scripts/latent_space_random_noise.ipynb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Generating-process-of-generative-models-which-shows-how-a-latent-vector-maps-to-a_fig1_339846296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onlinear_dimensionality_reducti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9D37A-4AE5-D544-5EF6-E0D913AEF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75C0FE-287D-AB42-55D4-2B18FC52AD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to Diffusion (For Beginners)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3C1C282-FE83-A4AC-735E-5D246E0C2B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9F5F845-BA5D-4321-6093-8F10D34FA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593" y="1290237"/>
            <a:ext cx="6566675" cy="53649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53DA1D-1071-6021-8B8B-F4AC0CFC7184}"/>
              </a:ext>
            </a:extLst>
          </p:cNvPr>
          <p:cNvSpPr txBox="1"/>
          <p:nvPr/>
        </p:nvSpPr>
        <p:spPr>
          <a:xfrm>
            <a:off x="6206350" y="6376017"/>
            <a:ext cx="4038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rgbClr val="76E3FF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https://www.youtube.com/watch?v=xXgQAnMNBhY</a:t>
            </a:r>
            <a:r>
              <a:rPr lang="ko-KR" altLang="en-US" sz="1400" dirty="0">
                <a:solidFill>
                  <a:srgbClr val="76E3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325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907A-DD39-754C-C424-A928B257E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E5090B-FAE5-8A17-21CF-E7CE69B40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Latent Space?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C88EC94-4496-9F73-6658-A4191A5080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1BF85-F140-69A5-78B3-915EF759E0B6}"/>
              </a:ext>
            </a:extLst>
          </p:cNvPr>
          <p:cNvSpPr txBox="1"/>
          <p:nvPr/>
        </p:nvSpPr>
        <p:spPr>
          <a:xfrm>
            <a:off x="542622" y="1207782"/>
            <a:ext cx="111067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원리인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데이터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매핑하는 과정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가장 단순하게 개념화하고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1E042-925F-7C38-46C4-9ECA0B374735}"/>
              </a:ext>
            </a:extLst>
          </p:cNvPr>
          <p:cNvSpPr txBox="1"/>
          <p:nvPr/>
        </p:nvSpPr>
        <p:spPr>
          <a:xfrm>
            <a:off x="2891192" y="2815600"/>
            <a:ext cx="6828713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Vector = Latent Space = Random Noise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9E2E81-4373-C757-157D-E46C57A82A1C}"/>
              </a:ext>
            </a:extLst>
          </p:cNvPr>
          <p:cNvSpPr txBox="1"/>
          <p:nvPr/>
        </p:nvSpPr>
        <p:spPr>
          <a:xfrm>
            <a:off x="3192778" y="3638764"/>
            <a:ext cx="6225541" cy="7931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아무 의미 없는 무작위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로부터 이미지 형태의 데이터가 만들어지는가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8563FB-7FFE-BEEC-3ADF-63079FAC0ACD}"/>
              </a:ext>
            </a:extLst>
          </p:cNvPr>
          <p:cNvSpPr txBox="1"/>
          <p:nvPr/>
        </p:nvSpPr>
        <p:spPr>
          <a:xfrm>
            <a:off x="2349498" y="4916540"/>
            <a:ext cx="8623302" cy="88081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생성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무작위 노이즈로부터 새로운 데이터를 생성해내는 파이프라인과 그 원리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최소한의 코드로 구현하고 시각화</a:t>
            </a:r>
          </a:p>
        </p:txBody>
      </p:sp>
    </p:spTree>
    <p:extLst>
      <p:ext uri="{BB962C8B-B14F-4D97-AF65-F5344CB8AC3E}">
        <p14:creationId xmlns:p14="http://schemas.microsoft.com/office/powerpoint/2010/main" val="305137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644FB-6850-0980-1515-227B687ED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CD03EC-683E-4BC6-E7E9-864184F877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C5C37-94E9-911E-2DC2-FBCE9FBC8B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F043AC3-6555-6AA2-25AD-27C92A3D7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41" y="1370679"/>
            <a:ext cx="7036238" cy="4857344"/>
          </a:xfrm>
          <a:prstGeom prst="rect">
            <a:avLst/>
          </a:prstGeom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04F12F-2703-587A-BD7F-D07F3D46A2C1}"/>
              </a:ext>
            </a:extLst>
          </p:cNvPr>
          <p:cNvSpPr txBox="1"/>
          <p:nvPr/>
        </p:nvSpPr>
        <p:spPr>
          <a:xfrm>
            <a:off x="688121" y="6222128"/>
            <a:ext cx="39549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https://sander.ai/2025/04/15/latents.html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915C19-A3FB-8A49-A6E6-2DF8CCCBC3B1}"/>
              </a:ext>
            </a:extLst>
          </p:cNvPr>
          <p:cNvSpPr/>
          <p:nvPr/>
        </p:nvSpPr>
        <p:spPr>
          <a:xfrm>
            <a:off x="3535680" y="2763520"/>
            <a:ext cx="3881120" cy="12903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A9B3D-1FEB-465C-5055-AA889723F941}"/>
              </a:ext>
            </a:extLst>
          </p:cNvPr>
          <p:cNvSpPr txBox="1"/>
          <p:nvPr/>
        </p:nvSpPr>
        <p:spPr>
          <a:xfrm>
            <a:off x="8185266" y="2350201"/>
            <a:ext cx="3481173" cy="36141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기반 생성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(GAN, VAE, Diffusion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과정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고정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생략하고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아무 의미 없는 무작위 숫자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로부터 이미지 형태의 데이터가 만들어지는가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표준정규분포에서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random sampling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한 잠재공간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고차원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(28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decoder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잠재공간과 고차원의 이미지가 비슷한 지 확인</a:t>
            </a: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F9E76BBC-F43D-5299-9D3B-99636AB85E6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7416800" y="3408680"/>
            <a:ext cx="768466" cy="748587"/>
          </a:xfrm>
          <a:prstGeom prst="curved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71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BA51-61B5-08CA-A137-D9CB96399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CD7CB1-E5E0-ADAE-7014-E7665C7636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156CCC0-7D25-F8DE-77AB-F3FF0ACAAD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1CA27-55AA-41C5-6A64-E0828CDCA54F}"/>
              </a:ext>
            </a:extLst>
          </p:cNvPr>
          <p:cNvSpPr txBox="1"/>
          <p:nvPr/>
        </p:nvSpPr>
        <p:spPr>
          <a:xfrm>
            <a:off x="772159" y="1440940"/>
            <a:ext cx="10647681" cy="46095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정규분포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(Gaussian) Random Noise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활용한 생성모델링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(Generative Modeling)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예제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업로드된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이미지의 흐름을 그대로 재현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data –training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과정은 생략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data --training--&gt; Generative Model &lt;--sampling-- Random noise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Generated sample</a:t>
            </a:r>
          </a:p>
          <a:p>
            <a:pPr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 noise z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표준정규분포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N(0, I)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샘플링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"Generative Model"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이 노이즈 벡터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공간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등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매핑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(mapping)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하는 함수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G(z) 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실제로는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decoder, GAN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generator,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denoiser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이 역할을 담당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여기서는 실제 학습된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VAE/GAN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개념을 보여주기 위해 고정된 랜덤 가중치를 갖는 간단한 매핑 함수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 랜덤 신경망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사용해 노이즈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형태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패턴을 생성   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바뀔 때마다 다른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샘플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만들어지는 것을 확인</a:t>
            </a:r>
          </a:p>
        </p:txBody>
      </p:sp>
    </p:spTree>
    <p:extLst>
      <p:ext uri="{BB962C8B-B14F-4D97-AF65-F5344CB8AC3E}">
        <p14:creationId xmlns:p14="http://schemas.microsoft.com/office/powerpoint/2010/main" val="1621001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440C3-E184-3395-150C-7C66E3D6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6D73C2-A27B-56CE-53BD-9665D5EBC4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C3B622C-6D79-7C6A-766F-FFD92690BF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5B2A8-09C5-6224-71FA-CCF680467FD4}"/>
              </a:ext>
            </a:extLst>
          </p:cNvPr>
          <p:cNvSpPr txBox="1"/>
          <p:nvPr/>
        </p:nvSpPr>
        <p:spPr>
          <a:xfrm>
            <a:off x="640080" y="2440804"/>
            <a:ext cx="6035040" cy="318016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재현성을 위한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np.random.default_rng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(seed=42)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Random noise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정의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표준정규분포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N(0, 1)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샘플링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32  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노이즈 벡터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차원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8         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샘플 개수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28      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한 변 크기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(28x28)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z ~ N(0, I)  :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 정규분포에서 샘플링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(loc=0.0, scale=1.0, size=(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9B98972-B78E-0AF8-085B-AA5154353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5120" y="2466824"/>
            <a:ext cx="5259186" cy="36270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7F232F-D053-D89A-3F2C-7274B41151FA}"/>
              </a:ext>
            </a:extLst>
          </p:cNvPr>
          <p:cNvSpPr txBox="1"/>
          <p:nvPr/>
        </p:nvSpPr>
        <p:spPr>
          <a:xfrm>
            <a:off x="640080" y="2102250"/>
            <a:ext cx="603504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잠재 공간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(Latent Space)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무작위 노이즈 샘플링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7DDBD0-8455-19B0-6775-AEC49741ED2F}"/>
              </a:ext>
            </a:extLst>
          </p:cNvPr>
          <p:cNvSpPr txBox="1"/>
          <p:nvPr/>
        </p:nvSpPr>
        <p:spPr>
          <a:xfrm>
            <a:off x="548890" y="1317995"/>
            <a:ext cx="109223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https://github.com/ancestor9/2026_Fall_Deep-Learning-with-Python/blob/main/scripts/latent_space_random_noise.ipynb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582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5D59F-1DBC-4BC0-2477-DFC3784BC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C60978-0ACF-AB86-646F-120C473FE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DA4CF22-E254-70FB-EC55-E8CF848997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FB138C-AAC3-834F-C48D-235EC55DE5DD}"/>
              </a:ext>
            </a:extLst>
          </p:cNvPr>
          <p:cNvSpPr txBox="1"/>
          <p:nvPr/>
        </p:nvSpPr>
        <p:spPr>
          <a:xfrm>
            <a:off x="640079" y="1766940"/>
            <a:ext cx="8133531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build_fixed_generator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랜덤 가중치를 갖는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2-layer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매핑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."""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128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W1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b1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0.1,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W2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b2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0.1,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generator(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z_batch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h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z_batch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W1 + b1)        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비선형 매핑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 @ W2 + b2)            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-&gt; [-1, 1]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범위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images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out.reshape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시각화를 위해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[0, 1]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범위로 정규화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images = (images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/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images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generator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build_fixed_generator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generated_samples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generator(z)   # sampling: noise -&gt; generated sample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print("Generated samples shape:",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generated_samples.shape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51CC5B-9945-4706-46F1-C3A6117DA634}"/>
              </a:ext>
            </a:extLst>
          </p:cNvPr>
          <p:cNvSpPr txBox="1"/>
          <p:nvPr/>
        </p:nvSpPr>
        <p:spPr>
          <a:xfrm>
            <a:off x="640080" y="1428386"/>
            <a:ext cx="813353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결정론적 매핑 함수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(Generator)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8CB7B-7E91-AF17-1AF2-0FC34D6F727E}"/>
              </a:ext>
            </a:extLst>
          </p:cNvPr>
          <p:cNvSpPr txBox="1"/>
          <p:nvPr/>
        </p:nvSpPr>
        <p:spPr>
          <a:xfrm>
            <a:off x="8773610" y="1766940"/>
            <a:ext cx="316069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이 가중치들을 진짜 이미지를 만들어내도록 훈련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시키지만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코드에서는 원리 시연을 위해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미리 고정된 임의의 신경망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매핑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G(z)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사용</a:t>
            </a:r>
          </a:p>
        </p:txBody>
      </p:sp>
    </p:spTree>
    <p:extLst>
      <p:ext uri="{BB962C8B-B14F-4D97-AF65-F5344CB8AC3E}">
        <p14:creationId xmlns:p14="http://schemas.microsoft.com/office/powerpoint/2010/main" val="2107628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3601A-E214-43CE-EC3C-5A0357D3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6D0384-1E66-083A-318C-3EFB3892292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72E29BF-AF4D-2230-1544-7E37DCEBFE0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D0580BC-2EB5-53C3-CA56-A8A6B9982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34" y="1410266"/>
            <a:ext cx="10729731" cy="5148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2217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85458-A584-9DCE-97DB-DF2694E3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A12A52-96E0-D89D-EE09-FD4A01B240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428D01-58CB-F84E-95C3-5824BED3B4B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E6F6FCDB-14FC-7E75-BCAE-7967E3E82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96" y="2245309"/>
            <a:ext cx="10829407" cy="403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46F662-3C95-FD91-C0BD-D2492E8D7BD9}"/>
              </a:ext>
            </a:extLst>
          </p:cNvPr>
          <p:cNvSpPr txBox="1"/>
          <p:nvPr/>
        </p:nvSpPr>
        <p:spPr>
          <a:xfrm>
            <a:off x="565549" y="1248422"/>
            <a:ext cx="10353762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G(z)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Z1, Z2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도수 분포를 확인하면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variable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분포와 아주 유사</a:t>
            </a:r>
          </a:p>
        </p:txBody>
      </p:sp>
    </p:spTree>
    <p:extLst>
      <p:ext uri="{BB962C8B-B14F-4D97-AF65-F5344CB8AC3E}">
        <p14:creationId xmlns:p14="http://schemas.microsoft.com/office/powerpoint/2010/main" val="537814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1956-3FD7-62E9-44AE-8B86717CC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C0821F-0704-DF66-85C7-4D21BCD8CB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 Vectors Mapping to Generated Samples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E15B0E7-B0AE-C29B-14CE-21D6CEF0ECF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7C84EF-A4A8-B7F7-0128-504F8C542244}"/>
              </a:ext>
            </a:extLst>
          </p:cNvPr>
          <p:cNvSpPr txBox="1"/>
          <p:nvPr/>
        </p:nvSpPr>
        <p:spPr>
          <a:xfrm>
            <a:off x="577123" y="1190547"/>
            <a:ext cx="11229054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 process of generative models, which shows how a latent vector maps to a generated image: a low dimension manifold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qz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maps to a high‐dimension manifold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The generative distribution approximates the real data to make the generated samples look like the real samples</a:t>
            </a:r>
          </a:p>
          <a:p>
            <a:pPr>
              <a:lnSpc>
                <a:spcPct val="150000"/>
              </a:lnSpc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96D7BD-AC19-A8D4-BCE8-C3CA3BE02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756" y="2671813"/>
            <a:ext cx="6782841" cy="37042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9BF46A-3734-3DCD-632C-0F5F88B2972E}"/>
              </a:ext>
            </a:extLst>
          </p:cNvPr>
          <p:cNvSpPr txBox="1"/>
          <p:nvPr/>
        </p:nvSpPr>
        <p:spPr>
          <a:xfrm>
            <a:off x="836752" y="6376017"/>
            <a:ext cx="105184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https://www.researchgate.net/figure/Generating-process-of-generative-models-which-shows-how-a-latent-vector-maps-to-a_fig1_339846296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F34C4-41E5-D62D-2892-0542CA6ABB72}"/>
              </a:ext>
            </a:extLst>
          </p:cNvPr>
          <p:cNvSpPr txBox="1"/>
          <p:nvPr/>
        </p:nvSpPr>
        <p:spPr>
          <a:xfrm>
            <a:off x="2430606" y="2371664"/>
            <a:ext cx="6805991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data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Generative Model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Generated sample</a:t>
            </a:r>
          </a:p>
        </p:txBody>
      </p:sp>
    </p:spTree>
    <p:extLst>
      <p:ext uri="{BB962C8B-B14F-4D97-AF65-F5344CB8AC3E}">
        <p14:creationId xmlns:p14="http://schemas.microsoft.com/office/powerpoint/2010/main" val="542107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693" y="3171824"/>
            <a:ext cx="8593826" cy="32237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27564" y="2833271"/>
            <a:ext cx="861211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D850E6-405F-EB40-0C57-308CA96CF502}"/>
              </a:ext>
            </a:extLst>
          </p:cNvPr>
          <p:cNvSpPr txBox="1"/>
          <p:nvPr/>
        </p:nvSpPr>
        <p:spPr>
          <a:xfrm>
            <a:off x="8321675" y="5011083"/>
            <a:ext cx="19526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880" y="304217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96071" y="2706897"/>
            <a:ext cx="908437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67375-8D96-2AAD-31CE-C877CF9BF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56F506-02E2-11CE-23EB-069B263A6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Gaussian Naïve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Bayes classifier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891541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332CB-3782-5021-515C-7C662FEC2B8D}"/>
              </a:ext>
            </a:extLst>
          </p:cNvPr>
          <p:cNvSpPr txBox="1"/>
          <p:nvPr/>
        </p:nvSpPr>
        <p:spPr>
          <a:xfrm>
            <a:off x="3086100" y="1863209"/>
            <a:ext cx="5438776" cy="367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Generative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AI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는 어떻게 완전히 새로운 창작물을 만들어 내는가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B8330-AAF7-59F1-594D-112DC9C4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1.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90566F08-F008-70AF-B96C-8D38F4AD83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3D987D-7BAE-2A92-8C92-DCCC3398C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154" y="2186478"/>
            <a:ext cx="8012293" cy="4266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 앞에 찍힌 검은 점 데이터가 있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는데</a:t>
                </a:r>
                <a:r>
                  <a:rPr kumimoji="0" lang="en-US" altLang="ko-KR" sz="16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우리는 점들의 좌표만 알 뿐, 이 점들이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모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른다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.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미션은 이 데이터 뒤에 숨은 규칙을 스스로 추론해 내는 것 </a:t>
                </a: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blipFill>
                <a:blip r:embed="rId4"/>
                <a:stretch>
                  <a:fillRect l="-1163" b="-89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2858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4A98-F450-84B5-2263-2D734AC3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2.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7D8826-376D-F69C-DDA7-1E68D701D3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세계지도의 육지위에 찍히는 모든 점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blipFill>
                <a:blip r:embed="rId3"/>
                <a:stretch>
                  <a:fillRect l="-1163" b="-1774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, AI로 생성">
            <a:extLst>
              <a:ext uri="{FF2B5EF4-FFF2-40B4-BE49-F238E27FC236}">
                <a16:creationId xmlns:a16="http://schemas.microsoft.com/office/drawing/2014/main" id="{1D99E959-1A54-7AF7-5530-851A3A6D41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9A5FE5E-3788-65EE-02B9-A69C3D5D6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75" y="1819441"/>
            <a:ext cx="8553450" cy="4624151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2D0ED608-81B9-E390-0ED2-9B637BBD44C6}"/>
              </a:ext>
            </a:extLst>
          </p:cNvPr>
          <p:cNvGrpSpPr/>
          <p:nvPr/>
        </p:nvGrpSpPr>
        <p:grpSpPr>
          <a:xfrm>
            <a:off x="1666875" y="1819441"/>
            <a:ext cx="8553450" cy="4624151"/>
            <a:chOff x="1666875" y="1819441"/>
            <a:chExt cx="8553450" cy="4624151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D09BE0A-FF8A-66DB-44EB-DDD39A006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66875" y="1819441"/>
              <a:ext cx="8553450" cy="462415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/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𝑷</m:t>
                          </m:r>
                        </m:e>
                        <m:sub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𝒅𝒂𝒕𝒂</m:t>
                          </m:r>
                        </m:sub>
                      </m:sSub>
                    </m:oMath>
                  </a14:m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)</a:t>
                  </a:r>
                  <a:endParaRPr lang="ko-KR" altLang="en-US" sz="2400" b="1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6926" t="-10526" b="-28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2642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218" y="2122179"/>
            <a:ext cx="8195014" cy="43852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3.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모델의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추상적 예측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</m:t>
                        </m:r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l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3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데이터 주변을 둘러싸는 영역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을 그려보며 규칙을 예측하지만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처음에 만든 넓은 주황색 상자는 점들을 대충 감싸고 있지만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여전히 정밀하지 못함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blipFill>
                <a:blip r:embed="rId4"/>
                <a:stretch>
                  <a:fillRect l="-1107" b="-983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146" y="2186756"/>
            <a:ext cx="7800261" cy="43702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1D15716-87E1-4520-9610-5146025C1C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가지 조건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/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1. 진짜 같은가?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실제 규칙</a:t>
                </a:r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부합하는가? 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2. 독창적인가? (기존 데이터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X를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그대로 베끼지 않았는가?)  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blipFill>
                <a:blip r:embed="rId3"/>
                <a:stretch>
                  <a:fillRect l="-441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83346868-CE22-2323-46D6-C5D22E901BF1}"/>
              </a:ext>
            </a:extLst>
          </p:cNvPr>
          <p:cNvSpPr/>
          <p:nvPr/>
        </p:nvSpPr>
        <p:spPr>
          <a:xfrm>
            <a:off x="2724150" y="4733925"/>
            <a:ext cx="8456611" cy="1504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74" y="1957343"/>
            <a:ext cx="8172751" cy="4418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E7C8DC-CDBF-E19D-339C-D2A3128F7E3C}"/>
              </a:ext>
            </a:extLst>
          </p:cNvPr>
          <p:cNvSpPr txBox="1"/>
          <p:nvPr/>
        </p:nvSpPr>
        <p:spPr>
          <a:xfrm>
            <a:off x="7629007" y="1399980"/>
            <a:ext cx="4105794" cy="31085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엉뚱한 출력): 바다 한가운데 찍힌 점입니다.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1을 위반하여 전혀 '진짜 같지 않은' 엉터리 생성물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단순 표절): 기존 점에 딱 붙어 있는 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학습 데이터를 그냥 복사해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붙여넣은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수준이라 독창성(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2)이 없음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C (성공 - 진정한 생성): 기존 데이터에는 없던 완전히 새로운 위치지만, 정확히 '육지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안＇에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존재하며 진짜 데이터의 규칙을 완벽히 이해하면서도 새로운 창작물을 만든 성공적인 결과</a:t>
            </a: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2BCBFD48-A37F-EADE-961E-0A6C2CD4B8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점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A,B,C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보는 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성패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396594"/>
            <a:ext cx="4238626" cy="4445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무대 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점을 찍을 수 있는 전체 무대를 수학에서는 표본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(Sample Space)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위도와 경도로 이루어진 세계 지도의 모든 위치가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표본공간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확률 나누기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전체 확률의 합인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세계지도 위에 골고루 뿌리고 상자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(Box)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안쪽 영역에는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똑같이 나누어 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상자 밖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확률을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만들어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점이 나올 수 없는 곳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지정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353197"/>
            <a:ext cx="6759526" cy="19966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/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Parametric Modeling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주황색 상자의 크기와 위치를 조정하기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위해 상자의 왼쪽 아래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오른쪽 위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라는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4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수치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바꾸면 상자의 모양을 마음대로 움직이면서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보이지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않는 규칙을 찾기 위해 파라미터 모델링</a:t>
                </a: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 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점들의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만족도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요리조리 옮겨볼 때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우리가 관찰한 실제 점들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(x)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현재 상자 위치에 얼마나 잘 들어맞는지 만족도를 점수로 매기는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우도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(Likelihood)</a:t>
                </a:r>
                <a:endPara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blipFill>
                <a:blip r:embed="rId2"/>
                <a:stretch>
                  <a:fillRect l="-1007" r="-144" b="-3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09173" y="155428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81700" y="2590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004" y="1622090"/>
            <a:ext cx="6797629" cy="31397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545EA0-966E-3041-EC02-65C33DAECBD4}"/>
              </a:ext>
            </a:extLst>
          </p:cNvPr>
          <p:cNvSpPr txBox="1"/>
          <p:nvPr/>
        </p:nvSpPr>
        <p:spPr>
          <a:xfrm>
            <a:off x="708558" y="5433758"/>
            <a:ext cx="10887075" cy="7056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새로운 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성공적으로 찍어내는 비결은 수학적 핸들(파라미터)을 조절해 데이터 만족도(우도)가 극대화되는 최적의 영역을 찾아냈기 때문(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/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Maximum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Estimation : 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최고의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 찾기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AI 학습의 목적은 이 만족도 점수(우도)를 가장 높게 만드는 최적의 핸들 값(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400" i="1" dirty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accPr>
                      <m:e>
                        <m:r>
                          <a:rPr lang="ko-KR" altLang="en-US" sz="1400" dirty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𝜃</m:t>
                        </m:r>
                      </m:e>
                    </m:acc>
                  </m:oMath>
                </a14:m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)을 찾는 것으로 만족도가 최고가 되는 순간, 주황색 상자는 바다를 피하고 실제 육지(데이터)만을 완벽하게 감싸게 됨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blipFill>
                <a:blip r:embed="rId3"/>
                <a:stretch>
                  <a:fillRect l="-886" r="-1329" b="-1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540660" y="4612423"/>
            <a:ext cx="5020103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956701" y="6160573"/>
            <a:ext cx="4181475" cy="4308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D2257-5915-78B3-970F-F6773368766B}"/>
              </a:ext>
            </a:extLst>
          </p:cNvPr>
          <p:cNvSpPr txBox="1"/>
          <p:nvPr/>
        </p:nvSpPr>
        <p:spPr>
          <a:xfrm>
            <a:off x="5943600" y="4621127"/>
            <a:ext cx="5616427" cy="13519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Naïve Bayes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단순한 독립성 가정만으로는 복잡한 데이터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구조를 올바르게 생성할 수 없으며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 간 복잡한 관계를 파악하는 고도화된 딥러닝 생성 모델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(VAE, GAN, Diffusion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57089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0A49-558C-DAB7-A6AF-FB24D9FC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992EC2-DA75-6D1C-7D08-36449C043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Hypothesis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03E4D5C-4FB9-C36D-D163-29B2AB72C91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BBDCECB-199D-C241-C104-34488E1B3D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FC2306-D2D9-619B-F95D-1E33A8C3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240" y="2411552"/>
            <a:ext cx="7254869" cy="4092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CFD65B-9FB0-2AB8-4933-8B927B2186F6}"/>
              </a:ext>
            </a:extLst>
          </p:cNvPr>
          <p:cNvSpPr txBox="1"/>
          <p:nvPr/>
        </p:nvSpPr>
        <p:spPr>
          <a:xfrm>
            <a:off x="536036" y="1210322"/>
            <a:ext cx="11484514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과학에서는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공간의 현실 세계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음성 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무작위로 분포하지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훨씬 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주변에 집중되어 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b="0" u="none" strike="noStrike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매니폴드</a:t>
            </a:r>
            <a:r>
              <a:rPr lang="ko-KR" altLang="en-US" b="0" u="none" strike="noStrike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가설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기본 전제</a:t>
            </a:r>
          </a:p>
        </p:txBody>
      </p:sp>
    </p:spTree>
    <p:extLst>
      <p:ext uri="{BB962C8B-B14F-4D97-AF65-F5344CB8AC3E}">
        <p14:creationId xmlns:p14="http://schemas.microsoft.com/office/powerpoint/2010/main" val="17443597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19813</TotalTime>
  <Words>2869</Words>
  <Application>Microsoft Office PowerPoint</Application>
  <PresentationFormat>와이드스크린</PresentationFormat>
  <Paragraphs>313</Paragraphs>
  <Slides>43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1" baseType="lpstr">
      <vt:lpstr>D2Coding</vt:lpstr>
      <vt:lpstr>맑은 고딕</vt:lpstr>
      <vt:lpstr>바탕</vt:lpstr>
      <vt:lpstr>Arial</vt:lpstr>
      <vt:lpstr>Cambria Math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Gaussian Naïve Bayes classifier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278</cp:revision>
  <dcterms:created xsi:type="dcterms:W3CDTF">2026-04-06T01:00:39Z</dcterms:created>
  <dcterms:modified xsi:type="dcterms:W3CDTF">2026-10-02T21:23:54Z</dcterms:modified>
  <cp:version/>
</cp:coreProperties>
</file>