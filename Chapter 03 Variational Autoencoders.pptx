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9"/>
  </p:notesMasterIdLst>
  <p:handoutMasterIdLst>
    <p:handoutMasterId r:id="rId50"/>
  </p:handoutMasterIdLst>
  <p:sldIdLst>
    <p:sldId id="256" r:id="rId2"/>
    <p:sldId id="1264" r:id="rId3"/>
    <p:sldId id="1385" r:id="rId4"/>
    <p:sldId id="1386" r:id="rId5"/>
    <p:sldId id="1387" r:id="rId6"/>
    <p:sldId id="1388" r:id="rId7"/>
    <p:sldId id="1361" r:id="rId8"/>
    <p:sldId id="1352" r:id="rId9"/>
    <p:sldId id="1353" r:id="rId10"/>
    <p:sldId id="1348" r:id="rId11"/>
    <p:sldId id="1350" r:id="rId12"/>
    <p:sldId id="1382" r:id="rId13"/>
    <p:sldId id="1383" r:id="rId14"/>
    <p:sldId id="1363" r:id="rId15"/>
    <p:sldId id="1384" r:id="rId16"/>
    <p:sldId id="1355" r:id="rId17"/>
    <p:sldId id="1364" r:id="rId18"/>
    <p:sldId id="1360" r:id="rId19"/>
    <p:sldId id="1349" r:id="rId20"/>
    <p:sldId id="1377" r:id="rId21"/>
    <p:sldId id="1351" r:id="rId22"/>
    <p:sldId id="1358" r:id="rId23"/>
    <p:sldId id="1357" r:id="rId24"/>
    <p:sldId id="1366" r:id="rId25"/>
    <p:sldId id="1391" r:id="rId26"/>
    <p:sldId id="1381" r:id="rId27"/>
    <p:sldId id="1378" r:id="rId28"/>
    <p:sldId id="1380" r:id="rId29"/>
    <p:sldId id="1379" r:id="rId30"/>
    <p:sldId id="1390" r:id="rId31"/>
    <p:sldId id="1367" r:id="rId32"/>
    <p:sldId id="1187" r:id="rId33"/>
    <p:sldId id="1189" r:id="rId34"/>
    <p:sldId id="1186" r:id="rId35"/>
    <p:sldId id="1188" r:id="rId36"/>
    <p:sldId id="1389" r:id="rId37"/>
    <p:sldId id="1370" r:id="rId38"/>
    <p:sldId id="1368" r:id="rId39"/>
    <p:sldId id="1369" r:id="rId40"/>
    <p:sldId id="1371" r:id="rId41"/>
    <p:sldId id="1372" r:id="rId42"/>
    <p:sldId id="1374" r:id="rId43"/>
    <p:sldId id="940" r:id="rId44"/>
    <p:sldId id="939" r:id="rId45"/>
    <p:sldId id="1375" r:id="rId46"/>
    <p:sldId id="935" r:id="rId47"/>
    <p:sldId id="296" r:id="rId48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264"/>
            <p14:sldId id="1385"/>
            <p14:sldId id="1386"/>
            <p14:sldId id="1387"/>
            <p14:sldId id="1388"/>
            <p14:sldId id="1361"/>
            <p14:sldId id="1352"/>
            <p14:sldId id="1353"/>
            <p14:sldId id="1348"/>
            <p14:sldId id="1350"/>
            <p14:sldId id="1382"/>
            <p14:sldId id="1383"/>
            <p14:sldId id="1363"/>
            <p14:sldId id="1384"/>
            <p14:sldId id="1355"/>
            <p14:sldId id="1364"/>
            <p14:sldId id="1360"/>
            <p14:sldId id="1349"/>
            <p14:sldId id="1377"/>
            <p14:sldId id="1351"/>
            <p14:sldId id="1358"/>
            <p14:sldId id="1357"/>
            <p14:sldId id="1366"/>
            <p14:sldId id="1391"/>
            <p14:sldId id="1381"/>
            <p14:sldId id="1378"/>
            <p14:sldId id="1380"/>
            <p14:sldId id="1379"/>
            <p14:sldId id="1390"/>
            <p14:sldId id="1367"/>
            <p14:sldId id="1187"/>
            <p14:sldId id="1189"/>
            <p14:sldId id="1186"/>
            <p14:sldId id="1188"/>
            <p14:sldId id="1389"/>
            <p14:sldId id="1370"/>
            <p14:sldId id="1368"/>
            <p14:sldId id="1369"/>
            <p14:sldId id="1371"/>
            <p14:sldId id="1372"/>
            <p14:sldId id="1374"/>
            <p14:sldId id="940"/>
            <p14:sldId id="939"/>
            <p14:sldId id="1375"/>
            <p14:sldId id="935"/>
            <p14:sldId id="296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404040"/>
    <a:srgbClr val="DD462F"/>
    <a:srgbClr val="FF9B45"/>
    <a:srgbClr val="D24726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-2832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2026-10-03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2026-10-03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4DB1D-5767-AB01-45A8-8B41E20BD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3899255-041A-1C86-2BDC-C772E1A04E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8AD1D7-1DC7-B501-5BD8-89436C874F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F313DC-3EB2-01AD-3BDF-9E23FA2EC1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1765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717C5-BD86-E7FB-D920-0A8D4B598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0DDA7C-EFE3-AC54-729A-12FCC7C954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D80622-AD1A-641C-03EA-74C952F82A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569706-0294-EC13-076B-3E1F40EC0A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25996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4A99F-D7D6-1A49-2DD7-CEF403FF5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1E8F317-59A0-E357-5ABE-6CD4F84FA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87644C1-623D-0002-EE6B-4DDAB4D30D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E4369C-D800-0CBF-3157-32F21CB06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39628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8CF00-EFBF-713B-0EA1-C963FEC4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FF9DC9-F46F-03F8-6C50-C0BAFAF69D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8409A49-A4F9-7552-D1E9-92EBF08516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CECF0F-5EE4-483A-BD59-D40E5ED0C12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15349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E0BDD-A942-8947-AB32-E4342C81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AA5E4B-3CAE-96C2-D4DD-DB632240F8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3ED4513-7D32-59D9-CC27-AB7E5A265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EB02C2-6278-F8D8-AD74-65294B9355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82482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43BFA-777A-741D-D80B-62A300B436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F98D2A7-8357-0E05-2BE2-3E220FD6A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139219-D8B0-2C35-2042-8AB37C904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DF4762-4050-A888-E458-23282B9CD5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0049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8FF2D-ED84-4609-F49F-C7737B70C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1D0AA1A-D7BB-1D92-FF6A-19C0319B92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6400CB-03FB-E51D-43A0-1E89DC930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2EC20B-F944-FA71-6C49-3464C5D105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74873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72862-1A4B-6638-993F-A73E43F1F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5BAB6C-AACF-CC7E-6FD7-3AFC1F995C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7C40492-4359-487E-09E0-50D4949108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7D5469-4301-F37A-C47B-C09F7641B5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575183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B6E9C-298D-1C21-FFCB-59F150E3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0258BF-50F4-8940-FC2C-5D9817A42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6BB5E7-CE10-0917-3EE7-C326E7AEBE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89CEAA-B5DD-5A80-EEDD-584BC294B0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1693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A1DFF-B1CB-D074-2A32-2BEB0E50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42E236-F301-84AA-346A-C49A97B645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1BCC40-A8D7-89AD-154A-41A945C235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CE1682-0203-80CE-6796-B834EA3B12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65098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E415E-8B44-1DBF-87D1-383CE6FF6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1726C8-A4CA-4791-A278-2B3BDC1EF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3E6F32-BACA-53F1-947F-3723994FD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5F70F2-B462-852F-2EAA-C77B092D5E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33089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2026-10-03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10/3/2026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2026-10-03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ancestor9/2026_Fall_Deep-Learning-with-Python/blob/main/scripts/Art_gallery_exhibition.ipynb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github.com/ancestor9/2026_Fall_Deep-Learning-with-Python/blob/main/scripts/Art_gallery_exhibition.ipynb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posts/2018-08-12-vae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geeksforgeeks.org/deep-learning/types-of-autoencoders/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2026_Fall_AI-Literacy/blob/main/vae_art%20exhibition_explanation.pdf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2026_Fall_AI-Literacy/blob/main/vae_art%20exhibition_explanation.pdf" TargetMode="External"/><Relationship Id="rId4" Type="http://schemas.openxmlformats.org/officeDocument/2006/relationships/hyperlink" Target="https://transcranial.github.io/keras-js/#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tensorflow.org/tutorials/generative/cvae?hl=ko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transcranial.github.io/keras-js/#/mnist-vae" TargetMode="Externa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transcranial.github.io/keras-js/#/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Variational_autoencoder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litwinp2006/understanding-variational-autoencoders-vaes-from-scratch-439073f864d0" TargetMode="Externa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microsoft.com/office/2007/relationships/hdphoto" Target="../media/hdphoto2.wdp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keras.io/examples/timeseries/timeseries_anomaly_detection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github.com/ancestor9/AI-with-python" TargetMode="Externa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0.png"/><Relationship Id="rId2" Type="http://schemas.openxmlformats.org/officeDocument/2006/relationships/image" Target="../media/image3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5.png"/><Relationship Id="rId4" Type="http://schemas.openxmlformats.org/officeDocument/2006/relationships/hyperlink" Target="https://gregorygundersen.com/blog/2021/04/16/variational-inference/" TargetMode="Externa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jakevdp.github.io/PythonDataScienceHandbook/05.09-principal-component-analysis.html" TargetMode="External"/><Relationship Id="rId4" Type="http://schemas.openxmlformats.org/officeDocument/2006/relationships/image" Target="../media/image6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akevdp.github.io/PythonDataScienceHandbook/05.10-manifold-learning.html" TargetMode="Externa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Generative Deep Learning</a:t>
            </a:r>
            <a:b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Teaching Machines to Paint, Write, Compose, and Play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85264-DAF7-E028-936A-3E39FB0AE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C317C8E-BF00-9996-5D78-F73C973977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Autoencoders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0AAD77-2BE3-B651-D9E7-0AADA229A2B1}"/>
              </a:ext>
            </a:extLst>
          </p:cNvPr>
          <p:cNvSpPr txBox="1"/>
          <p:nvPr/>
        </p:nvSpPr>
        <p:spPr>
          <a:xfrm>
            <a:off x="2502417" y="1771466"/>
            <a:ext cx="6981307" cy="1543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AutoEncoder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200000"/>
              </a:lnSpc>
              <a:spcAft>
                <a:spcPts val="600"/>
              </a:spcAft>
              <a:buFont typeface="+mj-lt"/>
              <a:buAutoNum type="arabicPeriod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Variational </a:t>
            </a:r>
            <a:r>
              <a:rPr lang="en-US" altLang="ko-KR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AutoEncoder</a:t>
            </a:r>
            <a:endParaRPr lang="en-US" altLang="ko-KR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CF4B8AC-C92D-256F-22B9-1BCA3A48E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200" y="1583297"/>
            <a:ext cx="2832666" cy="3753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ABF1DF-F364-FC6B-B631-1FB3134DF963}"/>
              </a:ext>
            </a:extLst>
          </p:cNvPr>
          <p:cNvSpPr txBox="1"/>
          <p:nvPr/>
        </p:nvSpPr>
        <p:spPr>
          <a:xfrm>
            <a:off x="591709" y="1691187"/>
            <a:ext cx="1789416" cy="461665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2400" cap="none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Chapter 3 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2123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F60BB-F2F3-C449-7672-A4067D39E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85CA4D-5B26-30D0-4AF1-CE89D56A9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Art</a:t>
            </a:r>
            <a:r>
              <a:rPr lang="ko-KR" altLang="en-US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Exhibition Gallery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3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PCA/AE/VAE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20476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211C2-49C0-7DCF-218F-8E8D99ED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0A70C16-CB73-169D-BDB0-55BDE6D987E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PCA/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tsne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Art Exhibition Gallery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E37819-A302-7822-1156-D408B94F1DEC}"/>
              </a:ext>
            </a:extLst>
          </p:cNvPr>
          <p:cNvSpPr txBox="1"/>
          <p:nvPr/>
        </p:nvSpPr>
        <p:spPr>
          <a:xfrm>
            <a:off x="590550" y="1333500"/>
            <a:ext cx="3057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Art_gallery_exhibition.ipynb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09C1F4-2FA8-B969-1DAB-84EB667E28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463" y="1995258"/>
            <a:ext cx="5029456" cy="3976918"/>
          </a:xfrm>
          <a:prstGeom prst="rect">
            <a:avLst/>
          </a:prstGeom>
        </p:spPr>
      </p:pic>
      <p:cxnSp>
        <p:nvCxnSpPr>
          <p:cNvPr id="16" name="연결선: 구부러짐 15">
            <a:extLst>
              <a:ext uri="{FF2B5EF4-FFF2-40B4-BE49-F238E27FC236}">
                <a16:creationId xmlns:a16="http://schemas.microsoft.com/office/drawing/2014/main" id="{47BE82AA-5C80-E81C-2CDB-0713C2A440C0}"/>
              </a:ext>
            </a:extLst>
          </p:cNvPr>
          <p:cNvCxnSpPr>
            <a:cxnSpLocks/>
          </p:cNvCxnSpPr>
          <p:nvPr/>
        </p:nvCxnSpPr>
        <p:spPr>
          <a:xfrm rot="10800000">
            <a:off x="5105403" y="2952750"/>
            <a:ext cx="2392585" cy="357072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7946EBCD-89B3-EAE0-B51A-975BA49CCB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510" y="2430693"/>
            <a:ext cx="2318465" cy="2520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7892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E1295-E255-0D9D-410A-2E152EFEF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6FA0426-A9AD-5AE8-039F-FAD0B358FB1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AE/VAE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Art Exhibition Gallery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575789-AC2D-2E78-74A0-A2954596DAD6}"/>
              </a:ext>
            </a:extLst>
          </p:cNvPr>
          <p:cNvSpPr txBox="1"/>
          <p:nvPr/>
        </p:nvSpPr>
        <p:spPr>
          <a:xfrm>
            <a:off x="590550" y="1333500"/>
            <a:ext cx="30572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Art_gallery_exhibition.ipynb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F12F248-36AA-94AF-AC6D-168ED02874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525" y="1916330"/>
            <a:ext cx="5054361" cy="389392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704CE3D3-E456-6D73-C3F9-87197FE25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7506" y="4171883"/>
            <a:ext cx="2210325" cy="220413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A1FB8F04-5C12-6A38-D09A-EDB7D2E389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7436" y="1502278"/>
            <a:ext cx="2225233" cy="2415749"/>
          </a:xfrm>
          <a:prstGeom prst="rect">
            <a:avLst/>
          </a:prstGeom>
        </p:spPr>
      </p:pic>
      <p:cxnSp>
        <p:nvCxnSpPr>
          <p:cNvPr id="17" name="연결선: 구부러짐 16">
            <a:extLst>
              <a:ext uri="{FF2B5EF4-FFF2-40B4-BE49-F238E27FC236}">
                <a16:creationId xmlns:a16="http://schemas.microsoft.com/office/drawing/2014/main" id="{0AE833B4-6068-3864-6FD0-E57E9CD23C3D}"/>
              </a:ext>
            </a:extLst>
          </p:cNvPr>
          <p:cNvCxnSpPr>
            <a:cxnSpLocks/>
            <a:stCxn id="15" idx="1"/>
          </p:cNvCxnSpPr>
          <p:nvPr/>
        </p:nvCxnSpPr>
        <p:spPr>
          <a:xfrm rot="10800000">
            <a:off x="4752976" y="2524125"/>
            <a:ext cx="3314461" cy="18602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0F1AD380-BBA0-CEE9-B1F3-2BDB439139C3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>
            <a:off x="4752976" y="2537274"/>
            <a:ext cx="4434531" cy="273667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5003CBE-C933-B638-65BB-EE2C213CCE05}"/>
              </a:ext>
            </a:extLst>
          </p:cNvPr>
          <p:cNvSpPr txBox="1"/>
          <p:nvPr/>
        </p:nvSpPr>
        <p:spPr>
          <a:xfrm>
            <a:off x="6172868" y="4525821"/>
            <a:ext cx="2714625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b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Variational Autoencoder(VAE) </a:t>
            </a:r>
            <a:endParaRPr lang="ko-KR" altLang="en-US" sz="14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D3E02D-1CC7-AE97-53C8-BEB81F76921D}"/>
              </a:ext>
            </a:extLst>
          </p:cNvPr>
          <p:cNvSpPr txBox="1"/>
          <p:nvPr/>
        </p:nvSpPr>
        <p:spPr>
          <a:xfrm>
            <a:off x="6215917" y="2309361"/>
            <a:ext cx="1508648" cy="307777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sz="14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Autoencoder(AE) </a:t>
            </a:r>
            <a:endParaRPr lang="ko-KR" altLang="en-US" sz="14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16564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8A9B1-D3D1-AB3C-95F2-150544073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38EFE55-5AA5-DD78-AEC5-DE4E16F5900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Generative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Model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62345A4E-C2B6-AD6E-452B-8B253A12C8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774938"/>
              </p:ext>
            </p:extLst>
          </p:nvPr>
        </p:nvGraphicFramePr>
        <p:xfrm>
          <a:off x="1363907" y="2930877"/>
          <a:ext cx="9682656" cy="3323904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2420664">
                  <a:extLst>
                    <a:ext uri="{9D8B030D-6E8A-4147-A177-3AD203B41FA5}">
                      <a16:colId xmlns:a16="http://schemas.microsoft.com/office/drawing/2014/main" val="1811906136"/>
                    </a:ext>
                  </a:extLst>
                </a:gridCol>
                <a:gridCol w="2435254">
                  <a:extLst>
                    <a:ext uri="{9D8B030D-6E8A-4147-A177-3AD203B41FA5}">
                      <a16:colId xmlns:a16="http://schemas.microsoft.com/office/drawing/2014/main" val="2975113743"/>
                    </a:ext>
                  </a:extLst>
                </a:gridCol>
                <a:gridCol w="2406074">
                  <a:extLst>
                    <a:ext uri="{9D8B030D-6E8A-4147-A177-3AD203B41FA5}">
                      <a16:colId xmlns:a16="http://schemas.microsoft.com/office/drawing/2014/main" val="32500849"/>
                    </a:ext>
                  </a:extLst>
                </a:gridCol>
                <a:gridCol w="2420664">
                  <a:extLst>
                    <a:ext uri="{9D8B030D-6E8A-4147-A177-3AD203B41FA5}">
                      <a16:colId xmlns:a16="http://schemas.microsoft.com/office/drawing/2014/main" val="2163249633"/>
                    </a:ext>
                  </a:extLst>
                </a:gridCol>
              </a:tblGrid>
              <a:tr h="17512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6305" marR="66305" marT="33152" marB="33152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PCA</a:t>
                      </a:r>
                    </a:p>
                  </a:txBody>
                  <a:tcPr marL="66305" marR="66305" marT="33152" marB="33152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Autoencoder</a:t>
                      </a:r>
                    </a:p>
                  </a:txBody>
                  <a:tcPr marL="66305" marR="66305" marT="33152" marB="33152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VAE</a:t>
                      </a:r>
                    </a:p>
                  </a:txBody>
                  <a:tcPr marL="66305" marR="66305" marT="33152" marB="33152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8157018"/>
                  </a:ext>
                </a:extLst>
              </a:tr>
              <a:tr h="1751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확률분포 모델링</a:t>
                      </a:r>
                    </a:p>
                  </a:txBody>
                  <a:tcPr marL="66305" marR="66305" marT="33152" marB="331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✗</a:t>
                      </a:r>
                    </a:p>
                  </a:txBody>
                  <a:tcPr marL="66305" marR="66305" marT="33152" marB="331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✗</a:t>
                      </a:r>
                    </a:p>
                  </a:txBody>
                  <a:tcPr marL="66305" marR="66305" marT="33152" marB="331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sz="16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✓ (p(x|z), p(z))</a:t>
                      </a:r>
                    </a:p>
                  </a:txBody>
                  <a:tcPr marL="66305" marR="66305" marT="33152" marB="33152" anchor="ctr"/>
                </a:tc>
                <a:extLst>
                  <a:ext uri="{0D108BD9-81ED-4DB2-BD59-A6C34878D82A}">
                    <a16:rowId xmlns:a16="http://schemas.microsoft.com/office/drawing/2014/main" val="1248920218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latent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공간 정규화</a:t>
                      </a:r>
                    </a:p>
                  </a:txBody>
                  <a:tcPr marL="66305" marR="66305" marT="33152" marB="331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✗</a:t>
                      </a:r>
                    </a:p>
                  </a:txBody>
                  <a:tcPr marL="66305" marR="66305" marT="33152" marB="331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✗</a:t>
                      </a:r>
                    </a:p>
                  </a:txBody>
                  <a:tcPr marL="66305" marR="66305" marT="33152" marB="331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✓ (KL divergence)</a:t>
                      </a:r>
                    </a:p>
                  </a:txBody>
                  <a:tcPr marL="66305" marR="66305" marT="33152" marB="33152" anchor="ctr"/>
                </a:tc>
                <a:extLst>
                  <a:ext uri="{0D108BD9-81ED-4DB2-BD59-A6C34878D82A}">
                    <a16:rowId xmlns:a16="http://schemas.microsoft.com/office/drawing/2014/main" val="2209006846"/>
                  </a:ext>
                </a:extLst>
              </a:tr>
              <a:tr h="2381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임의의 점 디코딩 결과</a:t>
                      </a:r>
                    </a:p>
                  </a:txBody>
                  <a:tcPr marL="66305" marR="66305" marT="33152" marB="331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선형 재구성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구멍 많음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algn="ctr">
                        <a:buNone/>
                      </a:pP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>
                        <a:buNone/>
                      </a:pP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>
                        <a:buNone/>
                      </a:pP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>
                        <a:buNone/>
                      </a:pP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>
                        <a:buNone/>
                      </a:pP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6305" marR="66305" marT="33152" marB="331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재구성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구멍 많음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  <a:p>
                      <a:pPr algn="ctr">
                        <a:buNone/>
                      </a:pP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>
                        <a:buNone/>
                      </a:pP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>
                        <a:buNone/>
                      </a:pP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>
                        <a:buNone/>
                      </a:pP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>
                        <a:buNone/>
                      </a:pP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6305" marR="66305" marT="33152" marB="331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부드럽고 그럴듯함</a:t>
                      </a: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>
                        <a:buNone/>
                      </a:pP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>
                        <a:buNone/>
                      </a:pP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>
                        <a:buNone/>
                      </a:pP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>
                        <a:buNone/>
                      </a:pP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 algn="ctr">
                        <a:buNone/>
                      </a:pPr>
                      <a:endParaRPr lang="ko-KR" altLang="en-US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66305" marR="66305" marT="33152" marB="33152" anchor="ctr"/>
                </a:tc>
                <a:extLst>
                  <a:ext uri="{0D108BD9-81ED-4DB2-BD59-A6C34878D82A}">
                    <a16:rowId xmlns:a16="http://schemas.microsoft.com/office/drawing/2014/main" val="931120398"/>
                  </a:ext>
                </a:extLst>
              </a:tr>
              <a:tr h="31280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새 샘플 생성</a:t>
                      </a:r>
                      <a:endParaRPr lang="en-US" altLang="ko-KR" sz="1600" dirty="0"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  <a:p>
                      <a:pPr>
                        <a:buNone/>
                      </a:pP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altLang="ko-KR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z~prior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샘플링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66305" marR="66305" marT="33152" marB="331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의미 없음</a:t>
                      </a:r>
                    </a:p>
                  </a:txBody>
                  <a:tcPr marL="66305" marR="66305" marT="33152" marB="331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의미 없음</a:t>
                      </a:r>
                    </a:p>
                  </a:txBody>
                  <a:tcPr marL="66305" marR="66305" marT="33152" marB="331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가능</a:t>
                      </a:r>
                    </a:p>
                  </a:txBody>
                  <a:tcPr marL="66305" marR="66305" marT="33152" marB="33152" anchor="ctr"/>
                </a:tc>
                <a:extLst>
                  <a:ext uri="{0D108BD9-81ED-4DB2-BD59-A6C34878D82A}">
                    <a16:rowId xmlns:a16="http://schemas.microsoft.com/office/drawing/2014/main" val="3759067281"/>
                  </a:ext>
                </a:extLst>
              </a:tr>
              <a:tr h="183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Generative model </a:t>
                      </a:r>
                      <a:r>
                        <a:rPr lang="ko-KR" altLang="en-US" sz="16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분류</a:t>
                      </a:r>
                    </a:p>
                  </a:txBody>
                  <a:tcPr marL="66305" marR="66305" marT="33152" marB="331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아니오</a:t>
                      </a:r>
                    </a:p>
                  </a:txBody>
                  <a:tcPr marL="66305" marR="66305" marT="33152" marB="331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 err="1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아니오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보통</a:t>
                      </a:r>
                      <a:r>
                        <a:rPr lang="en-US" altLang="ko-KR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</a:p>
                  </a:txBody>
                  <a:tcPr marL="66305" marR="66305" marT="33152" marB="3315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예</a:t>
                      </a:r>
                    </a:p>
                  </a:txBody>
                  <a:tcPr marL="66305" marR="66305" marT="33152" marB="33152" anchor="ctr"/>
                </a:tc>
                <a:extLst>
                  <a:ext uri="{0D108BD9-81ED-4DB2-BD59-A6C34878D82A}">
                    <a16:rowId xmlns:a16="http://schemas.microsoft.com/office/drawing/2014/main" val="8213042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74ED7B7-DD0D-6721-F103-A6A2F55BB7BC}"/>
              </a:ext>
            </a:extLst>
          </p:cNvPr>
          <p:cNvSpPr txBox="1"/>
          <p:nvPr/>
        </p:nvSpPr>
        <p:spPr>
          <a:xfrm>
            <a:off x="542320" y="1206788"/>
            <a:ext cx="11040080" cy="1531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빈 공간에 뭔가 넣었을 때 출력이 나오느냐가 아니라 데이터의 확률분포를 모델링해서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그럴듯한 새로운 샘플을 생성할 수 있는가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의 판단기준이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Generative model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여부를 결정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PCA/AE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는 빈 공간에서 대체로 흐릿하거나 애매한 결과가 나오고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VAE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만 상대적으로 자연스러운 결과가 나오는 것을 비교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D58448A-B63A-71DF-8F77-D9BDB85A8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2694" y="4232227"/>
            <a:ext cx="1060500" cy="108073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3DD3DAE-4015-56D4-3922-90CFB6A201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461" y="4232227"/>
            <a:ext cx="1071002" cy="1080739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1F0DC01-AC7D-B77B-2C74-4CFD3FC557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8087" y="4194127"/>
            <a:ext cx="1139888" cy="1139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15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AE45B-DED7-1C98-3C49-D10799CCA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E92FD1-6FA2-73C5-E656-2734EE17C2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AutoEncoder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75128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06F2B-CE90-D579-2B88-0A5E99C04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F8CA659-6149-EDE3-2FD5-523267A87FF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EFE7053-F270-ACA7-0EE4-A7134C61EA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808164"/>
            <a:ext cx="8848725" cy="4122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9417FF-04F4-0DD8-35F5-0BB01AE0AB91}"/>
              </a:ext>
            </a:extLst>
          </p:cNvPr>
          <p:cNvSpPr txBox="1"/>
          <p:nvPr/>
        </p:nvSpPr>
        <p:spPr>
          <a:xfrm>
            <a:off x="1524000" y="6006685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https://lilianweng.github.io/posts/2018-08-12-vae/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7943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955C9-5FA3-824C-2018-F1AE5DBC2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92444F5-6D20-4CA4-41CD-0088D7CED38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320060-A4EA-2828-D79C-3EE57139181F}"/>
              </a:ext>
            </a:extLst>
          </p:cNvPr>
          <p:cNvSpPr txBox="1"/>
          <p:nvPr/>
        </p:nvSpPr>
        <p:spPr>
          <a:xfrm>
            <a:off x="2604526" y="606824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https://www.geeksforgeeks.org/deep-learning/types-of-autoencoders/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  <p:sp>
        <p:nvSpPr>
          <p:cNvPr id="5" name="AutoShape 2" descr="nueral">
            <a:extLst>
              <a:ext uri="{FF2B5EF4-FFF2-40B4-BE49-F238E27FC236}">
                <a16:creationId xmlns:a16="http://schemas.microsoft.com/office/drawing/2014/main" id="{91714E5F-61DB-E17F-BC52-BE9F4E4401A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50ED493-D3B6-5B03-31D9-27588704B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540" y="1786711"/>
            <a:ext cx="6683319" cy="4122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903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0C018-C331-172A-A555-8604B962D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861B91D-B889-BEB6-7723-5ABB6248063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7FEBD0-5EDE-31E7-2F29-210E26D58478}"/>
              </a:ext>
            </a:extLst>
          </p:cNvPr>
          <p:cNvSpPr txBox="1"/>
          <p:nvPr/>
        </p:nvSpPr>
        <p:spPr>
          <a:xfrm>
            <a:off x="723900" y="1532662"/>
            <a:ext cx="10105508" cy="477053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from models.AE import Autoencoder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# Autoencoder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모델 객체 생성 및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하이퍼파라미터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설정</a:t>
            </a:r>
          </a:p>
          <a:p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AE = Autoencoder(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input_dim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(28, 28, 1),            		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입력 이미지 크기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(28x28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흑백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[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인코더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압축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(28x28 -&gt; 14x14 -&gt; 7x7)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encoder_conv_filters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[32, 64, 64, 64],  	# Conv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레이어별 필터 수</a:t>
            </a:r>
          </a:p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encoder_conv_kernel_size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[3, 3, 3, 3],  	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커널 크기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(3x3)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encoder_conv_strides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[1, 2, 2, 1],      	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이동 간격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(stride 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크기 반감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# [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디코더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]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이미지 복원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(7x7 -&gt; 14x14 -&gt; 28x28)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decoder_conv_t_filters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[64, 64, 32, 1], 	# Transpose Conv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필터 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마지막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1=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채널수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decoder_conv_t_kernel_size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[3, 3, 3, 3],	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커널 크기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(3x3)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decoder_conv_t_strides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[1, 2, 2, 1],    	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이동 간격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(stride 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크기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  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z_dim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= 2                           		#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잠재 공간 차원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(784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-&gt; 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 압축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44191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E9819-0512-F067-9BF6-612981028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E6FD6F3-76C0-30A7-F618-AD74CD8622B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Autoencoders 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FA70F1-3665-6564-E646-A739528F7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924" y="2009633"/>
            <a:ext cx="3934626" cy="389586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C6D46CB-2637-57D2-7777-183C3EFA70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661" y="2009634"/>
            <a:ext cx="4989880" cy="41419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D81DD2C-B118-2973-A071-6B96A83813AB}"/>
              </a:ext>
            </a:extLst>
          </p:cNvPr>
          <p:cNvSpPr txBox="1"/>
          <p:nvPr/>
        </p:nvSpPr>
        <p:spPr>
          <a:xfrm>
            <a:off x="3162300" y="6006685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40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등간격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DF13746-632B-D734-460B-675C920C1A4E}"/>
              </a:ext>
            </a:extLst>
          </p:cNvPr>
          <p:cNvSpPr txBox="1"/>
          <p:nvPr/>
        </p:nvSpPr>
        <p:spPr>
          <a:xfrm>
            <a:off x="475645" y="3900417"/>
            <a:ext cx="11721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40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등간격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2F92E4B-6233-1808-1251-2D124A50C420}"/>
              </a:ext>
            </a:extLst>
          </p:cNvPr>
          <p:cNvCxnSpPr/>
          <p:nvPr/>
        </p:nvCxnSpPr>
        <p:spPr>
          <a:xfrm>
            <a:off x="6562725" y="3900417"/>
            <a:ext cx="9429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9FCF750-92CC-6DC4-A8BE-E8127B0261C1}"/>
              </a:ext>
            </a:extLst>
          </p:cNvPr>
          <p:cNvSpPr txBox="1"/>
          <p:nvPr/>
        </p:nvSpPr>
        <p:spPr>
          <a:xfrm>
            <a:off x="6468674" y="4208194"/>
            <a:ext cx="1172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40,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40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67739C-31BF-CA70-BA90-296E4375840E}"/>
              </a:ext>
            </a:extLst>
          </p:cNvPr>
          <p:cNvSpPr txBox="1"/>
          <p:nvPr/>
        </p:nvSpPr>
        <p:spPr>
          <a:xfrm>
            <a:off x="7812924" y="6006685"/>
            <a:ext cx="43140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일부 데이터는 수자라고 볼 수가 없음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(Discrete)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F1BDFFC1-E2F2-CD91-A7B1-AB8CCA6D2D7F}"/>
              </a:ext>
            </a:extLst>
          </p:cNvPr>
          <p:cNvSpPr/>
          <p:nvPr/>
        </p:nvSpPr>
        <p:spPr>
          <a:xfrm>
            <a:off x="9220200" y="2072640"/>
            <a:ext cx="1112520" cy="967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7A9038-0763-C939-AF63-B7E745D551F1}"/>
              </a:ext>
            </a:extLst>
          </p:cNvPr>
          <p:cNvSpPr/>
          <p:nvPr/>
        </p:nvSpPr>
        <p:spPr>
          <a:xfrm>
            <a:off x="2740351" y="3112889"/>
            <a:ext cx="1112520" cy="96774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5033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67A5D-65F3-CC35-B404-4E45F48C0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07618FF-8FD0-6445-18C7-0DF65B87DD5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Autoencoders 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0DE1FF1-81FF-E700-E2A9-EE44DCF895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222" y="1837476"/>
            <a:ext cx="3687781" cy="43588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C26CFAF-86D2-7811-ABB1-6D9A8230B803}"/>
              </a:ext>
            </a:extLst>
          </p:cNvPr>
          <p:cNvSpPr txBox="1"/>
          <p:nvPr/>
        </p:nvSpPr>
        <p:spPr>
          <a:xfrm>
            <a:off x="3697397" y="695925"/>
            <a:ext cx="60251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vae_art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 exhibition_explanation.pdf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51CD087-5C75-DE34-4191-5F89A8A24E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151" y="1837476"/>
            <a:ext cx="4282049" cy="43588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F05786E-6BB3-3FB1-7F95-E7CA77962979}"/>
              </a:ext>
            </a:extLst>
          </p:cNvPr>
          <p:cNvSpPr txBox="1"/>
          <p:nvPr/>
        </p:nvSpPr>
        <p:spPr>
          <a:xfrm>
            <a:off x="6385951" y="1485034"/>
            <a:ext cx="3438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Some poorly generated images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B31CDD-457B-72E7-8E65-67D12983C91D}"/>
              </a:ext>
            </a:extLst>
          </p:cNvPr>
          <p:cNvSpPr txBox="1"/>
          <p:nvPr/>
        </p:nvSpPr>
        <p:spPr>
          <a:xfrm>
            <a:off x="1447800" y="1485034"/>
            <a:ext cx="34385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Some good generated images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D00EA6-F24E-6E98-93F4-45BF324CE073}"/>
              </a:ext>
            </a:extLst>
          </p:cNvPr>
          <p:cNvSpPr txBox="1"/>
          <p:nvPr/>
        </p:nvSpPr>
        <p:spPr>
          <a:xfrm>
            <a:off x="3337951" y="6210181"/>
            <a:ext cx="47201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The latent space of the VAE colored by digit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69816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941FA-B84D-C6FD-65F8-79F80D5C9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9A877FF-BBE4-726E-EBFF-F3451BC7773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Discrete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vs.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Continuous Function 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DCDC91B5-EA99-28F5-7DAB-371DF1837F0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2A27CA0-1CD2-3E90-00A5-FDC4216D2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067" y="2008449"/>
            <a:ext cx="9736046" cy="4056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8212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CA4201-27AF-9D64-86CC-1F1C8A380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C13BD-8CB8-F992-F86A-1EB798A7D9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Variational </a:t>
            </a:r>
            <a:r>
              <a:rPr lang="en-US" altLang="ko-KR" sz="5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AutoEncoder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62005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0C018-C331-172A-A555-8604B962D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861B91D-B889-BEB6-7723-5ABB6248063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CFC523-F3D5-6D54-6389-FEC7A7FFB851}"/>
              </a:ext>
            </a:extLst>
          </p:cNvPr>
          <p:cNvSpPr txBox="1"/>
          <p:nvPr/>
        </p:nvSpPr>
        <p:spPr>
          <a:xfrm>
            <a:off x="776904" y="1957405"/>
            <a:ext cx="4628473" cy="40011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altLang="ko-KR" sz="2000" cap="none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Chapter </a:t>
            </a:r>
            <a:r>
              <a:rPr lang="en-US" altLang="ko-KR" sz="2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3 Variational Autoencoders </a:t>
            </a:r>
            <a:endParaRPr lang="ko-KR" altLang="en-US" sz="20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C61A134-D460-C5F8-B1A5-E99BA2119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47" y="2510537"/>
            <a:ext cx="3338308" cy="394575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47AF8AA-260E-3A50-2AC2-5A2D3CB7F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270" y="2510537"/>
            <a:ext cx="3424079" cy="39835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B2B4069-C66E-5224-CD18-C35247A47007}"/>
              </a:ext>
            </a:extLst>
          </p:cNvPr>
          <p:cNvSpPr txBox="1"/>
          <p:nvPr/>
        </p:nvSpPr>
        <p:spPr>
          <a:xfrm>
            <a:off x="7286624" y="1606107"/>
            <a:ext cx="45053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Keras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JS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b="1" dirty="0">
                <a:latin typeface="D2Coding" panose="020B0609020101020101" pitchFamily="49" charset="-127"/>
                <a:ea typeface="D2Coding" panose="020B0609020101020101" pitchFamily="49" charset="-127"/>
              </a:rPr>
              <a:t>사이트</a:t>
            </a:r>
            <a:endParaRPr lang="en-US" altLang="ko-KR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en-US" altLang="ko-KR" b="1" dirty="0" err="1"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vae_art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hlinkClick r:id="rId5"/>
              </a:rPr>
              <a:t> exhibition_explanation.pdf</a:t>
            </a:r>
            <a:endParaRPr lang="ko-KR" altLang="en-US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65941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342E9-6C38-FA32-18FB-153823A85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8C3F9A7-C49B-E541-7644-11CE24E2158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8DC8903-EAF5-B143-ACD9-9B7BD1BE9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44" y="1922558"/>
            <a:ext cx="7696613" cy="36748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C19082-8F36-05E1-CB3C-7EE63D024883}"/>
              </a:ext>
            </a:extLst>
          </p:cNvPr>
          <p:cNvSpPr txBox="1"/>
          <p:nvPr/>
        </p:nvSpPr>
        <p:spPr>
          <a:xfrm>
            <a:off x="585019" y="5724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The latent space of the VAE colored by digit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Picture 2" descr="png">
            <a:extLst>
              <a:ext uri="{FF2B5EF4-FFF2-40B4-BE49-F238E27FC236}">
                <a16:creationId xmlns:a16="http://schemas.microsoft.com/office/drawing/2014/main" id="{78473249-EDD1-2EFD-4360-A70EF2C792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9344" y="1988345"/>
            <a:ext cx="3409950" cy="3409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E299D1-F29D-E264-DC97-66606A457604}"/>
              </a:ext>
            </a:extLst>
          </p:cNvPr>
          <p:cNvSpPr txBox="1"/>
          <p:nvPr/>
        </p:nvSpPr>
        <p:spPr>
          <a:xfrm>
            <a:off x="8519344" y="5398295"/>
            <a:ext cx="21082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Generative/</a:t>
            </a:r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cvae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4553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5FEF5-617C-D3EC-5F92-DCB77404B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64A5BB0-CE71-790E-4ED7-E088E146AF8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Art Exhibition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5F89A81-3A70-D6E7-3F1F-E5A1D600F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84" y="2040082"/>
            <a:ext cx="8550381" cy="39779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B05E78-6A83-AA7D-BB3A-777326A65F39}"/>
              </a:ext>
            </a:extLst>
          </p:cNvPr>
          <p:cNvSpPr txBox="1"/>
          <p:nvPr/>
        </p:nvSpPr>
        <p:spPr>
          <a:xfrm>
            <a:off x="475645" y="1600200"/>
            <a:ext cx="6532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Convolutional Variational Autoencoder, trained on MNIST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F92648-BA8C-EB45-4CF1-D020CB3CF871}"/>
              </a:ext>
            </a:extLst>
          </p:cNvPr>
          <p:cNvSpPr txBox="1"/>
          <p:nvPr/>
        </p:nvSpPr>
        <p:spPr>
          <a:xfrm>
            <a:off x="592084" y="6088617"/>
            <a:ext cx="45053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Keras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JS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실습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사이트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42476831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09516-21E9-348C-3C75-0C0D62998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CFE18E0-5B17-FE87-AF9F-7D5AE232EC5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15A6743-67F3-498A-6A7B-D286FE652D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53" y="1483553"/>
            <a:ext cx="4313294" cy="4892464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78DA0AB-083D-F17B-9BF3-539604C1E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6267" y="2481180"/>
            <a:ext cx="4553140" cy="18683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2C20C81-978F-7EA5-11A7-8EBF6E12D6A3}"/>
              </a:ext>
            </a:extLst>
          </p:cNvPr>
          <p:cNvSpPr txBox="1"/>
          <p:nvPr/>
        </p:nvSpPr>
        <p:spPr>
          <a:xfrm>
            <a:off x="6315637" y="4629835"/>
            <a:ext cx="44744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The difference between the encoder in an autoencoder and a variational autoencoder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732321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22660-74B4-FE78-8B0A-9B358B4A3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FF8BA2-223F-DC99-8585-2020CEF24F2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57D4F87D-2936-DD67-37DB-C1CB04996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2389" y="1781175"/>
            <a:ext cx="8400521" cy="362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D07041-F708-055B-2873-633BE94652C6}"/>
              </a:ext>
            </a:extLst>
          </p:cNvPr>
          <p:cNvSpPr txBox="1"/>
          <p:nvPr/>
        </p:nvSpPr>
        <p:spPr>
          <a:xfrm>
            <a:off x="1762389" y="5604399"/>
            <a:ext cx="572464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https://en.wikipedia.org/wiki/Variational_autoencoder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AutoShape 4" descr="{\displaystyle x}">
            <a:extLst>
              <a:ext uri="{FF2B5EF4-FFF2-40B4-BE49-F238E27FC236}">
                <a16:creationId xmlns:a16="http://schemas.microsoft.com/office/drawing/2014/main" id="{80A9288D-F49A-F7E1-D5AB-7AB58C22176E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3894138" y="-190182"/>
            <a:ext cx="15240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AutoShape 5" descr="{\displaystyle {x'}}">
            <a:extLst>
              <a:ext uri="{FF2B5EF4-FFF2-40B4-BE49-F238E27FC236}">
                <a16:creationId xmlns:a16="http://schemas.microsoft.com/office/drawing/2014/main" id="{73A30D27-E89B-7E4F-D331-8C037EA76C95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2719050" y="-190182"/>
            <a:ext cx="15240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{\displaystyle x}">
            <a:extLst>
              <a:ext uri="{FF2B5EF4-FFF2-40B4-BE49-F238E27FC236}">
                <a16:creationId xmlns:a16="http://schemas.microsoft.com/office/drawing/2014/main" id="{717A3B35-33CF-1D73-05C5-CD756F95813B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4535150" y="-190182"/>
            <a:ext cx="15240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02118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12224-2CF6-01C8-921F-61545FCA4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DC6DCCA-6712-13C1-8E72-AA7FE403A08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AutoShape 4" descr="{\displaystyle x}">
            <a:extLst>
              <a:ext uri="{FF2B5EF4-FFF2-40B4-BE49-F238E27FC236}">
                <a16:creationId xmlns:a16="http://schemas.microsoft.com/office/drawing/2014/main" id="{01647269-D6E0-C149-E21A-8CCFC6653156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3894138" y="-190182"/>
            <a:ext cx="15240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AutoShape 5" descr="{\displaystyle {x'}}">
            <a:extLst>
              <a:ext uri="{FF2B5EF4-FFF2-40B4-BE49-F238E27FC236}">
                <a16:creationId xmlns:a16="http://schemas.microsoft.com/office/drawing/2014/main" id="{4C0C9A2C-24BA-4516-8AA1-3DFC8862D023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2719050" y="-190182"/>
            <a:ext cx="15240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AutoShape 6" descr="{\displaystyle x}">
            <a:extLst>
              <a:ext uri="{FF2B5EF4-FFF2-40B4-BE49-F238E27FC236}">
                <a16:creationId xmlns:a16="http://schemas.microsoft.com/office/drawing/2014/main" id="{9A979A12-FF09-51C2-510E-816F9D2132C1}"/>
              </a:ext>
            </a:extLst>
          </p:cNvPr>
          <p:cNvSpPr>
            <a:spLocks noChangeAspect="1" noChangeArrowheads="1"/>
          </p:cNvSpPr>
          <p:nvPr/>
        </p:nvSpPr>
        <p:spPr bwMode="auto">
          <a:xfrm flipV="1">
            <a:off x="14535150" y="-190182"/>
            <a:ext cx="152400" cy="4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E72851DB-A449-0AF4-B8B5-EC8DD53903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537" y="2080434"/>
            <a:ext cx="8902730" cy="2697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1522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314EA-D872-2165-B417-661EEBB64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8FBADAB-8924-014C-10EA-F8650E69D9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Autoencoders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074" name="Picture 2" descr="Understanding Variational Autoencoders (VAEs) From Scratch | by Paweł  Litwin | Medium">
            <a:extLst>
              <a:ext uri="{FF2B5EF4-FFF2-40B4-BE49-F238E27FC236}">
                <a16:creationId xmlns:a16="http://schemas.microsoft.com/office/drawing/2014/main" id="{F278E4DD-BCA4-2F4F-4D40-C30BFA3DA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257" y="1755775"/>
            <a:ext cx="8868293" cy="411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E837F3-F60A-B5F9-34E5-0CAACE71F20D}"/>
              </a:ext>
            </a:extLst>
          </p:cNvPr>
          <p:cNvSpPr txBox="1"/>
          <p:nvPr/>
        </p:nvSpPr>
        <p:spPr>
          <a:xfrm>
            <a:off x="1247257" y="5897702"/>
            <a:ext cx="828675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https://medium.com/@litwinp2006/understanding-variational-autoencoders-vaes-from-scratch-439073f864d0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37450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C9950-8B20-FB27-23EA-7F1F00CEE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344EAE5-E862-E316-A22E-E0C08FAA410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Probability Generation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4A110CBC-175E-E049-269F-E6FCDFE2A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5411" y="2343227"/>
            <a:ext cx="5685589" cy="421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AE4F7934-F1AD-B4F1-17D8-0CAC6E94D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546" y="3866760"/>
            <a:ext cx="4167172" cy="569614"/>
          </a:xfrm>
          <a:prstGeom prst="rect">
            <a:avLst/>
          </a:prstGeom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3133C57F-BCEA-EE67-AF28-CB71D0342E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737" y="1248422"/>
            <a:ext cx="11087618" cy="74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파란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빨강색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점들의 구름(분포)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생성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(Generation)</a:t>
            </a:r>
            <a:r>
              <a:rPr kumimoji="0" lang="ko-KR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en-US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매 실행 시 확률변수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epsilon이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새로 뽑히면서, 고정된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중심점mu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주위에 확률변수 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z가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타원형 구름 모양으로 퍼져서 형성되는 모습을 확인</a:t>
            </a:r>
          </a:p>
        </p:txBody>
      </p:sp>
    </p:spTree>
    <p:extLst>
      <p:ext uri="{BB962C8B-B14F-4D97-AF65-F5344CB8AC3E}">
        <p14:creationId xmlns:p14="http://schemas.microsoft.com/office/powerpoint/2010/main" val="32020131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53E598-0C4A-B0DD-57AD-9E78BF3BB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8024365-8F4C-537F-00C4-68A98B80A93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Inference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id="{D5D096CE-CB85-5114-3B09-1269B7F289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770" y="2491271"/>
            <a:ext cx="8830280" cy="3639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3DAC6B8-2E2E-2068-71DB-217A1D87D9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11280" y="2964151"/>
            <a:ext cx="2522439" cy="6629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C2300F-372F-E39F-9AED-3EFA616C4855}"/>
              </a:ext>
            </a:extLst>
          </p:cNvPr>
          <p:cNvSpPr txBox="1"/>
          <p:nvPr/>
        </p:nvSpPr>
        <p:spPr>
          <a:xfrm>
            <a:off x="604837" y="1192090"/>
            <a:ext cx="11377613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비대칭적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이봉형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목표 분포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p(x)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다루기 쉬운 단일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가우시안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분포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q(x)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근사하는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변분추론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(Variational Inference)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과정</a:t>
            </a:r>
          </a:p>
        </p:txBody>
      </p:sp>
    </p:spTree>
    <p:extLst>
      <p:ext uri="{BB962C8B-B14F-4D97-AF65-F5344CB8AC3E}">
        <p14:creationId xmlns:p14="http://schemas.microsoft.com/office/powerpoint/2010/main" val="9835544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C3C6E-4685-B978-1759-5F251A91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>
            <a:extLst>
              <a:ext uri="{FF2B5EF4-FFF2-40B4-BE49-F238E27FC236}">
                <a16:creationId xmlns:a16="http://schemas.microsoft.com/office/drawing/2014/main" id="{0D3BCA73-BF83-0D20-F7F3-8F3E80548E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299" y="2390667"/>
            <a:ext cx="10509564" cy="3829158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ECAE5EF4-DCF0-ABA5-8D05-DF1FA343413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Variational Inference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1771DB-DDD0-F797-AB5A-28E1C5BCF7B7}"/>
              </a:ext>
            </a:extLst>
          </p:cNvPr>
          <p:cNvSpPr txBox="1"/>
          <p:nvPr/>
        </p:nvSpPr>
        <p:spPr>
          <a:xfrm>
            <a:off x="604837" y="1192090"/>
            <a:ext cx="1098232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실제로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비대칭적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이봉형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목표 분포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p(x)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단일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가우시안을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 하는 대신 혼합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가우시안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(mixture) variational family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사용하여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q(x)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근사하는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변분추론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(Variational Inference)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과정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6037A59-AE5A-4D4A-9F36-0E9E7061B4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112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00718" y="3307063"/>
            <a:ext cx="3619814" cy="396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2129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AE5B3-1A78-A996-7E41-07BAE1EE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AB4BE-5274-D605-EB3B-1F0EC30803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Anomaly Detection with AE, VAE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3392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99333-73CE-BB31-0BD2-CBD390E43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F4F3051-92D8-549A-D274-C22C510ECE8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Practice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Convolutional Autoencoder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A24271-33E7-74D6-47A4-A4CE436008BF}"/>
              </a:ext>
            </a:extLst>
          </p:cNvPr>
          <p:cNvSpPr txBox="1"/>
          <p:nvPr/>
        </p:nvSpPr>
        <p:spPr>
          <a:xfrm>
            <a:off x="561975" y="1390619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 err="1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Timeseries_anomaly_detection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8674" name="Picture 2" descr="png">
            <a:extLst>
              <a:ext uri="{FF2B5EF4-FFF2-40B4-BE49-F238E27FC236}">
                <a16:creationId xmlns:a16="http://schemas.microsoft.com/office/drawing/2014/main" id="{C2C98C34-52E5-5611-B6EA-87D0ADC17B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7134" y="1561751"/>
            <a:ext cx="5715000" cy="4814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래픽 4" descr="본문 작성기">
            <a:extLst>
              <a:ext uri="{FF2B5EF4-FFF2-40B4-BE49-F238E27FC236}">
                <a16:creationId xmlns:a16="http://schemas.microsoft.com/office/drawing/2014/main" id="{C82E35D8-6752-158C-9F54-4BEAC76B14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48457" y="334022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03785F-22DE-3CB4-9674-1CB3A288B863}"/>
              </a:ext>
            </a:extLst>
          </p:cNvPr>
          <p:cNvSpPr txBox="1"/>
          <p:nvPr/>
        </p:nvSpPr>
        <p:spPr>
          <a:xfrm>
            <a:off x="561975" y="1932926"/>
            <a:ext cx="4162425" cy="2644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공식 예제 튜토리얼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Code Examples)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"Timeseries anomaly detection using an Autoencoder"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코드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400">
                <a:latin typeface="D2Coding" panose="020B0609020101020101" pitchFamily="49" charset="-127"/>
                <a:ea typeface="D2Coding" panose="020B0609020101020101" pitchFamily="49" charset="-127"/>
              </a:rPr>
              <a:t>Keras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창시자인 프랑소와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숄레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(François Chollet)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및 공식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기여진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(Pavithra Vijay)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제작한 이 공식 예제 코드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국내외 수많은 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딥러닝</a:t>
            </a:r>
            <a:r>
              <a:rPr lang="en-US" altLang="ko-KR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b="1" dirty="0">
                <a:latin typeface="D2Coding" panose="020B0609020101020101" pitchFamily="49" charset="-127"/>
                <a:ea typeface="D2Coding" panose="020B0609020101020101" pitchFamily="49" charset="-127"/>
              </a:rPr>
              <a:t>시계열 교재 및 인강 강의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시계열 이상 탐지의 표준 예제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FB4535-EB17-BF93-971E-E63D5E01C0C6}"/>
              </a:ext>
            </a:extLst>
          </p:cNvPr>
          <p:cNvSpPr txBox="1"/>
          <p:nvPr/>
        </p:nvSpPr>
        <p:spPr>
          <a:xfrm>
            <a:off x="561975" y="614888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  <a:hlinkClick r:id="rId6"/>
              </a:rPr>
              <a:t>AI-with-python</a:t>
            </a:r>
            <a:endParaRPr lang="ko-KR" altLang="en-US" sz="18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29494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B13F0-E02B-1045-51FB-989F0FE719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B9B3B85-5E52-9230-DD95-4F3B089BF0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Practice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Convolutional Autoencoder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래픽 4" descr="본문 작성기">
            <a:extLst>
              <a:ext uri="{FF2B5EF4-FFF2-40B4-BE49-F238E27FC236}">
                <a16:creationId xmlns:a16="http://schemas.microsoft.com/office/drawing/2014/main" id="{B0D8A624-4058-8026-A73F-C5213C059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8457" y="334022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4D28E1-77DA-DB1C-B399-F4CF67311ED3}"/>
              </a:ext>
            </a:extLst>
          </p:cNvPr>
          <p:cNvSpPr txBox="1"/>
          <p:nvPr/>
        </p:nvSpPr>
        <p:spPr>
          <a:xfrm>
            <a:off x="581543" y="1913206"/>
            <a:ext cx="5343007" cy="460959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keras.Sequential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[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layers.Input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(shape=(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x_train.shape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[1], 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		      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x_train.shape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[2])),</a:t>
            </a:r>
          </a:p>
          <a:p>
            <a:pPr>
              <a:lnSpc>
                <a:spcPts val="1575"/>
              </a:lnSpc>
              <a:buNone/>
            </a:pP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layers.Conv1D(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filters=32,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=7,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padding="same",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strides=2,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activation="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),</a:t>
            </a:r>
          </a:p>
          <a:p>
            <a:pPr>
              <a:lnSpc>
                <a:spcPts val="1575"/>
              </a:lnSpc>
              <a:buNone/>
            </a:pPr>
            <a:endParaRPr lang="en-US" altLang="ko-KR" sz="16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layers.Dropout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(rate=0.2),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layers.Conv1D(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filters=16,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=7,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padding="same",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strides=2,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    activation="</a:t>
            </a:r>
            <a:r>
              <a:rPr lang="en-US" altLang="ko-KR" sz="16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6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),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587B2E-C0D6-A7A1-9B0C-FF100E202028}"/>
              </a:ext>
            </a:extLst>
          </p:cNvPr>
          <p:cNvSpPr txBox="1"/>
          <p:nvPr/>
        </p:nvSpPr>
        <p:spPr>
          <a:xfrm>
            <a:off x="6239394" y="1916412"/>
            <a:ext cx="5371063" cy="4609595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layers.Conv1DTranspose(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filters=16,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=7,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padding="same",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strides=2,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),</a:t>
            </a:r>
          </a:p>
          <a:p>
            <a:pPr>
              <a:lnSpc>
                <a:spcPts val="1575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layers.Dropout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(rate=0.2),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layers.Conv1DTranspose(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filters=32,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=7,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padding="same",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strides=2,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    activation="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),</a:t>
            </a:r>
          </a:p>
          <a:p>
            <a:pPr>
              <a:lnSpc>
                <a:spcPts val="1575"/>
              </a:lnSpc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layers.Conv1DTranspose(filters=1, 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		 	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kernel_size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=7, 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			padding="same"),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    ]</a:t>
            </a:r>
          </a:p>
          <a:p>
            <a:pPr>
              <a:lnSpc>
                <a:spcPts val="1575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7E28F6-6F3B-6339-FB54-A19DE95E7877}"/>
              </a:ext>
            </a:extLst>
          </p:cNvPr>
          <p:cNvSpPr txBox="1"/>
          <p:nvPr/>
        </p:nvSpPr>
        <p:spPr>
          <a:xfrm>
            <a:off x="581544" y="1539508"/>
            <a:ext cx="5343006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Encoder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46B48A-D1C5-50CB-84C8-297D8286B0A5}"/>
              </a:ext>
            </a:extLst>
          </p:cNvPr>
          <p:cNvSpPr txBox="1"/>
          <p:nvPr/>
        </p:nvSpPr>
        <p:spPr>
          <a:xfrm>
            <a:off x="6239394" y="1539508"/>
            <a:ext cx="5371062" cy="36933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Decoder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설명선: 굽은 선(강조선) 12">
            <a:extLst>
              <a:ext uri="{FF2B5EF4-FFF2-40B4-BE49-F238E27FC236}">
                <a16:creationId xmlns:a16="http://schemas.microsoft.com/office/drawing/2014/main" id="{308A29D8-42FB-A163-C36A-816498E63113}"/>
              </a:ext>
            </a:extLst>
          </p:cNvPr>
          <p:cNvSpPr/>
          <p:nvPr/>
        </p:nvSpPr>
        <p:spPr>
          <a:xfrm>
            <a:off x="4476189" y="4901536"/>
            <a:ext cx="1448362" cy="1365914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5915"/>
              <a:gd name="adj6" fmla="val -56125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latent space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는 </a:t>
            </a:r>
            <a:r>
              <a:rPr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하나의 벡터가 아니라</a:t>
            </a:r>
            <a:r>
              <a:rPr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길이 </a:t>
            </a:r>
            <a:r>
              <a:rPr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72</a:t>
            </a:r>
            <a:r>
              <a:rPr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채널이 </a:t>
            </a:r>
            <a:r>
              <a:rPr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16</a:t>
            </a:r>
            <a:r>
              <a:rPr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개인 </a:t>
            </a:r>
            <a:r>
              <a:rPr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압축된 시계열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설명선: 굽은 선(강조선) 13">
            <a:extLst>
              <a:ext uri="{FF2B5EF4-FFF2-40B4-BE49-F238E27FC236}">
                <a16:creationId xmlns:a16="http://schemas.microsoft.com/office/drawing/2014/main" id="{ED45ED6C-1852-7EF6-E8A7-1274E84A36E2}"/>
              </a:ext>
            </a:extLst>
          </p:cNvPr>
          <p:cNvSpPr/>
          <p:nvPr/>
        </p:nvSpPr>
        <p:spPr>
          <a:xfrm>
            <a:off x="10581476" y="4568161"/>
            <a:ext cx="1448362" cy="762000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98716"/>
              <a:gd name="adj6" fmla="val -59413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출력층은 입력층과 </a:t>
            </a:r>
            <a:r>
              <a:rPr lang="en-US" altLang="ko-KR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Shape</a:t>
            </a:r>
            <a:r>
              <a:rPr lang="ko-KR" altLang="en-US" sz="1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을 동일하게</a:t>
            </a:r>
          </a:p>
        </p:txBody>
      </p:sp>
    </p:spTree>
    <p:extLst>
      <p:ext uri="{BB962C8B-B14F-4D97-AF65-F5344CB8AC3E}">
        <p14:creationId xmlns:p14="http://schemas.microsoft.com/office/powerpoint/2010/main" val="103748793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36D88-C1CA-BF53-8737-A03D35454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66EA9ED-3BE8-3158-F384-BE6C03C3AF9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Practice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Convolutional AE Architecture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래픽 4" descr="본문 작성기">
            <a:extLst>
              <a:ext uri="{FF2B5EF4-FFF2-40B4-BE49-F238E27FC236}">
                <a16:creationId xmlns:a16="http://schemas.microsoft.com/office/drawing/2014/main" id="{680B2082-522F-4E2E-7475-A7CFF4C097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8457" y="334022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A00F8E4-F30B-7862-BFA9-DF406D1B76F9}"/>
              </a:ext>
            </a:extLst>
          </p:cNvPr>
          <p:cNvSpPr txBox="1"/>
          <p:nvPr/>
        </p:nvSpPr>
        <p:spPr>
          <a:xfrm>
            <a:off x="581024" y="1221695"/>
            <a:ext cx="11306175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정상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(art_daily_small_noise.csv)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 학습하여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VAE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모델을 생성한 후 비정상이 포함된 검증데이터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(art_daily_jumpsup.csv)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anomaly detection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91444C0-1E52-282D-D219-BCC4181FED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136095"/>
            <a:ext cx="8472488" cy="4104450"/>
          </a:xfrm>
          <a:prstGeom prst="rect">
            <a:avLst/>
          </a:prstGeom>
          <a:ln>
            <a:solidFill>
              <a:schemeClr val="tx1"/>
            </a:solidFill>
            <a:prstDash val="dashDot"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41B9BB-08D6-63FF-9A9C-EE7278F16C75}"/>
              </a:ext>
            </a:extLst>
          </p:cNvPr>
          <p:cNvSpPr txBox="1"/>
          <p:nvPr/>
        </p:nvSpPr>
        <p:spPr>
          <a:xfrm>
            <a:off x="1600200" y="6240545"/>
            <a:ext cx="10153650" cy="340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딥러닝에서는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데이터셋이 크고 학습 시간이 오래 걸려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cross validation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보다 이런 단순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hold-out validation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을 더 많이 사용하는 편</a:t>
            </a:r>
          </a:p>
        </p:txBody>
      </p:sp>
      <p:sp>
        <p:nvSpPr>
          <p:cNvPr id="19" name="정육면체 18">
            <a:extLst>
              <a:ext uri="{FF2B5EF4-FFF2-40B4-BE49-F238E27FC236}">
                <a16:creationId xmlns:a16="http://schemas.microsoft.com/office/drawing/2014/main" id="{AC804EDE-1FB5-CBF1-CCB8-64A31BA24516}"/>
              </a:ext>
            </a:extLst>
          </p:cNvPr>
          <p:cNvSpPr/>
          <p:nvPr/>
        </p:nvSpPr>
        <p:spPr>
          <a:xfrm>
            <a:off x="4495800" y="2967037"/>
            <a:ext cx="704850" cy="676275"/>
          </a:xfrm>
          <a:prstGeom prst="cube">
            <a:avLst>
              <a:gd name="adj" fmla="val 613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정육면체 20">
            <a:extLst>
              <a:ext uri="{FF2B5EF4-FFF2-40B4-BE49-F238E27FC236}">
                <a16:creationId xmlns:a16="http://schemas.microsoft.com/office/drawing/2014/main" id="{378638D7-8948-6023-18C9-92ABBB253661}"/>
              </a:ext>
            </a:extLst>
          </p:cNvPr>
          <p:cNvSpPr/>
          <p:nvPr/>
        </p:nvSpPr>
        <p:spPr>
          <a:xfrm>
            <a:off x="7715250" y="2959684"/>
            <a:ext cx="438150" cy="423862"/>
          </a:xfrm>
          <a:prstGeom prst="cube">
            <a:avLst>
              <a:gd name="adj" fmla="val 411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정육면체 22">
            <a:extLst>
              <a:ext uri="{FF2B5EF4-FFF2-40B4-BE49-F238E27FC236}">
                <a16:creationId xmlns:a16="http://schemas.microsoft.com/office/drawing/2014/main" id="{7931667B-05C6-2529-B4FB-7F238F0D38F4}"/>
              </a:ext>
            </a:extLst>
          </p:cNvPr>
          <p:cNvSpPr/>
          <p:nvPr/>
        </p:nvSpPr>
        <p:spPr>
          <a:xfrm>
            <a:off x="3790950" y="4568073"/>
            <a:ext cx="704850" cy="676275"/>
          </a:xfrm>
          <a:prstGeom prst="cube">
            <a:avLst>
              <a:gd name="adj" fmla="val 6136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정육면체 23">
            <a:extLst>
              <a:ext uri="{FF2B5EF4-FFF2-40B4-BE49-F238E27FC236}">
                <a16:creationId xmlns:a16="http://schemas.microsoft.com/office/drawing/2014/main" id="{A669FE07-F482-7E8A-22FE-EEA5144FB6A6}"/>
              </a:ext>
            </a:extLst>
          </p:cNvPr>
          <p:cNvSpPr/>
          <p:nvPr/>
        </p:nvSpPr>
        <p:spPr>
          <a:xfrm>
            <a:off x="7715250" y="4585617"/>
            <a:ext cx="438150" cy="423862"/>
          </a:xfrm>
          <a:prstGeom prst="cube">
            <a:avLst>
              <a:gd name="adj" fmla="val 411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EBEC9FA2-F303-ACE8-52B7-D83E2D5F5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17" y="2223338"/>
            <a:ext cx="762066" cy="73158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A7165BC-7077-DD3B-B581-3D4C9E46D7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22198" y="5474106"/>
            <a:ext cx="739204" cy="701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1639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ECE87-9257-2EED-1CDA-6480E7856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53E320D-289B-E17E-45A7-54F6084F4BF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Practice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: Convolutional Autoencoder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래픽 4" descr="본문 작성기">
            <a:extLst>
              <a:ext uri="{FF2B5EF4-FFF2-40B4-BE49-F238E27FC236}">
                <a16:creationId xmlns:a16="http://schemas.microsoft.com/office/drawing/2014/main" id="{0231E0B4-E138-7B27-AEBB-EA43C8FAC2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8457" y="334022"/>
            <a:ext cx="914400" cy="9144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4919DB8-1339-CA54-4BDD-88FE727E0F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112" y="2987810"/>
            <a:ext cx="4263374" cy="322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AF84FAF4-A80E-B4AB-E15B-13298B3F2D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3177" y="2982038"/>
            <a:ext cx="4360439" cy="326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42A78F-426F-10FC-E766-D9BDD5DF4644}"/>
              </a:ext>
            </a:extLst>
          </p:cNvPr>
          <p:cNvSpPr txBox="1"/>
          <p:nvPr/>
        </p:nvSpPr>
        <p:spPr>
          <a:xfrm>
            <a:off x="609435" y="1356112"/>
            <a:ext cx="5229389" cy="1333507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Get train MAE loss.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x_train_pred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model.predict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train_mae_loss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np.mean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np.abs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x_train_pred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x_train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), axis=1)</a:t>
            </a:r>
            <a:b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</a:br>
            <a:endParaRPr lang="en-US" altLang="ko-KR" sz="1200" b="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Get reconstruction loss threshold.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threshold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np.max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train_mae_loss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ADC89C-DB58-1B49-0480-50765D5E3E62}"/>
              </a:ext>
            </a:extLst>
          </p:cNvPr>
          <p:cNvSpPr txBox="1"/>
          <p:nvPr/>
        </p:nvSpPr>
        <p:spPr>
          <a:xfrm>
            <a:off x="6353177" y="1356112"/>
            <a:ext cx="5353050" cy="1518236"/>
          </a:xfrm>
          <a:prstGeom prst="rect">
            <a:avLst/>
          </a:prstGeom>
          <a:solidFill>
            <a:srgbClr val="76E3FF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Get test MAE loss.</a:t>
            </a:r>
          </a:p>
          <a:p>
            <a:pPr>
              <a:lnSpc>
                <a:spcPts val="1575"/>
              </a:lnSpc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x_test_pred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model.predict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x_test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ts val="1575"/>
              </a:lnSpc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test_mae_loss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np.mean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np.abs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x_test_pred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-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x_test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), axis=1)</a:t>
            </a:r>
          </a:p>
          <a:p>
            <a:pPr>
              <a:lnSpc>
                <a:spcPts val="1575"/>
              </a:lnSpc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test_mae_loss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=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test_mae_loss.reshape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((-1))</a:t>
            </a:r>
          </a:p>
          <a:p>
            <a:pPr>
              <a:lnSpc>
                <a:spcPts val="1575"/>
              </a:lnSpc>
            </a:pPr>
            <a:endParaRPr lang="en-US" altLang="ko-KR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ts val="1575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# Detect all the samples which are anomalies.</a:t>
            </a:r>
          </a:p>
          <a:p>
            <a:pPr>
              <a:lnSpc>
                <a:spcPts val="1575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anomalies =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test_mae_loss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&gt; threshold</a:t>
            </a:r>
          </a:p>
        </p:txBody>
      </p:sp>
      <p:sp>
        <p:nvSpPr>
          <p:cNvPr id="11" name="설명선: 굽은 선(강조선) 10">
            <a:extLst>
              <a:ext uri="{FF2B5EF4-FFF2-40B4-BE49-F238E27FC236}">
                <a16:creationId xmlns:a16="http://schemas.microsoft.com/office/drawing/2014/main" id="{CCB59811-CA04-C8B0-D176-D386A25CBC80}"/>
              </a:ext>
            </a:extLst>
          </p:cNvPr>
          <p:cNvSpPr/>
          <p:nvPr/>
        </p:nvSpPr>
        <p:spPr>
          <a:xfrm>
            <a:off x="5142658" y="4600575"/>
            <a:ext cx="1019736" cy="241964"/>
          </a:xfrm>
          <a:prstGeom prst="accentCallout2">
            <a:avLst>
              <a:gd name="adj1" fmla="val 18750"/>
              <a:gd name="adj2" fmla="val -8333"/>
              <a:gd name="adj3" fmla="val 62052"/>
              <a:gd name="adj4" fmla="val -19469"/>
              <a:gd name="adj5" fmla="val 496490"/>
              <a:gd name="adj6" fmla="val -38378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threshold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설명선: 굽은 선(강조선) 11">
            <a:extLst>
              <a:ext uri="{FF2B5EF4-FFF2-40B4-BE49-F238E27FC236}">
                <a16:creationId xmlns:a16="http://schemas.microsoft.com/office/drawing/2014/main" id="{171B9984-CC97-C2C6-25A5-CAFAF51820B0}"/>
              </a:ext>
            </a:extLst>
          </p:cNvPr>
          <p:cNvSpPr/>
          <p:nvPr/>
        </p:nvSpPr>
        <p:spPr>
          <a:xfrm>
            <a:off x="9029702" y="4600575"/>
            <a:ext cx="1019736" cy="241964"/>
          </a:xfrm>
          <a:prstGeom prst="accentCallout2">
            <a:avLst>
              <a:gd name="adj1" fmla="val 18750"/>
              <a:gd name="adj2" fmla="val -8333"/>
              <a:gd name="adj3" fmla="val 62052"/>
              <a:gd name="adj4" fmla="val -19469"/>
              <a:gd name="adj5" fmla="val 496490"/>
              <a:gd name="adj6" fmla="val -38378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threshold</a:t>
            </a:r>
            <a:endParaRPr lang="ko-KR" altLang="en-US" sz="12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31768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FCBF5-B3F7-3A5E-1F6F-64805A870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45BD8-205F-6055-3885-BCECF787C2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Appendix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773231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6B4A7-594F-3473-B64A-03185EB1F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2D2E02-3ABD-8B6F-A86C-4C0D1BFEAD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Probability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12214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45D91-9C64-D8DD-33C0-FC9A2C077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EEEB1C17-014A-FF01-AF1F-A0894F1D5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68" y="1738525"/>
            <a:ext cx="4475335" cy="439410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BF0442-71E6-C0FC-7507-BEFC5D075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CE3CD40-B7BE-E3D8-1C2A-3542393F98DB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Probability vs. Generalization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9841B33-D78F-9AF4-BA64-8F2A63BDC92F}"/>
              </a:ext>
            </a:extLst>
          </p:cNvPr>
          <p:cNvSpPr txBox="1"/>
          <p:nvPr/>
        </p:nvSpPr>
        <p:spPr>
          <a:xfrm>
            <a:off x="5595337" y="5987990"/>
            <a:ext cx="96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endParaRPr lang="ko-KR" altLang="en-US" sz="2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FE2804-4055-7400-111D-1D90FEBF98E1}"/>
              </a:ext>
            </a:extLst>
          </p:cNvPr>
          <p:cNvSpPr txBox="1"/>
          <p:nvPr/>
        </p:nvSpPr>
        <p:spPr>
          <a:xfrm>
            <a:off x="756854" y="1738525"/>
            <a:ext cx="96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endParaRPr lang="ko-KR" altLang="en-US" sz="2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FCE0FFF7-A3BD-636A-B60A-0EDA4451C1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305" y="1738524"/>
            <a:ext cx="5851203" cy="2193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4424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422A62-6B1C-01E5-50E0-D4A9130BA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그림 17">
            <a:extLst>
              <a:ext uri="{FF2B5EF4-FFF2-40B4-BE49-F238E27FC236}">
                <a16:creationId xmlns:a16="http://schemas.microsoft.com/office/drawing/2014/main" id="{55BF1173-7C5B-051C-8129-31AADB178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768" y="1738525"/>
            <a:ext cx="4475335" cy="4394100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97FBAE-02DE-0016-7D56-9CF94379F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458340D-3567-18E3-9A24-C8E5C616761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Probability vs. Generalization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075595-ACE9-921C-79EB-398E2F356FF0}"/>
              </a:ext>
            </a:extLst>
          </p:cNvPr>
          <p:cNvSpPr txBox="1"/>
          <p:nvPr/>
        </p:nvSpPr>
        <p:spPr>
          <a:xfrm>
            <a:off x="5595337" y="5987990"/>
            <a:ext cx="96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endParaRPr lang="ko-KR" altLang="en-US" sz="2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DAE168-F1BD-1E16-A4E6-5EAF975BD14D}"/>
              </a:ext>
            </a:extLst>
          </p:cNvPr>
          <p:cNvSpPr txBox="1"/>
          <p:nvPr/>
        </p:nvSpPr>
        <p:spPr>
          <a:xfrm>
            <a:off x="756854" y="1738525"/>
            <a:ext cx="96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endParaRPr lang="ko-KR" altLang="en-US" sz="2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FCA5F92-4157-0437-A65F-54B74DF8B5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785" y="1739567"/>
            <a:ext cx="2952351" cy="6218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E182BAAA-336E-EC32-4569-BB04D5035C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2784" y="2449094"/>
            <a:ext cx="3417133" cy="60225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64DF8A1-D1BD-AD01-D588-2A865D9CC6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82784" y="4821549"/>
            <a:ext cx="2952351" cy="587767"/>
          </a:xfrm>
          <a:prstGeom prst="rect">
            <a:avLst/>
          </a:prstGeom>
          <a:ln>
            <a:solidFill>
              <a:srgbClr val="FF0000"/>
            </a:solidFill>
          </a:ln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8A91AAB-D9B7-9A25-44AF-737BC103A0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2784" y="4185064"/>
            <a:ext cx="5299954" cy="565068"/>
          </a:xfrm>
          <a:prstGeom prst="rect">
            <a:avLst/>
          </a:prstGeom>
          <a:ln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22440895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2314C-9F84-3AA1-F681-2887D82FF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8835D0-A1E8-50C3-62D6-F6308809F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E916B40-CDD9-3202-9359-25ED88DAD66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Conditional Probability</a:t>
            </a: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83AFC284-E0C9-8D0F-BB33-625DC4B21EC0}"/>
              </a:ext>
            </a:extLst>
          </p:cNvPr>
          <p:cNvSpPr/>
          <p:nvPr/>
        </p:nvSpPr>
        <p:spPr>
          <a:xfrm>
            <a:off x="2763520" y="2194560"/>
            <a:ext cx="3048000" cy="3048000"/>
          </a:xfrm>
          <a:prstGeom prst="ellipse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75D8C56D-AECA-17B4-BBEA-C026764E69B0}"/>
              </a:ext>
            </a:extLst>
          </p:cNvPr>
          <p:cNvSpPr/>
          <p:nvPr/>
        </p:nvSpPr>
        <p:spPr>
          <a:xfrm>
            <a:off x="1305560" y="2853155"/>
            <a:ext cx="1925320" cy="192532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F9D4CA-6320-C7BD-2A96-943E42CFA202}"/>
              </a:ext>
            </a:extLst>
          </p:cNvPr>
          <p:cNvSpPr txBox="1"/>
          <p:nvPr/>
        </p:nvSpPr>
        <p:spPr>
          <a:xfrm>
            <a:off x="1595120" y="3537466"/>
            <a:ext cx="96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400A4F-D84D-5710-BFC1-0F0A076D6ECB}"/>
              </a:ext>
            </a:extLst>
          </p:cNvPr>
          <p:cNvSpPr txBox="1"/>
          <p:nvPr/>
        </p:nvSpPr>
        <p:spPr>
          <a:xfrm>
            <a:off x="3987800" y="3537466"/>
            <a:ext cx="965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1000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B2D34E-E300-05EA-68B5-8323E5B885C9}"/>
              </a:ext>
            </a:extLst>
          </p:cNvPr>
          <p:cNvSpPr txBox="1"/>
          <p:nvPr/>
        </p:nvSpPr>
        <p:spPr>
          <a:xfrm>
            <a:off x="2821940" y="3537466"/>
            <a:ext cx="6273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5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8E783AA-B05A-BA24-70E1-D34FBC2D11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5691" y="3429000"/>
            <a:ext cx="5635952" cy="1652206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0F82BFD-7FB1-044F-F0D3-768F47AA6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6692" y="2172050"/>
            <a:ext cx="2646988" cy="99404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89BC487-B59E-73FA-828C-6E812598EBDE}"/>
              </a:ext>
            </a:extLst>
          </p:cNvPr>
          <p:cNvSpPr txBox="1"/>
          <p:nvPr/>
        </p:nvSpPr>
        <p:spPr>
          <a:xfrm>
            <a:off x="1798320" y="1988960"/>
            <a:ext cx="96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endParaRPr lang="ko-KR" altLang="en-US" sz="2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943575-6D9C-1E70-DDAB-EF14AB9C1ACE}"/>
              </a:ext>
            </a:extLst>
          </p:cNvPr>
          <p:cNvSpPr txBox="1"/>
          <p:nvPr/>
        </p:nvSpPr>
        <p:spPr>
          <a:xfrm>
            <a:off x="4043988" y="1615440"/>
            <a:ext cx="96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endParaRPr lang="ko-KR" altLang="en-US" sz="24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709161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15283-46FA-36B0-B9A7-7A3D341E1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D8581F9-1378-1B2B-84D0-F3C2805F0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1DA7F153-8298-ED3E-5AAA-9644E5D7201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Generalization vs. Probability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770EA9-5D48-0DC3-A755-F6B94B0F80F1}"/>
              </a:ext>
            </a:extLst>
          </p:cNvPr>
          <p:cNvSpPr txBox="1"/>
          <p:nvPr/>
        </p:nvSpPr>
        <p:spPr>
          <a:xfrm>
            <a:off x="2914991" y="2363521"/>
            <a:ext cx="5475069" cy="192501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s-ES" altLang="ko-KR" sz="32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s-ES" altLang="ko-KR" sz="3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s-ES" altLang="ko-KR" sz="32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s-ES" altLang="ko-KR" sz="3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s-ES" altLang="ko-KR" sz="32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s-ES" altLang="ko-KR" sz="3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= </a:t>
            </a:r>
            <a:r>
              <a:rPr lang="es-ES" altLang="ko-KR" sz="32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s-ES" altLang="ko-KR" sz="3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s-ES" altLang="ko-KR" sz="32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s-ES" altLang="ko-KR" sz="3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)⋅</a:t>
            </a:r>
            <a:r>
              <a:rPr lang="es-ES" altLang="ko-KR" sz="32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s-ES" altLang="ko-KR" sz="3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s-ES" altLang="ko-KR" sz="32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s-ES" altLang="ko-KR" sz="3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∣</a:t>
            </a:r>
            <a:r>
              <a:rPr lang="es-ES" altLang="ko-KR" sz="32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s-ES" altLang="ko-KR" sz="3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algn="ctr">
              <a:lnSpc>
                <a:spcPct val="200000"/>
              </a:lnSpc>
            </a:pPr>
            <a:r>
              <a:rPr lang="es-ES" altLang="ko-KR" sz="3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= P(Y)⋅P(X∣Y)</a:t>
            </a:r>
          </a:p>
        </p:txBody>
      </p:sp>
    </p:spTree>
    <p:extLst>
      <p:ext uri="{BB962C8B-B14F-4D97-AF65-F5344CB8AC3E}">
        <p14:creationId xmlns:p14="http://schemas.microsoft.com/office/powerpoint/2010/main" val="34406730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684F0-8FEF-A587-39F0-EA2027807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48E9754-1273-876C-FC60-D0D63B748DD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Observations from Cosmos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7EFB2EC-B35C-BA84-4C96-E2DC351445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750" y="1522002"/>
            <a:ext cx="5220026" cy="350828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363B0C4-7C55-1548-6E7F-42BCA7864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4121759"/>
            <a:ext cx="5722921" cy="242847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ectangle 1">
            <a:extLst>
              <a:ext uri="{FF2B5EF4-FFF2-40B4-BE49-F238E27FC236}">
                <a16:creationId xmlns:a16="http://schemas.microsoft.com/office/drawing/2014/main" id="{221DEBD7-5F95-87F2-BACC-9A75318DF8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522002"/>
            <a:ext cx="5722921" cy="241380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l-G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θ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는 "신경망(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)이 가진 가중치(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Weight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)와 편향(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Bias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매개변수(</a:t>
            </a:r>
            <a:r>
              <a:rPr kumimoji="0" lang="ko-KR" altLang="ko-KR" sz="16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Parameter</a:t>
            </a:r>
            <a:r>
              <a:rPr kumimoji="0" lang="ko-KR" altLang="ko-K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일반 수학에서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정해진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고정 확률분포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신경망 기반 생성 모델에서는 가중치(</a:t>
            </a:r>
            <a:r>
              <a:rPr lang="el-G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θ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)가 학습 과정에서 매번 바뀌면서 확률 분포의 형태도 함께 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동</a:t>
            </a:r>
            <a:endParaRPr lang="ko-KR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따라서 "이 확률분포는 매개변수 </a:t>
            </a:r>
            <a:r>
              <a:rPr lang="el-G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θ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가진 신경망에 의해 </a:t>
            </a:r>
            <a:r>
              <a:rPr lang="ko-KR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결정된다"는</a:t>
            </a:r>
            <a:r>
              <a:rPr lang="ko-K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의미를 전달하기 위해 </a:t>
            </a:r>
            <a:r>
              <a:rPr lang="el-G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376456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31865-C44A-0055-3B39-581932089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4C4430C0-FE89-D3EA-92F3-A2A9FB30A540}"/>
              </a:ext>
            </a:extLst>
          </p:cNvPr>
          <p:cNvSpPr/>
          <p:nvPr/>
        </p:nvSpPr>
        <p:spPr>
          <a:xfrm>
            <a:off x="561382" y="1248422"/>
            <a:ext cx="5610817" cy="5380978"/>
          </a:xfrm>
          <a:custGeom>
            <a:avLst/>
            <a:gdLst>
              <a:gd name="connsiteX0" fmla="*/ 4895850 w 5010150"/>
              <a:gd name="connsiteY0" fmla="*/ 19050 h 4867275"/>
              <a:gd name="connsiteX1" fmla="*/ 4895850 w 5010150"/>
              <a:gd name="connsiteY1" fmla="*/ 19050 h 4867275"/>
              <a:gd name="connsiteX2" fmla="*/ 4762500 w 5010150"/>
              <a:gd name="connsiteY2" fmla="*/ 238125 h 4867275"/>
              <a:gd name="connsiteX3" fmla="*/ 4619625 w 5010150"/>
              <a:gd name="connsiteY3" fmla="*/ 533400 h 4867275"/>
              <a:gd name="connsiteX4" fmla="*/ 4524375 w 5010150"/>
              <a:gd name="connsiteY4" fmla="*/ 790575 h 4867275"/>
              <a:gd name="connsiteX5" fmla="*/ 4495800 w 5010150"/>
              <a:gd name="connsiteY5" fmla="*/ 876300 h 4867275"/>
              <a:gd name="connsiteX6" fmla="*/ 4514850 w 5010150"/>
              <a:gd name="connsiteY6" fmla="*/ 1190625 h 4867275"/>
              <a:gd name="connsiteX7" fmla="*/ 4533900 w 5010150"/>
              <a:gd name="connsiteY7" fmla="*/ 1343025 h 4867275"/>
              <a:gd name="connsiteX8" fmla="*/ 4543425 w 5010150"/>
              <a:gd name="connsiteY8" fmla="*/ 1419225 h 4867275"/>
              <a:gd name="connsiteX9" fmla="*/ 4562475 w 5010150"/>
              <a:gd name="connsiteY9" fmla="*/ 1714500 h 4867275"/>
              <a:gd name="connsiteX10" fmla="*/ 4572000 w 5010150"/>
              <a:gd name="connsiteY10" fmla="*/ 1800225 h 4867275"/>
              <a:gd name="connsiteX11" fmla="*/ 4600575 w 5010150"/>
              <a:gd name="connsiteY11" fmla="*/ 1857375 h 4867275"/>
              <a:gd name="connsiteX12" fmla="*/ 4581525 w 5010150"/>
              <a:gd name="connsiteY12" fmla="*/ 2114550 h 4867275"/>
              <a:gd name="connsiteX13" fmla="*/ 4486275 w 5010150"/>
              <a:gd name="connsiteY13" fmla="*/ 2295525 h 4867275"/>
              <a:gd name="connsiteX14" fmla="*/ 4448175 w 5010150"/>
              <a:gd name="connsiteY14" fmla="*/ 2362200 h 4867275"/>
              <a:gd name="connsiteX15" fmla="*/ 4352925 w 5010150"/>
              <a:gd name="connsiteY15" fmla="*/ 2409825 h 4867275"/>
              <a:gd name="connsiteX16" fmla="*/ 4295775 w 5010150"/>
              <a:gd name="connsiteY16" fmla="*/ 2466975 h 4867275"/>
              <a:gd name="connsiteX17" fmla="*/ 4095750 w 5010150"/>
              <a:gd name="connsiteY17" fmla="*/ 2647950 h 4867275"/>
              <a:gd name="connsiteX18" fmla="*/ 3971925 w 5010150"/>
              <a:gd name="connsiteY18" fmla="*/ 2867025 h 4867275"/>
              <a:gd name="connsiteX19" fmla="*/ 3924300 w 5010150"/>
              <a:gd name="connsiteY19" fmla="*/ 2952750 h 4867275"/>
              <a:gd name="connsiteX20" fmla="*/ 3857625 w 5010150"/>
              <a:gd name="connsiteY20" fmla="*/ 3133725 h 4867275"/>
              <a:gd name="connsiteX21" fmla="*/ 3857625 w 5010150"/>
              <a:gd name="connsiteY21" fmla="*/ 3448050 h 4867275"/>
              <a:gd name="connsiteX22" fmla="*/ 3810000 w 5010150"/>
              <a:gd name="connsiteY22" fmla="*/ 3543300 h 4867275"/>
              <a:gd name="connsiteX23" fmla="*/ 3638550 w 5010150"/>
              <a:gd name="connsiteY23" fmla="*/ 3752850 h 4867275"/>
              <a:gd name="connsiteX24" fmla="*/ 3028950 w 5010150"/>
              <a:gd name="connsiteY24" fmla="*/ 4200525 h 4867275"/>
              <a:gd name="connsiteX25" fmla="*/ 2838450 w 5010150"/>
              <a:gd name="connsiteY25" fmla="*/ 4314825 h 4867275"/>
              <a:gd name="connsiteX26" fmla="*/ 2733675 w 5010150"/>
              <a:gd name="connsiteY26" fmla="*/ 4381500 h 4867275"/>
              <a:gd name="connsiteX27" fmla="*/ 2324100 w 5010150"/>
              <a:gd name="connsiteY27" fmla="*/ 4600575 h 4867275"/>
              <a:gd name="connsiteX28" fmla="*/ 2057400 w 5010150"/>
              <a:gd name="connsiteY28" fmla="*/ 4714875 h 4867275"/>
              <a:gd name="connsiteX29" fmla="*/ 1771650 w 5010150"/>
              <a:gd name="connsiteY29" fmla="*/ 4791075 h 4867275"/>
              <a:gd name="connsiteX30" fmla="*/ 1314450 w 5010150"/>
              <a:gd name="connsiteY30" fmla="*/ 4867275 h 4867275"/>
              <a:gd name="connsiteX31" fmla="*/ 1085850 w 5010150"/>
              <a:gd name="connsiteY31" fmla="*/ 4857750 h 4867275"/>
              <a:gd name="connsiteX32" fmla="*/ 847725 w 5010150"/>
              <a:gd name="connsiteY32" fmla="*/ 4819650 h 4867275"/>
              <a:gd name="connsiteX33" fmla="*/ 704850 w 5010150"/>
              <a:gd name="connsiteY33" fmla="*/ 4800600 h 4867275"/>
              <a:gd name="connsiteX34" fmla="*/ 609600 w 5010150"/>
              <a:gd name="connsiteY34" fmla="*/ 4772025 h 4867275"/>
              <a:gd name="connsiteX35" fmla="*/ 523875 w 5010150"/>
              <a:gd name="connsiteY35" fmla="*/ 4762500 h 4867275"/>
              <a:gd name="connsiteX36" fmla="*/ 400050 w 5010150"/>
              <a:gd name="connsiteY36" fmla="*/ 4733925 h 4867275"/>
              <a:gd name="connsiteX37" fmla="*/ 314325 w 5010150"/>
              <a:gd name="connsiteY37" fmla="*/ 4667250 h 4867275"/>
              <a:gd name="connsiteX38" fmla="*/ 228600 w 5010150"/>
              <a:gd name="connsiteY38" fmla="*/ 4533900 h 4867275"/>
              <a:gd name="connsiteX39" fmla="*/ 209550 w 5010150"/>
              <a:gd name="connsiteY39" fmla="*/ 4495800 h 4867275"/>
              <a:gd name="connsiteX40" fmla="*/ 142875 w 5010150"/>
              <a:gd name="connsiteY40" fmla="*/ 4448175 h 4867275"/>
              <a:gd name="connsiteX41" fmla="*/ 85725 w 5010150"/>
              <a:gd name="connsiteY41" fmla="*/ 4400550 h 4867275"/>
              <a:gd name="connsiteX42" fmla="*/ 47625 w 5010150"/>
              <a:gd name="connsiteY42" fmla="*/ 4371975 h 4867275"/>
              <a:gd name="connsiteX43" fmla="*/ 28575 w 5010150"/>
              <a:gd name="connsiteY43" fmla="*/ 4143375 h 4867275"/>
              <a:gd name="connsiteX44" fmla="*/ 57150 w 5010150"/>
              <a:gd name="connsiteY44" fmla="*/ 4057650 h 4867275"/>
              <a:gd name="connsiteX45" fmla="*/ 0 w 5010150"/>
              <a:gd name="connsiteY45" fmla="*/ 9525 h 4867275"/>
              <a:gd name="connsiteX46" fmla="*/ 5010150 w 5010150"/>
              <a:gd name="connsiteY46" fmla="*/ 0 h 4867275"/>
              <a:gd name="connsiteX47" fmla="*/ 4895850 w 5010150"/>
              <a:gd name="connsiteY47" fmla="*/ 19050 h 486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5010150" h="4867275">
                <a:moveTo>
                  <a:pt x="4895850" y="19050"/>
                </a:moveTo>
                <a:lnTo>
                  <a:pt x="4895850" y="19050"/>
                </a:lnTo>
                <a:cubicBezTo>
                  <a:pt x="4851400" y="92075"/>
                  <a:pt x="4805333" y="164140"/>
                  <a:pt x="4762500" y="238125"/>
                </a:cubicBezTo>
                <a:cubicBezTo>
                  <a:pt x="4705161" y="337164"/>
                  <a:pt x="4661751" y="426845"/>
                  <a:pt x="4619625" y="533400"/>
                </a:cubicBezTo>
                <a:cubicBezTo>
                  <a:pt x="4586015" y="618413"/>
                  <a:pt x="4555424" y="704594"/>
                  <a:pt x="4524375" y="790575"/>
                </a:cubicBezTo>
                <a:cubicBezTo>
                  <a:pt x="4514145" y="818905"/>
                  <a:pt x="4495800" y="876300"/>
                  <a:pt x="4495800" y="876300"/>
                </a:cubicBezTo>
                <a:cubicBezTo>
                  <a:pt x="4504496" y="1085005"/>
                  <a:pt x="4497667" y="1047429"/>
                  <a:pt x="4514850" y="1190625"/>
                </a:cubicBezTo>
                <a:cubicBezTo>
                  <a:pt x="4520950" y="1241456"/>
                  <a:pt x="4527550" y="1292225"/>
                  <a:pt x="4533900" y="1343025"/>
                </a:cubicBezTo>
                <a:lnTo>
                  <a:pt x="4543425" y="1419225"/>
                </a:lnTo>
                <a:cubicBezTo>
                  <a:pt x="4550905" y="1561340"/>
                  <a:pt x="4550500" y="1588757"/>
                  <a:pt x="4562475" y="1714500"/>
                </a:cubicBezTo>
                <a:cubicBezTo>
                  <a:pt x="4565201" y="1743121"/>
                  <a:pt x="4564592" y="1772445"/>
                  <a:pt x="4572000" y="1800225"/>
                </a:cubicBezTo>
                <a:cubicBezTo>
                  <a:pt x="4577488" y="1820804"/>
                  <a:pt x="4591050" y="1838325"/>
                  <a:pt x="4600575" y="1857375"/>
                </a:cubicBezTo>
                <a:cubicBezTo>
                  <a:pt x="4594225" y="1943100"/>
                  <a:pt x="4595285" y="2029699"/>
                  <a:pt x="4581525" y="2114550"/>
                </a:cubicBezTo>
                <a:cubicBezTo>
                  <a:pt x="4569843" y="2186590"/>
                  <a:pt x="4523052" y="2236681"/>
                  <a:pt x="4486275" y="2295525"/>
                </a:cubicBezTo>
                <a:cubicBezTo>
                  <a:pt x="4472708" y="2317232"/>
                  <a:pt x="4467610" y="2345541"/>
                  <a:pt x="4448175" y="2362200"/>
                </a:cubicBezTo>
                <a:cubicBezTo>
                  <a:pt x="4421223" y="2385302"/>
                  <a:pt x="4382176" y="2389715"/>
                  <a:pt x="4352925" y="2409825"/>
                </a:cubicBezTo>
                <a:cubicBezTo>
                  <a:pt x="4330725" y="2425088"/>
                  <a:pt x="4316230" y="2449442"/>
                  <a:pt x="4295775" y="2466975"/>
                </a:cubicBezTo>
                <a:cubicBezTo>
                  <a:pt x="4205929" y="2543986"/>
                  <a:pt x="4181261" y="2529550"/>
                  <a:pt x="4095750" y="2647950"/>
                </a:cubicBezTo>
                <a:cubicBezTo>
                  <a:pt x="4046638" y="2715952"/>
                  <a:pt x="4013049" y="2793915"/>
                  <a:pt x="3971925" y="2867025"/>
                </a:cubicBezTo>
                <a:cubicBezTo>
                  <a:pt x="3955899" y="2895516"/>
                  <a:pt x="3935778" y="2922143"/>
                  <a:pt x="3924300" y="2952750"/>
                </a:cubicBezTo>
                <a:cubicBezTo>
                  <a:pt x="3863625" y="3114551"/>
                  <a:pt x="3884307" y="3053680"/>
                  <a:pt x="3857625" y="3133725"/>
                </a:cubicBezTo>
                <a:cubicBezTo>
                  <a:pt x="3862646" y="3219087"/>
                  <a:pt x="3877576" y="3361595"/>
                  <a:pt x="3857625" y="3448050"/>
                </a:cubicBezTo>
                <a:cubicBezTo>
                  <a:pt x="3849643" y="3482639"/>
                  <a:pt x="3827786" y="3512579"/>
                  <a:pt x="3810000" y="3543300"/>
                </a:cubicBezTo>
                <a:cubicBezTo>
                  <a:pt x="3765929" y="3619423"/>
                  <a:pt x="3703790" y="3695939"/>
                  <a:pt x="3638550" y="3752850"/>
                </a:cubicBezTo>
                <a:cubicBezTo>
                  <a:pt x="3393788" y="3966365"/>
                  <a:pt x="3289182" y="4035889"/>
                  <a:pt x="3028950" y="4200525"/>
                </a:cubicBezTo>
                <a:cubicBezTo>
                  <a:pt x="2966369" y="4240117"/>
                  <a:pt x="2901588" y="4276128"/>
                  <a:pt x="2838450" y="4314825"/>
                </a:cubicBezTo>
                <a:cubicBezTo>
                  <a:pt x="2803155" y="4336457"/>
                  <a:pt x="2769173" y="4360201"/>
                  <a:pt x="2733675" y="4381500"/>
                </a:cubicBezTo>
                <a:cubicBezTo>
                  <a:pt x="2583823" y="4471411"/>
                  <a:pt x="2486896" y="4525438"/>
                  <a:pt x="2324100" y="4600575"/>
                </a:cubicBezTo>
                <a:cubicBezTo>
                  <a:pt x="2236282" y="4641106"/>
                  <a:pt x="2148837" y="4683345"/>
                  <a:pt x="2057400" y="4714875"/>
                </a:cubicBezTo>
                <a:cubicBezTo>
                  <a:pt x="1964207" y="4747011"/>
                  <a:pt x="1868218" y="4771266"/>
                  <a:pt x="1771650" y="4791075"/>
                </a:cubicBezTo>
                <a:cubicBezTo>
                  <a:pt x="1620299" y="4822121"/>
                  <a:pt x="1314450" y="4867275"/>
                  <a:pt x="1314450" y="4867275"/>
                </a:cubicBezTo>
                <a:cubicBezTo>
                  <a:pt x="1238250" y="4864100"/>
                  <a:pt x="1161722" y="4865492"/>
                  <a:pt x="1085850" y="4857750"/>
                </a:cubicBezTo>
                <a:cubicBezTo>
                  <a:pt x="1005881" y="4849590"/>
                  <a:pt x="927404" y="4830274"/>
                  <a:pt x="847725" y="4819650"/>
                </a:cubicBezTo>
                <a:lnTo>
                  <a:pt x="704850" y="4800600"/>
                </a:lnTo>
                <a:cubicBezTo>
                  <a:pt x="673100" y="4791075"/>
                  <a:pt x="642037" y="4778854"/>
                  <a:pt x="609600" y="4772025"/>
                </a:cubicBezTo>
                <a:cubicBezTo>
                  <a:pt x="581466" y="4766102"/>
                  <a:pt x="552337" y="4766566"/>
                  <a:pt x="523875" y="4762500"/>
                </a:cubicBezTo>
                <a:cubicBezTo>
                  <a:pt x="489669" y="4757613"/>
                  <a:pt x="428735" y="4741096"/>
                  <a:pt x="400050" y="4733925"/>
                </a:cubicBezTo>
                <a:cubicBezTo>
                  <a:pt x="373961" y="4716533"/>
                  <a:pt x="334220" y="4695435"/>
                  <a:pt x="314325" y="4667250"/>
                </a:cubicBezTo>
                <a:cubicBezTo>
                  <a:pt x="283852" y="4624079"/>
                  <a:pt x="256155" y="4578990"/>
                  <a:pt x="228600" y="4533900"/>
                </a:cubicBezTo>
                <a:cubicBezTo>
                  <a:pt x="221196" y="4521784"/>
                  <a:pt x="219590" y="4505840"/>
                  <a:pt x="209550" y="4495800"/>
                </a:cubicBezTo>
                <a:cubicBezTo>
                  <a:pt x="190237" y="4476487"/>
                  <a:pt x="164523" y="4464828"/>
                  <a:pt x="142875" y="4448175"/>
                </a:cubicBezTo>
                <a:cubicBezTo>
                  <a:pt x="123220" y="4433056"/>
                  <a:pt x="105089" y="4416041"/>
                  <a:pt x="85725" y="4400550"/>
                </a:cubicBezTo>
                <a:cubicBezTo>
                  <a:pt x="73329" y="4390633"/>
                  <a:pt x="60325" y="4381500"/>
                  <a:pt x="47625" y="4371975"/>
                </a:cubicBezTo>
                <a:cubicBezTo>
                  <a:pt x="-9203" y="4277262"/>
                  <a:pt x="8851" y="4327462"/>
                  <a:pt x="28575" y="4143375"/>
                </a:cubicBezTo>
                <a:cubicBezTo>
                  <a:pt x="38092" y="4054551"/>
                  <a:pt x="19462" y="4057650"/>
                  <a:pt x="57150" y="4057650"/>
                </a:cubicBezTo>
                <a:lnTo>
                  <a:pt x="0" y="9525"/>
                </a:lnTo>
                <a:lnTo>
                  <a:pt x="5010150" y="0"/>
                </a:lnTo>
                <a:lnTo>
                  <a:pt x="4895850" y="19050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87A00534-144E-789E-E281-7C3BD07D4A85}"/>
              </a:ext>
            </a:extLst>
          </p:cNvPr>
          <p:cNvSpPr/>
          <p:nvPr/>
        </p:nvSpPr>
        <p:spPr>
          <a:xfrm>
            <a:off x="8676917" y="3461277"/>
            <a:ext cx="2781300" cy="1355378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B5AF3CB-8E7A-B565-3975-7A79ADC3FFA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Observations from Cosmos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ED762E-85E7-8601-EFDF-1692F74C7E0D}"/>
                  </a:ext>
                </a:extLst>
              </p:cNvPr>
              <p:cNvSpPr txBox="1"/>
              <p:nvPr/>
            </p:nvSpPr>
            <p:spPr>
              <a:xfrm>
                <a:off x="1235380" y="1890576"/>
                <a:ext cx="303719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ko-KR" altLang="en-US" sz="2400" i="1" dirty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 = [</m:t>
                      </m:r>
                      <m:sSub>
                        <m:sSubPr>
                          <m:ctrlP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ko-KR" altLang="en-US" sz="2400" i="1" dirty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, …..</m:t>
                      </m:r>
                      <m:sSub>
                        <m:sSubPr>
                          <m:ctrlP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2400" i="1" dirty="0">
                  <a:latin typeface="Cascadia Code Light" panose="020B0609020000020004" pitchFamily="49" charset="0"/>
                  <a:cs typeface="Cascadia Code Light" panose="020B0609020000020004" pitchFamily="49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AED762E-85E7-8601-EFDF-1692F74C7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5380" y="1890576"/>
                <a:ext cx="3037197" cy="461665"/>
              </a:xfrm>
              <a:prstGeom prst="rect">
                <a:avLst/>
              </a:prstGeom>
              <a:blipFill>
                <a:blip r:embed="rId2"/>
                <a:stretch>
                  <a:fillRect l="-602"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13474D-50A9-34D8-C836-C6EC4D4B10A4}"/>
                  </a:ext>
                </a:extLst>
              </p:cNvPr>
              <p:cNvSpPr txBox="1"/>
              <p:nvPr/>
            </p:nvSpPr>
            <p:spPr>
              <a:xfrm>
                <a:off x="2110647" y="3464595"/>
                <a:ext cx="234705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altLang="ko-KR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2400" b="0" i="1" dirty="0" smtClean="0">
                          <a:latin typeface="Cambria Math" panose="02040503050406030204" pitchFamily="18" charset="0"/>
                        </a:rPr>
                        <m:t>] = [</m:t>
                      </m:r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ko-KR" altLang="en-US" sz="240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ko-KR" altLang="en-US" sz="2400" i="1" dirty="0">
                  <a:latin typeface="Cascadia Code Light" panose="020B0609020000020004" pitchFamily="49" charset="0"/>
                  <a:ea typeface="D2Coding" panose="020B0609020101020101" pitchFamily="49" charset="-127"/>
                  <a:cs typeface="Cascadia Code Light" panose="020B0609020000020004" pitchFamily="49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713474D-50A9-34D8-C836-C6EC4D4B10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0647" y="3464595"/>
                <a:ext cx="2347053" cy="369332"/>
              </a:xfrm>
              <a:prstGeom prst="rect">
                <a:avLst/>
              </a:prstGeom>
              <a:blipFill>
                <a:blip r:embed="rId3"/>
                <a:stretch>
                  <a:fillRect l="-1558" t="-24590" r="-11429" b="-491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AD54A28-B167-0B4B-6549-547920BC9176}"/>
                  </a:ext>
                </a:extLst>
              </p:cNvPr>
              <p:cNvSpPr txBox="1"/>
              <p:nvPr/>
            </p:nvSpPr>
            <p:spPr>
              <a:xfrm>
                <a:off x="8913825" y="3971193"/>
                <a:ext cx="2211375" cy="3852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4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[</m:t>
                        </m:r>
                        <m:acc>
                          <m:accPr>
                            <m:chr m:val="̂"/>
                            <m:ctrlPr>
                              <a:rPr lang="ko-KR" alt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ko-KR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ko-KR" alt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ko-KR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ko-KR" alt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ko-KR" altLang="en-US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acc>
                      </m:e>
                      <m:sub>
                        <m:r>
                          <a:rPr lang="ko-KR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ko-KR" sz="2400" i="1" dirty="0">
                    <a:solidFill>
                      <a:schemeClr val="bg1"/>
                    </a:solidFill>
                    <a:latin typeface="Cascadia Code Light" panose="020B0609020000020004" pitchFamily="49" charset="0"/>
                    <a:ea typeface="Cascadia Code Light" panose="020B0609020000020004" pitchFamily="49" charset="0"/>
                    <a:cs typeface="Cascadia Code Light" panose="020B0609020000020004" pitchFamily="49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[ </m:t>
                    </m:r>
                    <m:acc>
                      <m:accPr>
                        <m:chr m:val="̅"/>
                        <m:ctrlPr>
                          <a:rPr lang="ko-KR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ko-K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ko-KR" altLang="en-US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2400" i="1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ko-KR" altLang="en-US" sz="2400" i="1" dirty="0">
                  <a:solidFill>
                    <a:schemeClr val="bg1"/>
                  </a:solidFill>
                  <a:latin typeface="Cascadia Code Light" panose="020B0609020000020004" pitchFamily="49" charset="0"/>
                  <a:cs typeface="Cascadia Code Light" panose="020B0609020000020004" pitchFamily="49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AD54A28-B167-0B4B-6549-547920BC91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3825" y="3971193"/>
                <a:ext cx="2211375" cy="385298"/>
              </a:xfrm>
              <a:prstGeom prst="rect">
                <a:avLst/>
              </a:prstGeom>
              <a:blipFill>
                <a:blip r:embed="rId4"/>
                <a:stretch>
                  <a:fillRect t="-18750" r="-15427" b="-468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그래픽 19" descr="조금 굽은 줄 화살표">
            <a:extLst>
              <a:ext uri="{FF2B5EF4-FFF2-40B4-BE49-F238E27FC236}">
                <a16:creationId xmlns:a16="http://schemas.microsoft.com/office/drawing/2014/main" id="{E37B9DF7-4E67-AF8B-184A-7005DCA484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8062" y="3056793"/>
            <a:ext cx="914400" cy="91440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61E6EBC8-E794-3DF3-955C-5BDD4CF63A41}"/>
              </a:ext>
            </a:extLst>
          </p:cNvPr>
          <p:cNvSpPr txBox="1"/>
          <p:nvPr/>
        </p:nvSpPr>
        <p:spPr>
          <a:xfrm>
            <a:off x="5975240" y="3938911"/>
            <a:ext cx="20386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Observe Sample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922C429-0B09-B242-7C4C-ED3FB45614C9}"/>
              </a:ext>
            </a:extLst>
          </p:cNvPr>
          <p:cNvSpPr txBox="1"/>
          <p:nvPr/>
        </p:nvSpPr>
        <p:spPr>
          <a:xfrm rot="20476529">
            <a:off x="1202984" y="5309156"/>
            <a:ext cx="3650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Nobody Knows only God knows.</a:t>
            </a:r>
            <a:endParaRPr lang="ko-KR" altLang="en-US" sz="2000" dirty="0">
              <a:latin typeface="Times New Roman" panose="02020603050405020304" pitchFamily="18" charset="0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99C399-E405-3040-8040-8AB4104E97A2}"/>
              </a:ext>
            </a:extLst>
          </p:cNvPr>
          <p:cNvSpPr txBox="1"/>
          <p:nvPr/>
        </p:nvSpPr>
        <p:spPr>
          <a:xfrm rot="20476529">
            <a:off x="7981458" y="5498717"/>
            <a:ext cx="3650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Times New Roman" panose="02020603050405020304" pitchFamily="18" charset="0"/>
                <a:ea typeface="D2Coding" panose="020B0609020101020101" pitchFamily="49" charset="-127"/>
                <a:cs typeface="Times New Roman" panose="02020603050405020304" pitchFamily="18" charset="0"/>
              </a:rPr>
              <a:t>Somebody knows only sample.</a:t>
            </a:r>
            <a:endParaRPr lang="ko-KR" altLang="en-US" sz="2000" dirty="0">
              <a:latin typeface="Times New Roman" panose="02020603050405020304" pitchFamily="18" charset="0"/>
              <a:ea typeface="D2Coding" panose="020B0609020101020101" pitchFamily="49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0724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D9B7B-9865-94AF-F861-27D861A9B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DDFEC7E-217F-9738-2899-DE169B8DB40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Probability(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확률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&amp;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Likelihood(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우도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)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AC704D45-D66D-3982-D34F-19A2D6440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685" y="1426450"/>
            <a:ext cx="11006440" cy="96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확률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= P(X/</a:t>
            </a:r>
            <a:r>
              <a:rPr lang="el-G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"동전 앞면 확률이 50%(</a:t>
            </a:r>
            <a:r>
              <a:rPr kumimoji="0" lang="el-G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θ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는 고정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)일 때, 앞면이 3번 나올 확률(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확률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변수)"</a:t>
            </a:r>
          </a:p>
          <a:p>
            <a:pPr marL="285750" lvl="0" indent="-2857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가능도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= P(</a:t>
            </a:r>
            <a:r>
              <a:rPr lang="el-G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θ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/X)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"동전을 던져 앞면이 3번 나왔을 때(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고정), 이 동전의 앞면 확률이 50%일 가능성(</a:t>
            </a:r>
            <a:r>
              <a:rPr lang="el-G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θ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변수)"</a:t>
            </a: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B2D04D8A-3886-39B2-9C8F-CCAD8920B146}"/>
              </a:ext>
            </a:extLst>
          </p:cNvPr>
          <p:cNvGraphicFramePr>
            <a:graphicFrameLocks noGrp="1"/>
          </p:cNvGraphicFramePr>
          <p:nvPr/>
        </p:nvGraphicFramePr>
        <p:xfrm>
          <a:off x="1531270" y="3035278"/>
          <a:ext cx="8736680" cy="3031328"/>
        </p:xfrm>
        <a:graphic>
          <a:graphicData uri="http://schemas.openxmlformats.org/drawingml/2006/table">
            <a:tbl>
              <a:tblPr/>
              <a:tblGrid>
                <a:gridCol w="1481525">
                  <a:extLst>
                    <a:ext uri="{9D8B030D-6E8A-4147-A177-3AD203B41FA5}">
                      <a16:colId xmlns:a16="http://schemas.microsoft.com/office/drawing/2014/main" val="267189901"/>
                    </a:ext>
                  </a:extLst>
                </a:gridCol>
                <a:gridCol w="3454680">
                  <a:extLst>
                    <a:ext uri="{9D8B030D-6E8A-4147-A177-3AD203B41FA5}">
                      <a16:colId xmlns:a16="http://schemas.microsoft.com/office/drawing/2014/main" val="3764504089"/>
                    </a:ext>
                  </a:extLst>
                </a:gridCol>
                <a:gridCol w="3800475">
                  <a:extLst>
                    <a:ext uri="{9D8B030D-6E8A-4147-A177-3AD203B41FA5}">
                      <a16:colId xmlns:a16="http://schemas.microsoft.com/office/drawing/2014/main" val="3219757678"/>
                    </a:ext>
                  </a:extLst>
                </a:gridCol>
              </a:tblGrid>
              <a:tr h="31234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구분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확률 </a:t>
                      </a:r>
                      <a:r>
                        <a:rPr lang="en-US" altLang="ko-KR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Probability)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가능도 </a:t>
                      </a:r>
                      <a:r>
                        <a:rPr lang="en-US" altLang="ko-KR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Likelihood)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67679390"/>
                  </a:ext>
                </a:extLst>
              </a:tr>
              <a:tr h="567893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개념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모델이 정해졌을 때</a:t>
                      </a:r>
                      <a:r>
                        <a:rPr lang="en-US" altLang="ko-KR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특정 데이터가 나올 가능성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데이터가 주어졌을 때</a:t>
                      </a:r>
                      <a:r>
                        <a:rPr lang="en-US" altLang="ko-KR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특정 모델이 맞을 가능성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3690163"/>
                  </a:ext>
                </a:extLst>
              </a:tr>
              <a:tr h="44011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수식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kumimoji="0" lang="en-US" altLang="ko-KR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P(X/</a:t>
                      </a:r>
                      <a:r>
                        <a:rPr lang="el-GR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θ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endParaRPr lang="en-US" sz="1600" b="0" dirty="0">
                        <a:solidFill>
                          <a:srgbClr val="1F1F1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L(</a:t>
                      </a:r>
                      <a:r>
                        <a:rPr lang="el-GR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θ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/X)</a:t>
                      </a:r>
                      <a:r>
                        <a:rPr lang="sv-SE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 = 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P(</a:t>
                      </a:r>
                      <a:r>
                        <a:rPr lang="el-GR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θ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/X)</a:t>
                      </a:r>
                      <a:endParaRPr lang="sv-SE" sz="1600" b="0" dirty="0">
                        <a:solidFill>
                          <a:srgbClr val="1F1F1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7091301"/>
                  </a:ext>
                </a:extLst>
              </a:tr>
              <a:tr h="44011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고정 </a:t>
                      </a:r>
                      <a:r>
                        <a:rPr lang="en-US" altLang="ko-KR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Fixed)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파라미터 </a:t>
                      </a:r>
                      <a:r>
                        <a:rPr lang="el-GR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θ</a:t>
                      </a:r>
                      <a:endParaRPr lang="ko-KR" altLang="en-US" sz="1600" b="0" dirty="0">
                        <a:solidFill>
                          <a:srgbClr val="1F1F1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관측 데이터 </a:t>
                      </a:r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X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0938009"/>
                  </a:ext>
                </a:extLst>
              </a:tr>
              <a:tr h="440117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변수 </a:t>
                      </a:r>
                      <a:r>
                        <a:rPr lang="en-US" altLang="ko-KR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Variable)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관측 데이터 </a:t>
                      </a:r>
                      <a:r>
                        <a:rPr 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X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파라미터 </a:t>
                      </a:r>
                      <a:r>
                        <a:rPr lang="el-GR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θ</a:t>
                      </a:r>
                      <a:endParaRPr lang="ko-KR" altLang="en-US" sz="1600" b="0" dirty="0">
                        <a:solidFill>
                          <a:srgbClr val="1F1F1F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0507235"/>
                  </a:ext>
                </a:extLst>
              </a:tr>
              <a:tr h="69566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목적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주어진 모델</a:t>
                      </a:r>
                      <a:r>
                        <a:rPr lang="en-US" altLang="ko-KR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</a:t>
                      </a:r>
                      <a:r>
                        <a:rPr lang="el-GR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θ</a:t>
                      </a:r>
                      <a:r>
                        <a:rPr lang="en-US" altLang="ko-KR" sz="1600" b="0" dirty="0"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)</a:t>
                      </a: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에서 데이터가 관측될 확률 예측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관측된 데이터를 가장 잘 설명하는 모델 최적화 </a:t>
                      </a:r>
                      <a:r>
                        <a:rPr lang="en-US" altLang="ko-KR" sz="1600" b="0" dirty="0">
                          <a:solidFill>
                            <a:srgbClr val="1F1F1F"/>
                          </a:solidFill>
                          <a:effectLst/>
                          <a:latin typeface="D2Coding" panose="020B0609020101020101" pitchFamily="49" charset="-127"/>
                          <a:ea typeface="D2Coding" panose="020B0609020101020101" pitchFamily="49" charset="-127"/>
                        </a:rPr>
                        <a:t>(MLE)</a:t>
                      </a:r>
                    </a:p>
                  </a:txBody>
                  <a:tcPr marL="58504" marR="58504" marT="39003" marB="39003" anchor="ctr">
                    <a:lnL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38915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69783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64254-58A6-C02B-B475-AE6B2E4AC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538EBB4-A907-F841-EA2A-C6ECBF884D6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ELBO in Variational Inference</a:t>
            </a:r>
          </a:p>
        </p:txBody>
      </p:sp>
      <p:sp>
        <p:nvSpPr>
          <p:cNvPr id="5" name="AutoShape 2" descr="nueral">
            <a:extLst>
              <a:ext uri="{FF2B5EF4-FFF2-40B4-BE49-F238E27FC236}">
                <a16:creationId xmlns:a16="http://schemas.microsoft.com/office/drawing/2014/main" id="{AD5AABC5-EAA9-5BB9-A0A0-E11991C467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7410" name="Picture 2" descr="image">
            <a:extLst>
              <a:ext uri="{FF2B5EF4-FFF2-40B4-BE49-F238E27FC236}">
                <a16:creationId xmlns:a16="http://schemas.microsoft.com/office/drawing/2014/main" id="{D831A98B-3A5C-9C07-5F09-E5B24BCD3B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272" y="3071482"/>
            <a:ext cx="5611366" cy="3283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DF87399-B02B-F268-AD75-B6F467AD5A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009" y="3551491"/>
            <a:ext cx="3242446" cy="41023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FC0444A-0E3E-D38F-21D7-3130E871769D}"/>
              </a:ext>
            </a:extLst>
          </p:cNvPr>
          <p:cNvSpPr txBox="1"/>
          <p:nvPr/>
        </p:nvSpPr>
        <p:spPr>
          <a:xfrm>
            <a:off x="5215754" y="5945091"/>
            <a:ext cx="398287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https://gregorygundersen.com/blog/2021/04/16/variational-inference/</a:t>
            </a:r>
            <a:r>
              <a:rPr lang="en-US" altLang="ko-KR" sz="1400" b="0" i="0" dirty="0">
                <a:solidFill>
                  <a:srgbClr val="999999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34451C9C-1174-BE0D-96FC-24F43E9F69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024" y="1180611"/>
            <a:ext cx="11135331" cy="15318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어떤 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잠재된 특성(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)의 확률분포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알 수가 없고, 관측 데이터(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)의 분포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또한 알 수가 없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음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관측 데이터가 주어졌을 때의 참 사후분포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)를 수학적으로 직접 계산하는 것(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Intractable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)이 불가능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marR="0" lvl="0" indent="-28575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다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루기 쉬운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가우시안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등의 근사 분포내에서 참 분포와 가장 유사한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*(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찾아 나가는 '변분법적 접근(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Variational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Inference</a:t>
            </a:r>
            <a:r>
              <a:rPr lang="ko-KR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)’을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적용</a:t>
            </a:r>
            <a:endParaRPr lang="ko-KR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3C8BB89-86CF-30AE-BC66-41AF6DE155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009" y="4187761"/>
            <a:ext cx="4892464" cy="876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17147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90FD7-A050-92C9-D55B-DBE0ABC5C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6F90A-0CB3-0392-D4C4-DB0D5F9DB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Dimension</a:t>
            </a:r>
            <a:r>
              <a:rPr lang="ko-KR" altLang="en-US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reduction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32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Linear/Non-Linear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6391567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D226C-24EB-9585-A96D-879EDE3E1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9B51D12-91CF-52CE-301F-ED40F23D5B9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The curse of dimensionality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 descr="The curse of dimensionality. Adding dimensions stretches the points apart making high-dimensional data extremely sparse and uniformly distributed">
            <a:extLst>
              <a:ext uri="{FF2B5EF4-FFF2-40B4-BE49-F238E27FC236}">
                <a16:creationId xmlns:a16="http://schemas.microsoft.com/office/drawing/2014/main" id="{0AACD530-C9AD-2C71-9511-4F29F07CBF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F82DD7-DAB3-D851-7E45-515CE0B3E7BA}"/>
              </a:ext>
            </a:extLst>
          </p:cNvPr>
          <p:cNvSpPr txBox="1"/>
          <p:nvPr/>
        </p:nvSpPr>
        <p:spPr>
          <a:xfrm>
            <a:off x="1323975" y="5728938"/>
            <a:ext cx="980299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sz="1400" b="0" i="0" dirty="0">
                <a:solidFill>
                  <a:srgbClr val="11111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The curse of dimensionality. Adding dimensions stretches the points apart making high-dimensional data extremely sparse and uniformly distributed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B1301F1-004E-A86C-1126-E249B6F8CB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344" y="2226185"/>
            <a:ext cx="9996623" cy="3260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9415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2B515-9CA1-0B60-170B-E39A98641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EA7E0D-FC70-C4C0-A53A-1185CB2877B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Dimensionality Reduction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AutoShape 2" descr="The curse of dimensionality. Adding dimensions stretches the points apart making high-dimensional data extremely sparse and uniformly distributed">
            <a:extLst>
              <a:ext uri="{FF2B5EF4-FFF2-40B4-BE49-F238E27FC236}">
                <a16:creationId xmlns:a16="http://schemas.microsoft.com/office/drawing/2014/main" id="{23ECC2F2-2168-8C81-6FAC-7DFB4A8723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635F914-D349-45EE-8D1B-8D0A263C4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498" y="2200275"/>
            <a:ext cx="9390992" cy="320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3082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4D45F-9959-C2FE-BCFE-D047BCAF2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5AFD0A-085C-5BB2-80E4-F468D2675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43</a:t>
            </a:fld>
            <a:endParaRPr lang="en-US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81BE5526-2A5D-5F05-FCBF-F9280260B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2554" y="1788322"/>
            <a:ext cx="4544238" cy="4511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5F853161-803E-81DB-419B-7773E6EAF298}"/>
              </a:ext>
            </a:extLst>
          </p:cNvPr>
          <p:cNvGrpSpPr/>
          <p:nvPr/>
        </p:nvGrpSpPr>
        <p:grpSpPr>
          <a:xfrm>
            <a:off x="6827926" y="1788321"/>
            <a:ext cx="3020924" cy="4247939"/>
            <a:chOff x="9628030" y="2838154"/>
            <a:chExt cx="2246046" cy="3638827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BF7B7470-53A3-F586-A9A7-B3DFB8ADC6C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28030" y="2838154"/>
              <a:ext cx="2246046" cy="1225431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A28C5B0-4392-9343-2622-9256EF1DE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28031" y="4060451"/>
              <a:ext cx="2240700" cy="1204969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1EB1DDEF-D8F2-AB6A-FF39-537D658F4DA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628782" y="5265420"/>
              <a:ext cx="2240701" cy="1211561"/>
            </a:xfrm>
            <a:prstGeom prst="rect">
              <a:avLst/>
            </a:prstGeom>
          </p:spPr>
        </p:pic>
      </p:grpSp>
      <p:sp>
        <p:nvSpPr>
          <p:cNvPr id="8" name="제목 1">
            <a:extLst>
              <a:ext uri="{FF2B5EF4-FFF2-40B4-BE49-F238E27FC236}">
                <a16:creationId xmlns:a16="http://schemas.microsoft.com/office/drawing/2014/main" id="{CF4A01C3-9D37-C424-A393-4795DCE2A30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Dimensionality Reduction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532928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C6058-BCAC-5973-88B3-9937643C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F1D1540C-C9B8-D40C-73EE-259E91537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070468" cy="640080"/>
          </a:xfrm>
        </p:spPr>
        <p:txBody>
          <a:bodyPr rtlCol="0">
            <a:norm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Principal component analysis (PCA) </a:t>
            </a:r>
            <a:endParaRPr lang="ko" altLang="en-US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D43EB65-3E9B-ECE8-23C1-24B298B14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44</a:t>
            </a:fld>
            <a:endParaRPr lang="ko-KR" altLang="en-US" noProof="0"/>
          </a:p>
        </p:txBody>
      </p:sp>
      <p:pic>
        <p:nvPicPr>
          <p:cNvPr id="1026" name="Picture 2" descr="The original 3-dimensional data set. The red, blue, green arrows are the direction of the first, second, and third principal components, respectively. Image by the author.">
            <a:extLst>
              <a:ext uri="{FF2B5EF4-FFF2-40B4-BE49-F238E27FC236}">
                <a16:creationId xmlns:a16="http://schemas.microsoft.com/office/drawing/2014/main" id="{FD5454AF-9D9D-C1F8-13C5-FB50F15109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2525" y="2730092"/>
            <a:ext cx="4371975" cy="3264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catterplot after PCA reduced from 3-dimensions to 2-dimensions. Image by the author.">
            <a:extLst>
              <a:ext uri="{FF2B5EF4-FFF2-40B4-BE49-F238E27FC236}">
                <a16:creationId xmlns:a16="http://schemas.microsoft.com/office/drawing/2014/main" id="{FD1F97AF-8F47-3913-BD7E-049B0A55E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4074" y="2730093"/>
            <a:ext cx="5230069" cy="3264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FC5D7F7-968B-3650-11E3-08E33038F536}"/>
              </a:ext>
            </a:extLst>
          </p:cNvPr>
          <p:cNvSpPr txBox="1"/>
          <p:nvPr/>
        </p:nvSpPr>
        <p:spPr>
          <a:xfrm>
            <a:off x="521206" y="1219111"/>
            <a:ext cx="10976311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b="0" i="0" dirty="0">
                <a:solidFill>
                  <a:srgbClr val="2A2A2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The technique that transforms high-dimensions data into lower-dimensions while retaining as much information as possible.(</a:t>
            </a:r>
            <a:r>
              <a:rPr lang="en-US" altLang="ko-KR" sz="1600" b="0" i="0" dirty="0">
                <a:solidFill>
                  <a:srgbClr val="2A2A2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  <a:hlinkClick r:id="rId5"/>
              </a:rPr>
              <a:t>principal-component-analysis</a:t>
            </a:r>
            <a:r>
              <a:rPr lang="en-US" altLang="ko-KR" sz="1600" b="0" i="0" dirty="0">
                <a:solidFill>
                  <a:srgbClr val="2A2A2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Science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Handbook)</a:t>
            </a:r>
            <a:r>
              <a:rPr lang="en-US" altLang="ko-KR" sz="1600" b="0" i="0" dirty="0">
                <a:solidFill>
                  <a:srgbClr val="2A2A2A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95571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64FB8-06CD-73F2-EE18-4EB790B54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9F695C8-63E7-901C-D60E-7603F7243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070468" cy="640080"/>
          </a:xfrm>
        </p:spPr>
        <p:txBody>
          <a:bodyPr rtlCol="0">
            <a:norm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Manifold Learning</a:t>
            </a:r>
            <a:endParaRPr lang="ko" altLang="en-US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FA446DE-BDBE-AEA7-C88C-26A4B5495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45</a:t>
            </a:fld>
            <a:endParaRPr lang="ko-KR" altLang="en-US" noProof="0"/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3CD1ED1A-A8F4-98FA-6CB3-498DB0946C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36EBF0C-BEE1-1B68-10DE-567E58988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6327" y="1700432"/>
            <a:ext cx="5191843" cy="48941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F8A9347-2C1F-279B-77B4-3E8257F3AD5E}"/>
              </a:ext>
            </a:extLst>
          </p:cNvPr>
          <p:cNvSpPr txBox="1"/>
          <p:nvPr/>
        </p:nvSpPr>
        <p:spPr>
          <a:xfrm>
            <a:off x="628650" y="1331100"/>
            <a:ext cx="4916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manifold-learning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(Data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Science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Handbook)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33124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31E9B-DC1C-C687-ACF2-C837C2EB0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B352C18C-02FC-DB44-6C9C-E85E74559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1394568" cy="640080"/>
          </a:xfrm>
        </p:spPr>
        <p:txBody>
          <a:bodyPr rtlCol="0">
            <a:noAutofit/>
          </a:bodyPr>
          <a:lstStyle/>
          <a:p>
            <a:pPr algn="l"/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Compressing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Images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–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1800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Reducing rank by random choice of features</a:t>
            </a:r>
            <a:endParaRPr lang="ko" altLang="en-US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613EB8A-BEA6-A6CD-7C7A-09A826670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46</a:t>
            </a:fld>
            <a:endParaRPr lang="ko-KR" altLang="en-US" noProof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188EFB-4524-4DD2-6EFA-8D2AC221E9D7}"/>
              </a:ext>
            </a:extLst>
          </p:cNvPr>
          <p:cNvSpPr txBox="1"/>
          <p:nvPr/>
        </p:nvSpPr>
        <p:spPr>
          <a:xfrm>
            <a:off x="609600" y="1304243"/>
            <a:ext cx="5486400" cy="279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url</a:t>
            </a:r>
            <a:r>
              <a:rPr lang="en-US" altLang="ko-KR" sz="1200" b="0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"https://img.tf.co.kr/article/home/2025/07/22/202598011753169335.jpg"</a:t>
            </a:r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3173D52B-4178-8B02-04E4-68AA1DAE0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8436" y="1800107"/>
            <a:ext cx="8986982" cy="4869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3118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481C-56DE-A303-2D4C-E12ED6DB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B6562AF-EDD3-7FD9-789C-A59F62BFA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9070468" cy="640080"/>
          </a:xfrm>
        </p:spPr>
        <p:txBody>
          <a:bodyPr rtlCol="0">
            <a:normAutofit/>
          </a:bodyPr>
          <a:lstStyle/>
          <a:p>
            <a:pPr algn="l"/>
            <a:r>
              <a:rPr lang="en-US" altLang="ko-KR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Compressing</a:t>
            </a:r>
            <a:r>
              <a:rPr lang="ko-KR" altLang="en-US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Images </a:t>
            </a:r>
            <a:r>
              <a:rPr lang="en-US" altLang="ko-KR" sz="1800" cap="none" dirty="0"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– Reducing rank by SVD, PCA</a:t>
            </a:r>
            <a:endParaRPr lang="ko" cap="none" dirty="0"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0C72ECB-26ED-AC43-69FC-B181EE6AD3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47</a:t>
            </a:fld>
            <a:endParaRPr lang="ko-KR" altLang="en-US" noProof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1EDBD8-B293-7B46-746E-84D1944B03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508" y="1820059"/>
            <a:ext cx="8765310" cy="4749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51210D5-7927-EB22-F5B4-C0811943D190}"/>
              </a:ext>
            </a:extLst>
          </p:cNvPr>
          <p:cNvSpPr txBox="1"/>
          <p:nvPr/>
        </p:nvSpPr>
        <p:spPr>
          <a:xfrm>
            <a:off x="604333" y="1358737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Rank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30, 10, 5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인데도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face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식별이 가능한 이유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258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20454</TotalTime>
  <Words>1821</Words>
  <Application>Microsoft Office PowerPoint</Application>
  <PresentationFormat>와이드스크린</PresentationFormat>
  <Paragraphs>273</Paragraphs>
  <Slides>47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7" baseType="lpstr">
      <vt:lpstr>D2Coding</vt:lpstr>
      <vt:lpstr>맑은 고딕</vt:lpstr>
      <vt:lpstr>맑은 고딕 Semilight</vt:lpstr>
      <vt:lpstr>바탕</vt:lpstr>
      <vt:lpstr>Arial</vt:lpstr>
      <vt:lpstr>Cambria Math</vt:lpstr>
      <vt:lpstr>Cascadia Code Light</vt:lpstr>
      <vt:lpstr>Times New Roman</vt:lpstr>
      <vt:lpstr>Wingdings</vt:lpstr>
      <vt:lpstr>WelcomeDoc</vt:lpstr>
      <vt:lpstr>Generative Deep Learning Teaching Machines to Paint, Write, Compose, and Play</vt:lpstr>
      <vt:lpstr>PowerPoint 프레젠테이션</vt:lpstr>
      <vt:lpstr>Art Exhibition Gallery PCA/AE/VAE</vt:lpstr>
      <vt:lpstr>PowerPoint 프레젠테이션</vt:lpstr>
      <vt:lpstr>PowerPoint 프레젠테이션</vt:lpstr>
      <vt:lpstr>PowerPoint 프레젠테이션</vt:lpstr>
      <vt:lpstr>AutoEncoder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Variational AutoEncoder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Anomaly Detection with AE, VAE</vt:lpstr>
      <vt:lpstr>PowerPoint 프레젠테이션</vt:lpstr>
      <vt:lpstr>PowerPoint 프레젠테이션</vt:lpstr>
      <vt:lpstr>PowerPoint 프레젠테이션</vt:lpstr>
      <vt:lpstr>PowerPoint 프레젠테이션</vt:lpstr>
      <vt:lpstr>Appendix</vt:lpstr>
      <vt:lpstr>Probability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Dimension reduction Linear/Non-Linear</vt:lpstr>
      <vt:lpstr>PowerPoint 프레젠테이션</vt:lpstr>
      <vt:lpstr>PowerPoint 프레젠테이션</vt:lpstr>
      <vt:lpstr>PowerPoint 프레젠테이션</vt:lpstr>
      <vt:lpstr>Principal component analysis (PCA) </vt:lpstr>
      <vt:lpstr>Manifold Learning</vt:lpstr>
      <vt:lpstr>Compressing Images – Reducing rank by random choice of features</vt:lpstr>
      <vt:lpstr>Compressing Images – Reducing rank by SVD, PCA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288</cp:revision>
  <dcterms:created xsi:type="dcterms:W3CDTF">2026-04-06T01:00:39Z</dcterms:created>
  <dcterms:modified xsi:type="dcterms:W3CDTF">2026-10-02T20:55:06Z</dcterms:modified>
  <cp:version/>
</cp:coreProperties>
</file>