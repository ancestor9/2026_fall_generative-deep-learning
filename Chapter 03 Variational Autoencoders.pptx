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256" r:id="rId2"/>
    <p:sldId id="1264" r:id="rId3"/>
    <p:sldId id="1367" r:id="rId4"/>
    <p:sldId id="1187" r:id="rId5"/>
    <p:sldId id="1189" r:id="rId6"/>
    <p:sldId id="1186" r:id="rId7"/>
    <p:sldId id="1188" r:id="rId8"/>
    <p:sldId id="1370" r:id="rId9"/>
    <p:sldId id="1368" r:id="rId10"/>
    <p:sldId id="1369" r:id="rId11"/>
    <p:sldId id="1371" r:id="rId12"/>
    <p:sldId id="1372" r:id="rId13"/>
    <p:sldId id="1374" r:id="rId14"/>
    <p:sldId id="940" r:id="rId15"/>
    <p:sldId id="939" r:id="rId16"/>
    <p:sldId id="1375" r:id="rId17"/>
    <p:sldId id="935" r:id="rId18"/>
    <p:sldId id="296" r:id="rId19"/>
    <p:sldId id="1361" r:id="rId20"/>
    <p:sldId id="1352" r:id="rId21"/>
    <p:sldId id="1353" r:id="rId22"/>
    <p:sldId id="1348" r:id="rId23"/>
    <p:sldId id="1350" r:id="rId24"/>
    <p:sldId id="1382" r:id="rId25"/>
    <p:sldId id="1383" r:id="rId26"/>
    <p:sldId id="1363" r:id="rId27"/>
    <p:sldId id="1384" r:id="rId28"/>
    <p:sldId id="1355" r:id="rId29"/>
    <p:sldId id="1364" r:id="rId30"/>
    <p:sldId id="1360" r:id="rId31"/>
    <p:sldId id="1349" r:id="rId32"/>
    <p:sldId id="1377" r:id="rId33"/>
    <p:sldId id="1351" r:id="rId34"/>
    <p:sldId id="1358" r:id="rId35"/>
    <p:sldId id="1357" r:id="rId36"/>
    <p:sldId id="1366" r:id="rId37"/>
    <p:sldId id="1378" r:id="rId38"/>
    <p:sldId id="1380" r:id="rId39"/>
    <p:sldId id="1379" r:id="rId40"/>
    <p:sldId id="1381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187"/>
            <p14:sldId id="1189"/>
            <p14:sldId id="1186"/>
            <p14:sldId id="1188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61"/>
            <p14:sldId id="1352"/>
            <p14:sldId id="1353"/>
            <p14:sldId id="1348"/>
            <p14:sldId id="1350"/>
            <p14:sldId id="1382"/>
            <p14:sldId id="1383"/>
            <p14:sldId id="1363"/>
            <p14:sldId id="1384"/>
            <p14:sldId id="1355"/>
            <p14:sldId id="1364"/>
            <p14:sldId id="1360"/>
            <p14:sldId id="1349"/>
            <p14:sldId id="1377"/>
            <p14:sldId id="1351"/>
            <p14:sldId id="1358"/>
            <p14:sldId id="1357"/>
            <p14:sldId id="1366"/>
            <p14:sldId id="1378"/>
            <p14:sldId id="1380"/>
            <p14:sldId id="1379"/>
            <p14:sldId id="138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330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409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5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hyperlink" Target="https://gregorygundersen.com/blog/2021/04/16/variational-inference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Literacy/blob/main/vae_art%20exhibition_explanation.pdf" TargetMode="External"/><Relationship Id="rId4" Type="http://schemas.openxmlformats.org/officeDocument/2006/relationships/hyperlink" Target="https://transcranial.github.io/keras-js/#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7.png"/><Relationship Id="rId4" Type="http://schemas.openxmlformats.org/officeDocument/2006/relationships/image" Target="../media/image5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AI-with-python" TargetMode="External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5D91-9C64-D8DD-33C0-FC9A2C07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EEB1C17-014A-FF01-AF1F-A0894F1D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BF0442-71E6-C0FC-7507-BEFC5D07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CE3CD40-B7BE-E3D8-1C2A-3542393F98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841B33-D78F-9AF4-BA64-8F2A63BDC92F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FE2804-4055-7400-111D-1D90FEBF98E1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CE0FFF7-A3BD-636A-B60A-0EDA4451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305" y="1738524"/>
            <a:ext cx="5851203" cy="219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2A62-6B1C-01E5-50E0-D4A9130BA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55BF1173-7C5B-051C-8129-31AADB17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7FBAE-02DE-0016-7D56-9CF94379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58340D-3567-18E3-9A24-C8E5C61676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075595-ACE9-921C-79EB-398E2F356FF0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DAE168-F1BD-1E16-A4E6-5EAF975BD14D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FCA5F92-4157-0437-A65F-54B74DF8B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785" y="1739567"/>
            <a:ext cx="2952351" cy="6218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182BAAA-336E-EC32-4569-BB04D5035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84" y="2449094"/>
            <a:ext cx="3417133" cy="602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64DF8A1-D1BD-AD01-D588-2A865D9CC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2784" y="4821549"/>
            <a:ext cx="2952351" cy="58776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8A91AAB-D9B7-9A25-44AF-737BC103A0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784" y="4185064"/>
            <a:ext cx="5299954" cy="5650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49121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314C-9F84-3AA1-F681-2887D82FF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835D0-A1E8-50C3-62D6-F6308809F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916B40-CDD9-3202-9359-25ED88DAD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Conditional Probability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3AFC284-E0C9-8D0F-BB33-625DC4B21EC0}"/>
              </a:ext>
            </a:extLst>
          </p:cNvPr>
          <p:cNvSpPr/>
          <p:nvPr/>
        </p:nvSpPr>
        <p:spPr>
          <a:xfrm>
            <a:off x="2763520" y="2194560"/>
            <a:ext cx="3048000" cy="3048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5D8C56D-AECA-17B4-BBEA-C026764E69B0}"/>
              </a:ext>
            </a:extLst>
          </p:cNvPr>
          <p:cNvSpPr/>
          <p:nvPr/>
        </p:nvSpPr>
        <p:spPr>
          <a:xfrm>
            <a:off x="1305560" y="2853155"/>
            <a:ext cx="1925320" cy="192532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9D4CA-6320-C7BD-2A96-943E42CFA202}"/>
              </a:ext>
            </a:extLst>
          </p:cNvPr>
          <p:cNvSpPr txBox="1"/>
          <p:nvPr/>
        </p:nvSpPr>
        <p:spPr>
          <a:xfrm>
            <a:off x="159512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00A4F-D84D-5710-BFC1-0F0A076D6ECB}"/>
              </a:ext>
            </a:extLst>
          </p:cNvPr>
          <p:cNvSpPr txBox="1"/>
          <p:nvPr/>
        </p:nvSpPr>
        <p:spPr>
          <a:xfrm>
            <a:off x="398780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1000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2D34E-E300-05EA-68B5-8323E5B885C9}"/>
              </a:ext>
            </a:extLst>
          </p:cNvPr>
          <p:cNvSpPr txBox="1"/>
          <p:nvPr/>
        </p:nvSpPr>
        <p:spPr>
          <a:xfrm>
            <a:off x="2821940" y="3537466"/>
            <a:ext cx="62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8E783AA-B05A-BA24-70E1-D34FBC2D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91" y="3429000"/>
            <a:ext cx="5635952" cy="165220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F82BFD-7FB1-044F-F0D3-768F47AA6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692" y="2172050"/>
            <a:ext cx="2646988" cy="9940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9BC487-B59E-73FA-828C-6E812598EBDE}"/>
              </a:ext>
            </a:extLst>
          </p:cNvPr>
          <p:cNvSpPr txBox="1"/>
          <p:nvPr/>
        </p:nvSpPr>
        <p:spPr>
          <a:xfrm>
            <a:off x="1798320" y="198896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43575-6D9C-1E70-DDAB-EF14AB9C1ACE}"/>
              </a:ext>
            </a:extLst>
          </p:cNvPr>
          <p:cNvSpPr txBox="1"/>
          <p:nvPr/>
        </p:nvSpPr>
        <p:spPr>
          <a:xfrm>
            <a:off x="4043988" y="161544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410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283-46FA-36B0-B9A7-7A3D341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8581F9-1378-1B2B-84D0-F3C2805F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A7F153-8298-ED3E-5AAA-9644E5D720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 vs. Probability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70EA9-5D48-0DC3-A755-F6B94B0F80F1}"/>
              </a:ext>
            </a:extLst>
          </p:cNvPr>
          <p:cNvSpPr txBox="1"/>
          <p:nvPr/>
        </p:nvSpPr>
        <p:spPr>
          <a:xfrm>
            <a:off x="2914991" y="2363521"/>
            <a:ext cx="5475069" cy="19250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)⋅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∣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= P(Y)⋅P(X∣Y)</a:t>
            </a:r>
          </a:p>
        </p:txBody>
      </p:sp>
    </p:spTree>
    <p:extLst>
      <p:ext uri="{BB962C8B-B14F-4D97-AF65-F5344CB8AC3E}">
        <p14:creationId xmlns:p14="http://schemas.microsoft.com/office/powerpoint/2010/main" val="3999017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FA70F1-3665-6564-E646-A739528F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24" y="2009633"/>
            <a:ext cx="3934626" cy="38958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C6D46CB-2637-57D2-7777-183C3EFA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61" y="2009634"/>
            <a:ext cx="4989880" cy="4141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81DD2C-B118-2973-A071-6B96A83813AB}"/>
              </a:ext>
            </a:extLst>
          </p:cNvPr>
          <p:cNvSpPr txBox="1"/>
          <p:nvPr/>
        </p:nvSpPr>
        <p:spPr>
          <a:xfrm>
            <a:off x="3162300" y="6006685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13746-632B-D734-460B-675C920C1A4E}"/>
              </a:ext>
            </a:extLst>
          </p:cNvPr>
          <p:cNvSpPr txBox="1"/>
          <p:nvPr/>
        </p:nvSpPr>
        <p:spPr>
          <a:xfrm>
            <a:off x="475645" y="390041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F92E4B-6233-1808-1251-2D124A50C420}"/>
              </a:ext>
            </a:extLst>
          </p:cNvPr>
          <p:cNvCxnSpPr/>
          <p:nvPr/>
        </p:nvCxnSpPr>
        <p:spPr>
          <a:xfrm>
            <a:off x="6562725" y="3900417"/>
            <a:ext cx="9429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FCF750-92CC-6DC4-A8BE-E8127B0261C1}"/>
              </a:ext>
            </a:extLst>
          </p:cNvPr>
          <p:cNvSpPr txBox="1"/>
          <p:nvPr/>
        </p:nvSpPr>
        <p:spPr>
          <a:xfrm>
            <a:off x="6468674" y="4208194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67739C-31BF-CA70-BA90-296E4375840E}"/>
              </a:ext>
            </a:extLst>
          </p:cNvPr>
          <p:cNvSpPr txBox="1"/>
          <p:nvPr/>
        </p:nvSpPr>
        <p:spPr>
          <a:xfrm>
            <a:off x="7812924" y="6006685"/>
            <a:ext cx="4314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일부 데이터는 수자라고 볼 수가 없음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(Discrete)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1BDFFC1-E2F2-CD91-A7B1-AB8CCA6D2D7F}"/>
              </a:ext>
            </a:extLst>
          </p:cNvPr>
          <p:cNvSpPr/>
          <p:nvPr/>
        </p:nvSpPr>
        <p:spPr>
          <a:xfrm>
            <a:off x="9220200" y="2072640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7A9038-0763-C939-AF63-B7E745D551F1}"/>
              </a:ext>
            </a:extLst>
          </p:cNvPr>
          <p:cNvSpPr/>
          <p:nvPr/>
        </p:nvSpPr>
        <p:spPr>
          <a:xfrm>
            <a:off x="2740351" y="3112889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7A5D-65F3-CC35-B404-4E45F48C0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7618FF-8FD0-6445-18C7-0DF65B87DD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DE1FF1-81FF-E700-E2A9-EE44DCF89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26CFAF-86D2-7811-ABB1-6D9A8230B803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1CD087-5C75-DE34-4191-5F89A8A24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05786E-6BB3-3FB1-7F95-E7CA77962979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31CDD-457B-72E7-8E65-67D12983C91D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0EA6-F24E-6E98-93F4-45BF324CE073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69816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41FA-B84D-C6FD-65F8-79F80D5C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9A877FF-BBE4-726E-EBFF-F3451BC777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Discrete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vs.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Continuous Function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CDC91B5-EA99-28F5-7DAB-371DF1837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A27CA0-1CD2-3E90-00A5-FDC4216D2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67" y="2008449"/>
            <a:ext cx="9736046" cy="405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21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FC523-F3D5-6D54-6389-FEC7A7FFB851}"/>
              </a:ext>
            </a:extLst>
          </p:cNvPr>
          <p:cNvSpPr txBox="1"/>
          <p:nvPr/>
        </p:nvSpPr>
        <p:spPr>
          <a:xfrm>
            <a:off x="776904" y="1957405"/>
            <a:ext cx="4628473" cy="40011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 Variational Autoencoders 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1A134-D460-C5F8-B1A5-E99BA2119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" y="2510537"/>
            <a:ext cx="3338308" cy="39457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7AF8AA-260E-3A50-2AC2-5A2D3CB7F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270" y="2510537"/>
            <a:ext cx="3424079" cy="39835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B4069-C66E-5224-CD18-C35247A47007}"/>
              </a:ext>
            </a:extLst>
          </p:cNvPr>
          <p:cNvSpPr txBox="1"/>
          <p:nvPr/>
        </p:nvSpPr>
        <p:spPr>
          <a:xfrm>
            <a:off x="7286624" y="1606107"/>
            <a:ext cx="4505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사이트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vae_art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 exhibition_explanation.pdf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65941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44" y="1922558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585019" y="57245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 descr="png">
            <a:extLst>
              <a:ext uri="{FF2B5EF4-FFF2-40B4-BE49-F238E27FC236}">
                <a16:creationId xmlns:a16="http://schemas.microsoft.com/office/drawing/2014/main" id="{78473249-EDD1-2EFD-4360-A70EF2C79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9344" y="1988345"/>
            <a:ext cx="340995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8519344" y="539829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D28E1-77DA-DB1C-B399-F4CF67311ED3}"/>
              </a:ext>
            </a:extLst>
          </p:cNvPr>
          <p:cNvSpPr txBox="1"/>
          <p:nvPr/>
        </p:nvSpPr>
        <p:spPr>
          <a:xfrm>
            <a:off x="581543" y="1913206"/>
            <a:ext cx="5343007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[1],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     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[2])),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87B2E-C0D6-A7A1-9B0C-FF100E202028}"/>
              </a:ext>
            </a:extLst>
          </p:cNvPr>
          <p:cNvSpPr txBox="1"/>
          <p:nvPr/>
        </p:nvSpPr>
        <p:spPr>
          <a:xfrm>
            <a:off x="6239394" y="1916412"/>
            <a:ext cx="5371063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layers.Conv1DTranspose(filters=1,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	padding="same"),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E28F6-6F3B-6339-FB54-A19DE95E7877}"/>
              </a:ext>
            </a:extLst>
          </p:cNvPr>
          <p:cNvSpPr txBox="1"/>
          <p:nvPr/>
        </p:nvSpPr>
        <p:spPr>
          <a:xfrm>
            <a:off x="581544" y="1539508"/>
            <a:ext cx="534300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Encoder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46B48A-D1C5-50CB-84C8-297D8286B0A5}"/>
              </a:ext>
            </a:extLst>
          </p:cNvPr>
          <p:cNvSpPr txBox="1"/>
          <p:nvPr/>
        </p:nvSpPr>
        <p:spPr>
          <a:xfrm>
            <a:off x="6239394" y="1539508"/>
            <a:ext cx="5371062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설명선: 굽은 선(강조선) 12">
            <a:extLst>
              <a:ext uri="{FF2B5EF4-FFF2-40B4-BE49-F238E27FC236}">
                <a16:creationId xmlns:a16="http://schemas.microsoft.com/office/drawing/2014/main" id="{308A29D8-42FB-A163-C36A-816498E63113}"/>
              </a:ext>
            </a:extLst>
          </p:cNvPr>
          <p:cNvSpPr/>
          <p:nvPr/>
        </p:nvSpPr>
        <p:spPr>
          <a:xfrm>
            <a:off x="4476189" y="4901536"/>
            <a:ext cx="1448362" cy="1365914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35915"/>
              <a:gd name="adj6" fmla="val -5612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하나의 벡터가 아니라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72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채널이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압축된 시계열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ED45ED6C-1852-7EF6-E8A7-1274E84A36E2}"/>
              </a:ext>
            </a:extLst>
          </p:cNvPr>
          <p:cNvSpPr/>
          <p:nvPr/>
        </p:nvSpPr>
        <p:spPr>
          <a:xfrm>
            <a:off x="10581476" y="4568161"/>
            <a:ext cx="1448362" cy="762000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8716"/>
              <a:gd name="adj6" fmla="val -594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출력층은 입력층과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동일하게</a:t>
            </a:r>
          </a:p>
        </p:txBody>
      </p:sp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6D88-C1CA-BF53-8737-A03D3545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6EA9ED-3BE8-3158-F384-BE6C03C3AF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AE Architecture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680B2082-522F-4E2E-7475-A7CFF4C0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00F8E4-F30B-7862-BFA9-DF406D1B76F9}"/>
              </a:ext>
            </a:extLst>
          </p:cNvPr>
          <p:cNvSpPr txBox="1"/>
          <p:nvPr/>
        </p:nvSpPr>
        <p:spPr>
          <a:xfrm>
            <a:off x="581024" y="1221695"/>
            <a:ext cx="113061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(art_daily_small_noise.csv)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학습하여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모델을 생성한 후 비정상이 포함된 검증데이터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(art_daily_jumpsup.csv)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anomaly 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1444C0-1E52-282D-D219-BCC4181FE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36095"/>
            <a:ext cx="8472488" cy="4104450"/>
          </a:xfrm>
          <a:prstGeom prst="rect">
            <a:avLst/>
          </a:prstGeom>
          <a:ln>
            <a:solidFill>
              <a:schemeClr val="tx1"/>
            </a:solidFill>
            <a:prstDash val="dashDot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41B9BB-08D6-63FF-9A9C-EE7278F16C75}"/>
              </a:ext>
            </a:extLst>
          </p:cNvPr>
          <p:cNvSpPr txBox="1"/>
          <p:nvPr/>
        </p:nvSpPr>
        <p:spPr>
          <a:xfrm>
            <a:off x="1600200" y="6240545"/>
            <a:ext cx="10153650" cy="340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딥러닝에서는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데이터셋이 크고 학습 시간이 오래 걸려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cross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보다 이런 단순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hold-out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더 많이 사용하는 편</a:t>
            </a: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AC804EDE-1FB5-CBF1-CCB8-64A31BA24516}"/>
              </a:ext>
            </a:extLst>
          </p:cNvPr>
          <p:cNvSpPr/>
          <p:nvPr/>
        </p:nvSpPr>
        <p:spPr>
          <a:xfrm>
            <a:off x="4495800" y="2967037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정육면체 20">
            <a:extLst>
              <a:ext uri="{FF2B5EF4-FFF2-40B4-BE49-F238E27FC236}">
                <a16:creationId xmlns:a16="http://schemas.microsoft.com/office/drawing/2014/main" id="{378638D7-8948-6023-18C9-92ABBB253661}"/>
              </a:ext>
            </a:extLst>
          </p:cNvPr>
          <p:cNvSpPr/>
          <p:nvPr/>
        </p:nvSpPr>
        <p:spPr>
          <a:xfrm>
            <a:off x="7715250" y="2959684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7931667B-05C6-2529-B4FB-7F238F0D38F4}"/>
              </a:ext>
            </a:extLst>
          </p:cNvPr>
          <p:cNvSpPr/>
          <p:nvPr/>
        </p:nvSpPr>
        <p:spPr>
          <a:xfrm>
            <a:off x="3790950" y="4568073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정육면체 23">
            <a:extLst>
              <a:ext uri="{FF2B5EF4-FFF2-40B4-BE49-F238E27FC236}">
                <a16:creationId xmlns:a16="http://schemas.microsoft.com/office/drawing/2014/main" id="{A669FE07-F482-7E8A-22FE-EEA5144FB6A6}"/>
              </a:ext>
            </a:extLst>
          </p:cNvPr>
          <p:cNvSpPr/>
          <p:nvPr/>
        </p:nvSpPr>
        <p:spPr>
          <a:xfrm>
            <a:off x="7715250" y="4585617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BEC9FA2-F303-ACE8-52B7-D83E2D5F5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17" y="2223338"/>
            <a:ext cx="762066" cy="7315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A7165BC-7077-DD3B-B581-3D4C9E46D7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2198" y="5474106"/>
            <a:ext cx="739204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639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CE87-9257-2EED-1CDA-6480E785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3E320D-289B-E17E-45A7-54F6084F4B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0231E0B4-E138-7B27-AEBB-EA43C8FAC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4919DB8-1339-CA54-4BDD-88FE727E0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12" y="2987810"/>
            <a:ext cx="4263374" cy="322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F84FAF4-A80E-B4AB-E15B-13298B3F2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7" y="2982038"/>
            <a:ext cx="4360439" cy="3262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42A78F-426F-10FC-E766-D9BDD5DF4644}"/>
              </a:ext>
            </a:extLst>
          </p:cNvPr>
          <p:cNvSpPr txBox="1"/>
          <p:nvPr/>
        </p:nvSpPr>
        <p:spPr>
          <a:xfrm>
            <a:off x="609435" y="1356112"/>
            <a:ext cx="5229389" cy="133350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train MAE loss.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reconstruction loss threshold.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threshold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DC89C-DB58-1B49-0480-50765D5E3E62}"/>
              </a:ext>
            </a:extLst>
          </p:cNvPr>
          <p:cNvSpPr txBox="1"/>
          <p:nvPr/>
        </p:nvSpPr>
        <p:spPr>
          <a:xfrm>
            <a:off x="6353177" y="1356112"/>
            <a:ext cx="5353050" cy="15182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Get test MAE loss.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test_mae_loss.reshape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((-1))</a:t>
            </a:r>
          </a:p>
          <a:p>
            <a:pPr>
              <a:lnSpc>
                <a:spcPts val="1575"/>
              </a:lnSpc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Detect all the samples which are anomalies.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anomalies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&gt; threshold</a:t>
            </a:r>
          </a:p>
        </p:txBody>
      </p:sp>
      <p:sp>
        <p:nvSpPr>
          <p:cNvPr id="11" name="설명선: 굽은 선(강조선) 10">
            <a:extLst>
              <a:ext uri="{FF2B5EF4-FFF2-40B4-BE49-F238E27FC236}">
                <a16:creationId xmlns:a16="http://schemas.microsoft.com/office/drawing/2014/main" id="{CCB59811-CA04-C8B0-D176-D386A25CBC80}"/>
              </a:ext>
            </a:extLst>
          </p:cNvPr>
          <p:cNvSpPr/>
          <p:nvPr/>
        </p:nvSpPr>
        <p:spPr>
          <a:xfrm>
            <a:off x="5142658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설명선: 굽은 선(강조선) 11">
            <a:extLst>
              <a:ext uri="{FF2B5EF4-FFF2-40B4-BE49-F238E27FC236}">
                <a16:creationId xmlns:a16="http://schemas.microsoft.com/office/drawing/2014/main" id="{171B9984-CC97-C2C6-25A5-CAFAF51820B0}"/>
              </a:ext>
            </a:extLst>
          </p:cNvPr>
          <p:cNvSpPr/>
          <p:nvPr/>
        </p:nvSpPr>
        <p:spPr>
          <a:xfrm>
            <a:off x="9029702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1768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9333-73CE-BB31-0BD2-CBD390E4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F4F3051-92D8-549A-D274-C22C510ECE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4271-33E7-74D6-47A4-A4CE436008BF}"/>
              </a:ext>
            </a:extLst>
          </p:cNvPr>
          <p:cNvSpPr txBox="1"/>
          <p:nvPr/>
        </p:nvSpPr>
        <p:spPr>
          <a:xfrm>
            <a:off x="561975" y="1390619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AI-with-python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C2C98C34-52E5-5611-B6EA-87D0ADC17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134" y="1561751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C82E35D8-6752-158C-9F54-4BEAC76B14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9475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20370</TotalTime>
  <Words>1524</Words>
  <Application>Microsoft Office PowerPoint</Application>
  <PresentationFormat>와이드스크린</PresentationFormat>
  <Paragraphs>219</Paragraphs>
  <Slides>40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0" baseType="lpstr">
      <vt:lpstr>D2Coding</vt:lpstr>
      <vt:lpstr>맑은 고딕</vt:lpstr>
      <vt:lpstr>맑은 고딕 Semilight</vt:lpstr>
      <vt:lpstr>바탕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282</cp:revision>
  <dcterms:created xsi:type="dcterms:W3CDTF">2026-04-06T01:00:39Z</dcterms:created>
  <dcterms:modified xsi:type="dcterms:W3CDTF">2026-09-18T14:56:25Z</dcterms:modified>
  <cp:version/>
</cp:coreProperties>
</file>